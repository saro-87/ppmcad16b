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40BB9F-4D48-439E-9B95-D4281B6E97D1}"/>
              </a:ext>
            </a:extLst>
          </p:cNvPr>
          <p:cNvSpPr>
            <a:spLocks noGrp="1"/>
          </p:cNvSpPr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A92972A-3897-492E-AA42-DDDBAD209724}"/>
              </a:ext>
            </a:extLst>
          </p:cNvPr>
          <p:cNvSpPr>
            <a:spLocks noGrp="1"/>
          </p:cNvSpPr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Prometheus &amp; Grafana</a:t>
            </a:r>
            <a:endParaRPr sz="4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BEF2DFF-8D5D-4C31-BB0B-4F42B92CBC55}"/>
              </a:ext>
            </a:extLst>
          </p:cNvPr>
          <p:cNvSpPr>
            <a:spLocks noGrp="1"/>
          </p:cNvSpPr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i="1">
                <a:solidFill>
                  <a:srgbClr val="00D4AA"/>
                </a:solidFill>
                <a:latin typeface="Arial"/>
                <a:ea typeface="Arial"/>
                <a:cs typeface="Arial"/>
              </a:rPr>
              <a:t>Collect, Query, Visualize &amp; Alert on Metrics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749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67C80B-65B3-4ED1-93DD-6E0CEE774D7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 dirty="0">
                <a:solidFill>
                  <a:srgbClr val="1B2559"/>
                </a:solidFill>
                <a:latin typeface="Arial"/>
                <a:ea typeface="Arial"/>
                <a:cs typeface="Arial"/>
              </a:rPr>
              <a:t>Prometheus: CNCF</a:t>
            </a:r>
            <a:r>
              <a:rPr lang="en-US" sz="3600" b="1" dirty="0">
                <a:solidFill>
                  <a:srgbClr val="1B2559"/>
                </a:solidFill>
                <a:latin typeface="Arial"/>
                <a:ea typeface="Arial"/>
                <a:cs typeface="Arial"/>
              </a:rPr>
              <a:t>'</a:t>
            </a:r>
            <a:r>
              <a:rPr sz="3600" b="1" dirty="0">
                <a:solidFill>
                  <a:srgbClr val="1B2559"/>
                </a:solidFill>
                <a:latin typeface="Arial"/>
                <a:ea typeface="Arial"/>
                <a:cs typeface="Arial"/>
              </a:rPr>
              <a:t>s Second Project</a:t>
            </a:r>
            <a:endParaRPr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8EA48F-A975-4484-9123-309A4EEFEB7E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2CAFA1-1C0F-4276-86A9-8166630BCA8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2F1FDA-ABD7-4444-8190-01A68DB49DCB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2012 → 2016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37D63E-3E8D-439C-AFC9-349B2C1C914D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Created at SoundCloud</a:t>
            </a:r>
            <a:r>
              <a:rPr lang="en-US"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in 2012</a:t>
            </a:r>
            <a:endParaRPr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Built for dynamic systems</a:t>
            </a:r>
            <a:endParaRPr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Joined CNCF in May 2016</a:t>
            </a:r>
            <a:endParaRPr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683419-885E-4C8A-BEE0-09FA77BF4D42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90AFF7-7138-4DDF-B66B-A6F92E14E791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9900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B9A6C9-5DBC-4804-811D-851343207CCE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2018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56A9AD-36A7-49A5-B723-F429A57D5A97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Graduated in August 2018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Second graduate after Kubernetes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Project and community maturity verified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6046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B68B6F-6638-4720-AD1E-0257050FE825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What Prometheus Does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0DC24C-FD05-4940-96FA-236F04406FF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4C45049-A1B3-42C5-84AB-961BDEC1D297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Collect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824E33-FC54-4983-BA59-357B7E4864E5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Requests numeric measurements from configured targets.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D6F1AEC-4051-4192-A73E-94DB728EEDC8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EC34C26-7F72-48F0-A10F-2D81F97AB7E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Store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67C1A96-0307-475D-85E2-1E10CA94BA29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Keeps labeled measurements as timestamped time series.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E79D5B5-05B0-4903-985B-70AAF5E70C03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C888F22E-1B04-405D-B5B3-99D1293BA849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Query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0F7EB39-EB42-44CC-8EB3-F9166374ABA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PromQL selects, calculates and aggregates time-series data.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46206BD-4FB3-4790-A383-79938589D9FE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701407D8-A36F-405E-BB38-F93EEBB40218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Evaluate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A62E4CC-8E2D-4A7A-876A-4089C07414EA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Rules continuously test conditions for dashboards and alerts.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402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Prometheus Monitors Many Systems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Linux and Windows servers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Databases, caches and message queues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Web servers, APIs and custom applications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Network devices, endpoints and cloud services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Kubernetes nodes, containers, objects and apps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How a Monitoring Request Flows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COLLECTION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Target / Exporter  ---&gt;  /metrics  ---&gt;  Prometheus  ---&gt;  Time-series storage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exposes                 pulls             timestamps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QUERY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User / Grafana  ---&gt;  PromQL request  ---&gt;  Query engine  ---&gt;  Series or value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        selects              calculates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Expose  →  Collect  →  Store  →  Query  →  Visualize or alert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B68B6F-6638-4720-AD1E-0257050FE825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Exporters Turn Systems into Metrics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0DC24C-FD05-4940-96FA-236F04406FF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4C45049-A1B3-42C5-84AB-961BDEC1D297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Hosts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824E33-FC54-4983-BA59-357B7E4864E5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Node Exporter for Linux. Windows Exporter for Windows.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D6F1AEC-4051-4192-A73E-94DB728EEDC8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EC34C26-7F72-48F0-A10F-2D81F97AB7E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Databases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67C1A96-0307-475D-85E2-1E10CA94BA29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MySQL, PostgreSQL, Redis and JMX exporters.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E79D5B5-05B0-4903-985B-70AAF5E70C03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C888F22E-1B04-405D-B5B3-99D1293BA849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Networks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0F7EB39-EB42-44CC-8EB3-F9166374ABA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SNMP for devices. Blackbox for HTTP, DNS and TCP checks.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46206BD-4FB3-4790-A383-79938589D9FE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701407D8-A36F-405E-BB38-F93EEBB40218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Applications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A62E4CC-8E2D-4A7A-876A-4089C07414EA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Client libraries expose application metrics directly at /metrics.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402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Metric Types Shape the Query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Counter  →  rate    |    Gauge  →  direct    |    Histogram  →  distribution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COUNTER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Only increases. Requests, errors and bytes. Use rate() over a time window.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GAUGE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Moves up and down. Memory, temperature and running pods. Read directly.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HISTOGRAM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Counts observations in buckets. Used for latency distributions and percentiles.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Five Layers of Kubernetes Metrics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Node OS — Node Exporter: CPU, memory, disk and network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Containers &amp; pods — cAdvisor: CPU, memory and network by workload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Kubernetes objects — kube-state-metrics: phase, replicas and restarts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Cluster components — API server and kubelet request/error health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Applications — /metrics: requests, errors, latency and business values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PromQL: Select, Calculate, Aggregate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Read each expression from the inside out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SELECT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up{job="node-exporter"}  — choose a metric and filter with labels.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CALCULATE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rate(</a:t>
            </a:r>
            <a:r>
              <a:rPr sz="1200" dirty="0" err="1">
                <a:solidFill>
                  <a:srgbClr val="3A4668"/>
                </a:solidFill>
                <a:latin typeface="Arial"/>
                <a:ea typeface="Arial"/>
                <a:cs typeface="Arial"/>
              </a:rPr>
              <a:t>node_cpu_seconds_total</a:t>
            </a:r>
            <a:r>
              <a:rPr sz="12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[5m])  — calculate per-second change.</a:t>
            </a:r>
            <a:endParaRPr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AGGREGATE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sum by (job) (up)  — combine many series into one answer per job.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573339-A5CF-4231-9559-49511B704C7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PromQL Examples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A9B5ED-E865-4FB9-8CB3-942B9EB65D7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C9DF2-041A-47D5-A2AD-5B9C14E82EA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2D206-A17A-4D84-A6E0-2C9ED60B21A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Infrastructure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8291B7-1854-44F3-B234-1948F53858A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CPU: 100 - avg by(instance)(rate(node_cpu_seconds_total{mode="idle"}[5m])) * 100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Memory: 100 * (1 - node_memory_MemAvailable_bytes / node_memory_MemTotal_bytes)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60082B-EC9A-4D71-BADF-B886E8E8F2E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EE478A-B52F-41F5-9393-700CE7EAEAAB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C7F40-6E38-48AC-8A97-4F9BD0E1C07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Kubernetes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D51EE-111E-4405-977D-0257245B62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Running pods: sum(kube_pod_status_phase{phase="Running"} == 1)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Top pods: topk(5, sum by(namespace,pod)(rate(container_cpu_usage_seconds_total{container!="",image!=""}[5m])))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71728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Grafana Complements Prometheus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Query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Runs the query language supported by the selected data source.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Visualize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Turns returned data into time series, stats, bars and tables.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Explore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Tests and compares queries interactively before dashboards.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Alert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Evaluates rules and routes notifications through contact points.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B68B6F-6638-4720-AD1E-0257050FE825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Grafana Connects to Many Sources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0DC24C-FD05-4940-96FA-236F04406FF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4C45049-A1B3-42C5-84AB-961BDEC1D297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Metrics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824E33-FC54-4983-BA59-357B7E4864E5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Prometheus, InfluxDB and Grafana Mimir.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D6F1AEC-4051-4192-A73E-94DB728EEDC8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EC34C26-7F72-48F0-A10F-2D81F97AB7E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Logs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67C1A96-0307-475D-85E2-1E10CA94BA29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Grafana Loki and Elasticsearch.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E79D5B5-05B0-4903-985B-70AAF5E70C03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C888F22E-1B04-405D-B5B3-99D1293BA849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Databases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0F7EB39-EB42-44CC-8EB3-F9166374ABA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MySQL, PostgreSQL and Microsoft SQL Server.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D46206BD-4FB3-4790-A383-79938589D9FE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701407D8-A36F-405E-BB38-F93EEBB40218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Cloud &amp; More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5A62E4CC-8E2D-4A7A-876A-4089C07414EA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CloudWatch, Azure Monitor, APIs and plugins.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402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How a Grafana Request Flows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User selects dashboard + time range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|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v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Panel query (PromQL)  ---&gt;  Prometheus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^             |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|             v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Panel renders  &lt;---  Time-series result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Alert rules use the same query path on a schedule.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Grafana asks  →  the data source answers  →  the panel visualizes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 Dashboard Is Built in Layers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source — where the data comes from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Query — the operational question being asked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Panel — one visualization of one or more query results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Dashboard — related panels arranged into one shared view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Time &amp; variables — reusable ranges and filters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Hands-On Labs</a:t>
            </a:r>
            <a:endParaRPr kumimoji="0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731</Words>
  <Application>Microsoft Office PowerPoint</Application>
  <DocSecurity>0</DocSecurity>
  <PresentationFormat>On-screen Show (16:9)</PresentationFormat>
  <Paragraphs>121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Aryan Mohan</cp:lastModifiedBy>
  <cp:revision>4</cp:revision>
  <dcterms:created xsi:type="dcterms:W3CDTF">2026-08-08T17:49:49Z</dcterms:created>
  <dcterms:modified xsi:type="dcterms:W3CDTF">2026-08-08T18:51:19Z</dcterms:modified>
</cp:coreProperties>
</file>