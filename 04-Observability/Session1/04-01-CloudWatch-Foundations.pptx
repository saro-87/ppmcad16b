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815E53-0BBF-49AA-82AC-B59B8125899D}"/>
              </a:ext>
            </a:extLst>
          </p:cNvPr>
          <p:cNvSpPr>
            <a:spLocks noGrp="1"/>
          </p:cNvSpPr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BEE6BB8-7F45-4CB7-9B0B-BA23388BF1B8}"/>
              </a:ext>
            </a:extLst>
          </p:cNvPr>
          <p:cNvSpPr>
            <a:spLocks noGrp="1"/>
          </p:cNvSpPr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Amazon CloudWatch Foundations</a:t>
            </a:r>
            <a:endParaRPr sz="4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20CBD3A-B148-4F8B-8A5B-611734B25493}"/>
              </a:ext>
            </a:extLst>
          </p:cNvPr>
          <p:cNvSpPr>
            <a:spLocks noGrp="1"/>
          </p:cNvSpPr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i="1">
                <a:solidFill>
                  <a:srgbClr val="00D4AA"/>
                </a:solidFill>
                <a:latin typeface="Arial"/>
                <a:ea typeface="Arial"/>
                <a:cs typeface="Arial"/>
              </a:rPr>
              <a:t>Metrics, Logs, Alarms &amp; Dashboards on AWS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780407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18E9A4-F76A-469E-8128-AA89D7574B81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Learning Objectives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10E9D01-D291-494C-B389-80B80E48CCA2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9D69895-4AAC-4882-9ADE-CD91730CAB2D}"/>
              </a:ext>
            </a:extLst>
          </p:cNvPr>
          <p:cNvSpPr>
            <a:spLocks noGrp="1"/>
          </p:cNvSpPr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Explain the role of metrics, logs, alarms, and dashboards</a:t>
            </a:r>
            <a:endParaRPr sz="14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7D197F0-57E1-4D8F-B05C-4009743FF51D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488C147D-0812-4090-BA84-E97E878D8E6A}"/>
              </a:ext>
            </a:extLst>
          </p:cNvPr>
          <p:cNvSpPr>
            <a:spLocks noGrp="1"/>
          </p:cNvSpPr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Read namespace, metric, dimensions, statistic, and period</a:t>
            </a:r>
            <a:endParaRPr sz="14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EAF32A1A-7112-41DC-8948-F43299F835BE}"/>
              </a:ext>
            </a:extLst>
          </p:cNvPr>
          <p:cNvSpPr>
            <a:spLocks noGrp="1"/>
          </p:cNvSpPr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8CF814D6-76CC-4B0B-8D87-B5C887C05E7B}"/>
              </a:ext>
            </a:extLst>
          </p:cNvPr>
          <p:cNvSpPr>
            <a:spLocks noGrp="1"/>
          </p:cNvSpPr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Compare EC2 default metrics with CloudWatch Agent metrics</a:t>
            </a:r>
            <a:endParaRPr sz="14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4B5DEDEB-AB6E-4628-B9BF-D5EC10F4F202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AF56D7B1-A7AF-423F-9442-5AF015141205}"/>
              </a:ext>
            </a:extLst>
          </p:cNvPr>
          <p:cNvSpPr>
            <a:spLocks noGrp="1"/>
          </p:cNvSpPr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Build an alarm and interpret its three primary states</a:t>
            </a:r>
            <a:endParaRPr sz="140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6F1B8654-7C9A-4CBD-9953-2EB4C8335AF8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50887812-9DB9-4D1C-90DC-DD5B7052CD8F}"/>
              </a:ext>
            </a:extLst>
          </p:cNvPr>
          <p:cNvSpPr>
            <a:spLocks noGrp="1"/>
          </p:cNvSpPr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Ingest logs, query errors, and publish a metric from logs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12480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3B270C0-8DA1-43A6-B82E-1EEC6794C49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The Problem: Systems Fail Silently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2481C0-ED6A-419F-94C5-9E10A51AA093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25BACAB-7611-4429-B67E-E44E4BA55E1F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CC4E39-8498-48A9-AEEC-BC5AF0957C38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Without Monitoring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A3997B-5988-4DFE-82CA-72C269B5364E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Users report issues first</a:t>
            </a:r>
            <a:endParaRPr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SSH into one server at a time</a:t>
            </a:r>
            <a:endParaRPr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No shared timeline of events</a:t>
            </a:r>
            <a:endParaRPr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Alerts arrive late</a:t>
            </a:r>
            <a:r>
              <a:rPr lang="en-IN" sz="13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 </a:t>
            </a:r>
            <a:r>
              <a:rPr sz="13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or not at all</a:t>
            </a:r>
            <a:endParaRPr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Root cause takes longer</a:t>
            </a:r>
            <a:endParaRPr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E37CF04-BA9D-42DE-9F21-5704EEF16B4A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E766589-7450-4431-A387-05DEC398AF93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8BBA0A3-5622-41BA-909A-808FBD76D731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CloudWatch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281EE0B-8121-4F1E-AAFC-EB2C41881A51}"/>
              </a:ext>
            </a:extLst>
          </p:cNvPr>
          <p:cNvSpPr>
            <a:spLocks noGrp="1"/>
          </p:cNvSpPr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Metrics show behavior over time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Logs preserve detailed evidence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Alarms detect defined conditions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Dashboards create one shared view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Actions notify or automate response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036447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6060C7-8DB7-4A06-A89C-A86D48E1CC77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CloudWatch Signals Become Actions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49A4C4-101F-4F80-9FE0-4E4050A78059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2560320" cy="309753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B2F33094-4F56-4A9B-A097-09FC1DA14502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16459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Metrics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647B53B-3F5B-4EC8-A04D-6169270DE8DD}"/>
              </a:ext>
            </a:extLst>
          </p:cNvPr>
          <p:cNvSpPr>
            <a:spLocks noGrp="1"/>
          </p:cNvSpPr>
          <p:nvPr/>
        </p:nvSpPr>
        <p:spPr>
          <a:xfrm>
            <a:off x="640080" y="1737359"/>
            <a:ext cx="2194560" cy="1961061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Numeric time series: CPU, </a:t>
            </a:r>
            <a:r>
              <a:rPr lang="en-IN" sz="12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memory, storage, </a:t>
            </a:r>
            <a:r>
              <a:rPr sz="12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network, latency, request counts, and custom application values.</a:t>
            </a:r>
            <a:endParaRPr sz="1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74E97CA-481C-4957-86A7-6CD957BF8C8A}"/>
              </a:ext>
            </a:extLst>
          </p:cNvPr>
          <p:cNvSpPr>
            <a:spLocks noGrp="1"/>
          </p:cNvSpPr>
          <p:nvPr/>
        </p:nvSpPr>
        <p:spPr>
          <a:xfrm>
            <a:off x="3291840" y="1188720"/>
            <a:ext cx="2560320" cy="309753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8AECFCD8-2E8A-4B9C-98F9-F6F5E9C94463}"/>
              </a:ext>
            </a:extLst>
          </p:cNvPr>
          <p:cNvSpPr>
            <a:spLocks noGrp="1"/>
          </p:cNvSpPr>
          <p:nvPr/>
        </p:nvSpPr>
        <p:spPr>
          <a:xfrm>
            <a:off x="3931920" y="1325880"/>
            <a:ext cx="16459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Logs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4380A4B-5778-4838-906C-FFFD73074649}"/>
              </a:ext>
            </a:extLst>
          </p:cNvPr>
          <p:cNvSpPr>
            <a:spLocks noGrp="1"/>
          </p:cNvSpPr>
          <p:nvPr/>
        </p:nvSpPr>
        <p:spPr>
          <a:xfrm>
            <a:off x="3474720" y="1737360"/>
            <a:ext cx="2194560" cy="19610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Timestamped events from applications, operating systems, and supported AWS services.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9310469-29E3-47E9-A1C7-03EF9E3222EE}"/>
              </a:ext>
            </a:extLst>
          </p:cNvPr>
          <p:cNvSpPr>
            <a:spLocks noGrp="1"/>
          </p:cNvSpPr>
          <p:nvPr/>
        </p:nvSpPr>
        <p:spPr>
          <a:xfrm>
            <a:off x="6126480" y="1188720"/>
            <a:ext cx="2560320" cy="309753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3258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AE715BEE-DE36-4067-967D-544570DB23BA}"/>
              </a:ext>
            </a:extLst>
          </p:cNvPr>
          <p:cNvSpPr>
            <a:spLocks noGrp="1"/>
          </p:cNvSpPr>
          <p:nvPr/>
        </p:nvSpPr>
        <p:spPr>
          <a:xfrm>
            <a:off x="6766560" y="1325880"/>
            <a:ext cx="16459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Alarms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C75EE83-04DD-4E89-839D-74676370703B}"/>
              </a:ext>
            </a:extLst>
          </p:cNvPr>
          <p:cNvSpPr>
            <a:spLocks noGrp="1"/>
          </p:cNvSpPr>
          <p:nvPr/>
        </p:nvSpPr>
        <p:spPr>
          <a:xfrm>
            <a:off x="6309360" y="1737360"/>
            <a:ext cx="2194560" cy="185492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Evaluate a metric or expression, change state, and notify or invoke a supported action.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030694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235EE6-3DEC-40DA-8A15-5D933B1F66DA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Reading a CloudWatch Metric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B0B9710-E89E-4F24-B367-B92FBFA06EB3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21CA745-DE47-48C6-8FBA-9B6C95FFF041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9FBA57A-DFFB-4905-A166-CA8EA3CF43BB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400"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35024"/>
            <a:ext cx="329184" cy="32918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60A983FF-42A7-47A1-81EA-870C0CC4201E}"/>
              </a:ext>
            </a:extLst>
          </p:cNvPr>
          <p:cNvSpPr>
            <a:spLocks noGrp="1"/>
          </p:cNvSpPr>
          <p:nvPr/>
        </p:nvSpPr>
        <p:spPr>
          <a:xfrm>
            <a:off x="1600200" y="1188720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Namespace: product boundary, for example AWS/EC2</a:t>
            </a:r>
            <a:endParaRPr sz="13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7FDD996-FD7B-4C61-80EF-765FEAA1D065}"/>
              </a:ext>
            </a:extLst>
          </p:cNvPr>
          <p:cNvSpPr>
            <a:spLocks noGrp="1"/>
          </p:cNvSpPr>
          <p:nvPr/>
        </p:nvSpPr>
        <p:spPr>
          <a:xfrm>
            <a:off x="457200" y="1883664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AC69B33-1AAF-4E83-9BA2-FFBBC868B26E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42ABD87-3F5B-4A08-8969-3647F1B5B223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400"/>
          </a:p>
        </p:txBody>
      </p:sp>
      <p:pic>
        <p:nvPicPr>
          <p:cNvPr id="4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029968"/>
            <a:ext cx="329184" cy="329184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8FBF4A0F-04D2-493D-9CDC-1454CE6AD7BA}"/>
              </a:ext>
            </a:extLst>
          </p:cNvPr>
          <p:cNvSpPr>
            <a:spLocks noGrp="1"/>
          </p:cNvSpPr>
          <p:nvPr/>
        </p:nvSpPr>
        <p:spPr>
          <a:xfrm>
            <a:off x="1600200" y="1883664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Metric name: what is measured, for example CPUUtilization</a:t>
            </a:r>
            <a:endParaRPr sz="13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285FD965-5C3D-4C86-B5F0-2E426F99EF3F}"/>
              </a:ext>
            </a:extLst>
          </p:cNvPr>
          <p:cNvSpPr>
            <a:spLocks noGrp="1"/>
          </p:cNvSpPr>
          <p:nvPr/>
        </p:nvSpPr>
        <p:spPr>
          <a:xfrm>
            <a:off x="457200" y="2578608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8DF7C720-94B1-4AD2-BB5A-88D52E80D9C5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57721F3-2C7C-4F70-9887-2C1292EE6220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400"/>
          </a:p>
        </p:txBody>
      </p:sp>
      <p:pic>
        <p:nvPicPr>
          <p:cNvPr id="47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724912"/>
            <a:ext cx="329184" cy="32918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322BD344-A882-4ECB-9488-45DB4B982594}"/>
              </a:ext>
            </a:extLst>
          </p:cNvPr>
          <p:cNvSpPr>
            <a:spLocks noGrp="1"/>
          </p:cNvSpPr>
          <p:nvPr/>
        </p:nvSpPr>
        <p:spPr>
          <a:xfrm>
            <a:off x="1600200" y="2578608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Dimensions: identity and filters, for example InstanceId</a:t>
            </a:r>
            <a:endParaRPr sz="130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5A269F6C-C4FD-4780-8236-66D00E5C557A}"/>
              </a:ext>
            </a:extLst>
          </p:cNvPr>
          <p:cNvSpPr>
            <a:spLocks noGrp="1"/>
          </p:cNvSpPr>
          <p:nvPr/>
        </p:nvSpPr>
        <p:spPr>
          <a:xfrm>
            <a:off x="457200" y="3273552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9120C624-0DF0-47F4-876D-05D0F3939759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C51010FA-8DE7-414E-B445-78FB4B245503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400"/>
          </a:p>
        </p:txBody>
      </p:sp>
      <p:pic>
        <p:nvPicPr>
          <p:cNvPr id="5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419856"/>
            <a:ext cx="329184" cy="329184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DE5D7DAE-9151-480B-A380-C4665D2C9596}"/>
              </a:ext>
            </a:extLst>
          </p:cNvPr>
          <p:cNvSpPr>
            <a:spLocks noGrp="1"/>
          </p:cNvSpPr>
          <p:nvPr/>
        </p:nvSpPr>
        <p:spPr>
          <a:xfrm>
            <a:off x="1600200" y="3273552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Statistic + period: aggregation and its time window</a:t>
            </a:r>
            <a:endParaRPr sz="130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1AE05E5D-10A7-4AF6-B0CA-5DAC5747E2DF}"/>
              </a:ext>
            </a:extLst>
          </p:cNvPr>
          <p:cNvSpPr>
            <a:spLocks noGrp="1"/>
          </p:cNvSpPr>
          <p:nvPr/>
        </p:nvSpPr>
        <p:spPr>
          <a:xfrm>
            <a:off x="457200" y="3968496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26B555F4-8CAF-49B0-8E52-46583488F253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9CF73D33-C71C-43F2-AEAE-0D5D26D2D2F5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400"/>
          </a:p>
        </p:txBody>
      </p:sp>
      <p:pic>
        <p:nvPicPr>
          <p:cNvPr id="57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4114800"/>
            <a:ext cx="329184" cy="329184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3DA33DCC-B6C9-4D09-887A-10ADEE5CCCD5}"/>
              </a:ext>
            </a:extLst>
          </p:cNvPr>
          <p:cNvSpPr>
            <a:spLocks noGrp="1"/>
          </p:cNvSpPr>
          <p:nvPr/>
        </p:nvSpPr>
        <p:spPr>
          <a:xfrm>
            <a:off x="1600200" y="3968496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Data point: timestamp, value, and optional unit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786687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572031-69BE-4608-ACD0-9EC1DE6BE4BC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EC2 Metrics: Default vs. Agent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5B69CD8-E31B-498C-8AB7-D97C0C8D9D98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AD1E312-F3C6-4044-A51A-1E98CADB919F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EC8DA3-34FA-4593-ACDD-19CF51B89B8B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EC2 Default Metrics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F810961-04AD-44C8-BECA-AED611986D84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CPU utilization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Network in / out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Disk read / write operations and bytes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Status checks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No guest OS memory or disk-space usage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D56E6B8-886F-41BA-80D6-B3D8B3D2B7E3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F7D6BB7-996D-4AEC-9D50-C4E2C588D1E4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0EF0435-FBD3-41DF-A3EC-B4F9C8EE84B7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CloudWatch Agent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12A22F4-DF41-48BF-93D0-AC11185319DA}"/>
              </a:ext>
            </a:extLst>
          </p:cNvPr>
          <p:cNvSpPr>
            <a:spLocks noGrp="1"/>
          </p:cNvSpPr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Memory used percent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Disk used percent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Swap and process metrics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Custom namespaces and dimensions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Application and system log collection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811994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E4B2AA-77B3-4D35-AB91-117CE67192BD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Metric Alarm Lifecycle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5C11AD-0BBF-4676-BDB8-3E76BBB2831D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72CC6D8-1F95-428A-B1AF-C2E006FFC3A0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641F23B-FA17-4D4F-9F2B-F99E2D8B0A19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400"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35024"/>
            <a:ext cx="329184" cy="32918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C300C4B6-C4FF-4DD7-8889-BC4D5930EB09}"/>
              </a:ext>
            </a:extLst>
          </p:cNvPr>
          <p:cNvSpPr>
            <a:spLocks noGrp="1"/>
          </p:cNvSpPr>
          <p:nvPr/>
        </p:nvSpPr>
        <p:spPr>
          <a:xfrm>
            <a:off x="1600200" y="1188720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OK: the metric or expression is within the threshold</a:t>
            </a:r>
            <a:endParaRPr sz="13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AAF7ED2-82BC-4603-A076-C7A9DAE1B339}"/>
              </a:ext>
            </a:extLst>
          </p:cNvPr>
          <p:cNvSpPr>
            <a:spLocks noGrp="1"/>
          </p:cNvSpPr>
          <p:nvPr/>
        </p:nvSpPr>
        <p:spPr>
          <a:xfrm>
            <a:off x="457200" y="1883664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4739138-10DD-4092-ADAB-881DAB9C10D2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14AFC56-62E3-4B46-8F33-2ED0A89357C7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400"/>
          </a:p>
        </p:txBody>
      </p:sp>
      <p:pic>
        <p:nvPicPr>
          <p:cNvPr id="4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029968"/>
            <a:ext cx="329184" cy="329184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D2C9824C-23A7-4E46-8147-5D0AA04462F0}"/>
              </a:ext>
            </a:extLst>
          </p:cNvPr>
          <p:cNvSpPr>
            <a:spLocks noGrp="1"/>
          </p:cNvSpPr>
          <p:nvPr/>
        </p:nvSpPr>
        <p:spPr>
          <a:xfrm>
            <a:off x="1600200" y="1883664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INSUFFICIENT_DATA: not enough usable data is available</a:t>
            </a:r>
            <a:endParaRPr sz="13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913C1CB2-8F23-4DD6-9854-2699B2C688FE}"/>
              </a:ext>
            </a:extLst>
          </p:cNvPr>
          <p:cNvSpPr>
            <a:spLocks noGrp="1"/>
          </p:cNvSpPr>
          <p:nvPr/>
        </p:nvSpPr>
        <p:spPr>
          <a:xfrm>
            <a:off x="457200" y="2578608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A5C5D327-9832-49BF-87E5-2BEBEFAD7699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6FACFA6-56D1-452D-BC74-D45F01957C0A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400"/>
          </a:p>
        </p:txBody>
      </p:sp>
      <p:pic>
        <p:nvPicPr>
          <p:cNvPr id="47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724912"/>
            <a:ext cx="329184" cy="32918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972D6E36-3624-4051-986C-CD80B970F38E}"/>
              </a:ext>
            </a:extLst>
          </p:cNvPr>
          <p:cNvSpPr>
            <a:spLocks noGrp="1"/>
          </p:cNvSpPr>
          <p:nvPr/>
        </p:nvSpPr>
        <p:spPr>
          <a:xfrm>
            <a:off x="1600200" y="2578608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ALARM: M of N recent data points are breaching</a:t>
            </a:r>
            <a:endParaRPr sz="130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65F4C9EE-E81D-40BE-B32C-06E7B1AE17EB}"/>
              </a:ext>
            </a:extLst>
          </p:cNvPr>
          <p:cNvSpPr>
            <a:spLocks noGrp="1"/>
          </p:cNvSpPr>
          <p:nvPr/>
        </p:nvSpPr>
        <p:spPr>
          <a:xfrm>
            <a:off x="457200" y="3273552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EAA26FF9-5DA0-470B-88DE-4B58348D4149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4736D68-D975-4A0D-9706-7D8F38EAF0A4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400"/>
          </a:p>
        </p:txBody>
      </p:sp>
      <p:pic>
        <p:nvPicPr>
          <p:cNvPr id="5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419856"/>
            <a:ext cx="329184" cy="329184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067BDA25-149C-4818-8A35-576F99BEF55C}"/>
              </a:ext>
            </a:extLst>
          </p:cNvPr>
          <p:cNvSpPr>
            <a:spLocks noGrp="1"/>
          </p:cNvSpPr>
          <p:nvPr/>
        </p:nvSpPr>
        <p:spPr>
          <a:xfrm>
            <a:off x="1600200" y="3273552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ACTION: notify SNS or invoke a supported response</a:t>
            </a:r>
            <a:endParaRPr sz="130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12A84F36-AC7B-4D55-8E82-5D03076A238F}"/>
              </a:ext>
            </a:extLst>
          </p:cNvPr>
          <p:cNvSpPr>
            <a:spLocks noGrp="1"/>
          </p:cNvSpPr>
          <p:nvPr/>
        </p:nvSpPr>
        <p:spPr>
          <a:xfrm>
            <a:off x="457200" y="3968496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BB307916-4E79-41A2-AE10-0A760111B29F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AC941474-B46E-4F3A-ADEF-3A4AB24B4583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400"/>
          </a:p>
        </p:txBody>
      </p:sp>
      <p:pic>
        <p:nvPicPr>
          <p:cNvPr id="57" name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114800"/>
            <a:ext cx="329184" cy="329184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84468EE1-4409-4905-964F-8E236A1D466B}"/>
              </a:ext>
            </a:extLst>
          </p:cNvPr>
          <p:cNvSpPr>
            <a:spLocks noGrp="1"/>
          </p:cNvSpPr>
          <p:nvPr/>
        </p:nvSpPr>
        <p:spPr>
          <a:xfrm>
            <a:off x="1600200" y="3968496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RECOVERY: the alarm returns to OK when the condition clears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975301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50C6C9-D729-12C8-C550-7B2334376C01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CloudWatch Logs: Centralize Evidence</a:t>
            </a:r>
            <a:endParaRPr sz="2400"/>
          </a:p>
        </p:txBody>
      </p:sp>
      <p:sp>
        <p:nvSpPr>
          <p:cNvPr id="15" name="Google Shape;335;p58">
            <a:extLst>
              <a:ext uri="{FF2B5EF4-FFF2-40B4-BE49-F238E27FC236}">
                <a16:creationId xmlns:a16="http://schemas.microsoft.com/office/drawing/2014/main" id="{2E6CBE27-F624-6C48-055D-32104EF07829}"/>
              </a:ext>
            </a:extLst>
          </p:cNvPr>
          <p:cNvSpPr>
            <a:spLocks noGrp="1"/>
          </p:cNvSpPr>
          <p:nvPr/>
        </p:nvSpPr>
        <p:spPr>
          <a:xfrm>
            <a:off x="425271" y="1191986"/>
            <a:ext cx="8293457" cy="3265714"/>
          </a:xfrm>
          <a:prstGeom prst="rect">
            <a:avLst/>
          </a:prstGeom>
        </p:spPr>
        <p:txBody>
          <a:bodyPr spcFirstLastPara="1" wrap="square" lIns="91440" tIns="91440" rIns="91440" bIns="91440" anchor="t">
            <a:noAutofit/>
          </a:bodyPr>
          <a:lstStyle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8"/>
              </a:spcAft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 Source ]  →  [ Log stream ]  →  [ Log group ]  →  [ Query / Filter ]  →  [ Alarm ]</a:t>
            </a:r>
          </a:p>
          <a:p>
            <a:pPr marL="285762" indent="-285750">
              <a:spcAft>
                <a:spcPts val="9"/>
              </a:spcAft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Log groups share retention, monitoring, and access settings</a:t>
            </a:r>
          </a:p>
          <a:p>
            <a:pPr marL="285762" indent="-285750">
              <a:spcAft>
                <a:spcPts val="9"/>
              </a:spcAft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Log streams keep ordered events from one producing source</a:t>
            </a:r>
          </a:p>
          <a:p>
            <a:pPr marL="285762" indent="-285750">
              <a:spcAft>
                <a:spcPts val="9"/>
              </a:spcAft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Retention should be set deliberately instead of left indefinite</a:t>
            </a:r>
          </a:p>
          <a:p>
            <a:pPr marL="285762" indent="-285750">
              <a:spcAft>
                <a:spcPts val="9"/>
              </a:spcAft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Logs Insights supports interactive investigation</a:t>
            </a:r>
          </a:p>
          <a:p>
            <a:pPr marL="285762" indent="-285750">
              <a:spcAft>
                <a:spcPts val="9"/>
              </a:spcAft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Metric filters turn known patterns into CloudWatch metrics</a:t>
            </a:r>
          </a:p>
        </p:txBody>
      </p:sp>
    </p:spTree>
    <p:extLst>
      <p:ext uri="{BB962C8B-B14F-4D97-AF65-F5344CB8AC3E}">
        <p14:creationId xmlns:p14="http://schemas.microsoft.com/office/powerpoint/2010/main" val="2203044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572031-69BE-4608-ACD0-9EC1DE6BE4BC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Log Groups and Log Streams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5B69CD8-E31B-498C-8AB7-D97C0C8D9D98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AD1E312-F3C6-4044-A51A-1E98CADB919F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EC8DA3-34FA-4593-ACDD-19CF51B89B8B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 Group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F810961-04AD-44C8-BECA-AED611986D84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Shared retention, monitoring, and access settings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Example: /training/cloudwatch/app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Contains many log streams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Set retention intentionally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D56E6B8-886F-41BA-80D6-B3D8B3D2B7E3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F7D6BB7-996D-4AEC-9D50-C4E2C588D1E4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0EF0435-FBD3-41DF-A3EC-B4F9C8EE84B7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 Stream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12A22F4-DF41-48BF-93D0-AC11185319DA}"/>
              </a:ext>
            </a:extLst>
          </p:cNvPr>
          <p:cNvSpPr>
            <a:spLocks noGrp="1"/>
          </p:cNvSpPr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Sequence of events from one source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Example: one instance, container, or file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Events carry timestamp + message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Many streams can belong to one group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811994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024BA9-0243-CB7D-8628-D86C872F29A8}"/>
              </a:ext>
            </a:extLst>
          </p:cNvPr>
          <p:cNvSpPr>
            <a:spLocks noGrp="1"/>
          </p:cNvSpPr>
          <p:nvPr/>
        </p:nvSpPr>
        <p:spPr>
          <a:xfrm>
            <a:off x="335280" y="27432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Turn Logs into Operational Signals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74BCADC-A333-BA9B-5E53-7327ED76CE1D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2560320" cy="348996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263BF7A-5F64-0ABB-AF0E-335EF122C916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16459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Logs Insights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B39B646-7084-5D2C-77CB-6F4BB6D838D5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2194560" cy="21412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Ad-hoc investigation: filter, parse, sort, and aggregate log events.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F914986-B2E9-0CC9-95D7-5C9F8A1FDFFD}"/>
              </a:ext>
            </a:extLst>
          </p:cNvPr>
          <p:cNvSpPr>
            <a:spLocks noGrp="1"/>
          </p:cNvSpPr>
          <p:nvPr/>
        </p:nvSpPr>
        <p:spPr>
          <a:xfrm>
            <a:off x="3291840" y="1188720"/>
            <a:ext cx="2560320" cy="348996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82E0B311-F45F-03E5-EB85-77F64F1973E7}"/>
              </a:ext>
            </a:extLst>
          </p:cNvPr>
          <p:cNvSpPr>
            <a:spLocks noGrp="1"/>
          </p:cNvSpPr>
          <p:nvPr/>
        </p:nvSpPr>
        <p:spPr>
          <a:xfrm>
            <a:off x="3931920" y="1325880"/>
            <a:ext cx="16459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Metric Filters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45A557C-901D-33C0-2608-E7B51971114F}"/>
              </a:ext>
            </a:extLst>
          </p:cNvPr>
          <p:cNvSpPr>
            <a:spLocks noGrp="1"/>
          </p:cNvSpPr>
          <p:nvPr/>
        </p:nvSpPr>
        <p:spPr>
          <a:xfrm>
            <a:off x="3474720" y="1737360"/>
            <a:ext cx="2194560" cy="23774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Match events such as ERROR and publish a custom CloudWatch metric.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B9B6A7F5-1457-060A-0AF4-7ED71B639AEC}"/>
              </a:ext>
            </a:extLst>
          </p:cNvPr>
          <p:cNvSpPr>
            <a:spLocks noGrp="1"/>
          </p:cNvSpPr>
          <p:nvPr/>
        </p:nvSpPr>
        <p:spPr>
          <a:xfrm>
            <a:off x="6126480" y="1188720"/>
            <a:ext cx="2560320" cy="348996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3258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4708EE88-D038-A555-818F-02F141E2E3A0}"/>
              </a:ext>
            </a:extLst>
          </p:cNvPr>
          <p:cNvSpPr>
            <a:spLocks noGrp="1"/>
          </p:cNvSpPr>
          <p:nvPr/>
        </p:nvSpPr>
        <p:spPr>
          <a:xfrm>
            <a:off x="6766560" y="1325880"/>
            <a:ext cx="16459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Alarm + SNS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A523211-679C-86A3-277B-7D9E22AFA3AC}"/>
              </a:ext>
            </a:extLst>
          </p:cNvPr>
          <p:cNvSpPr>
            <a:spLocks noGrp="1"/>
          </p:cNvSpPr>
          <p:nvPr/>
        </p:nvSpPr>
        <p:spPr>
          <a:xfrm>
            <a:off x="6309360" y="1737360"/>
            <a:ext cx="2194560" cy="23774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Evaluate the metric and notify when the threshold is breached.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77100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50C6C9-D729-12C8-C550-7B2334376C01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Dashboards and Operating Hygiene</a:t>
            </a:r>
            <a:endParaRPr sz="2400"/>
          </a:p>
        </p:txBody>
      </p:sp>
      <p:sp>
        <p:nvSpPr>
          <p:cNvPr id="15" name="Google Shape;335;p58">
            <a:extLst>
              <a:ext uri="{FF2B5EF4-FFF2-40B4-BE49-F238E27FC236}">
                <a16:creationId xmlns:a16="http://schemas.microsoft.com/office/drawing/2014/main" id="{2E6CBE27-F624-6C48-055D-32104EF07829}"/>
              </a:ext>
            </a:extLst>
          </p:cNvPr>
          <p:cNvSpPr>
            <a:spLocks noGrp="1"/>
          </p:cNvSpPr>
          <p:nvPr/>
        </p:nvSpPr>
        <p:spPr>
          <a:xfrm>
            <a:off x="425271" y="1191986"/>
            <a:ext cx="8293457" cy="3265714"/>
          </a:xfrm>
          <a:prstGeom prst="rect">
            <a:avLst/>
          </a:prstGeom>
        </p:spPr>
        <p:txBody>
          <a:bodyPr spcFirstLastPara="1" wrap="square" lIns="91440" tIns="91440" rIns="91440" bIns="91440" anchor="t">
            <a:noAutofit/>
          </a:bodyPr>
          <a:lstStyle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18"/>
              </a:spcAft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 Signal ]  →  [ Dashboard ]  →  [ Decision ]</a:t>
            </a:r>
          </a:p>
          <a:p>
            <a:pPr marL="285762" indent="-285750">
              <a:spcAft>
                <a:spcPts val="9"/>
              </a:spcAft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 dashboards around a service or user journey</a:t>
            </a:r>
          </a:p>
          <a:p>
            <a:pPr marL="285762" indent="-285750">
              <a:spcAft>
                <a:spcPts val="9"/>
              </a:spcAft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consistent names and tags for ownership</a:t>
            </a:r>
          </a:p>
          <a:p>
            <a:pPr marL="285762" indent="-285750">
              <a:spcAft>
                <a:spcPts val="9"/>
              </a:spcAft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Set log retention deliberately</a:t>
            </a:r>
          </a:p>
          <a:p>
            <a:pPr marL="285762" indent="-285750">
              <a:spcAft>
                <a:spcPts val="9"/>
              </a:spcAft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 statistic, period, M of N, and missing-data treatment to the risk</a:t>
            </a:r>
          </a:p>
          <a:p>
            <a:pPr marL="285762" indent="-285750">
              <a:spcAft>
                <a:spcPts val="9"/>
              </a:spcAft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Watch metric cardinality, log volume, query range, and refresh rate</a:t>
            </a:r>
          </a:p>
        </p:txBody>
      </p:sp>
    </p:spTree>
    <p:extLst>
      <p:ext uri="{BB962C8B-B14F-4D97-AF65-F5344CB8AC3E}">
        <p14:creationId xmlns:p14="http://schemas.microsoft.com/office/powerpoint/2010/main" val="2203044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57200"/>
            <a:ext cx="1188720" cy="118872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AE6A92C-4E07-41E6-9781-11C65D13A4DA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Hands-On Labs</a:t>
            </a:r>
            <a:endParaRPr sz="40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122A70D-9FE0-4F46-BBD2-2220DD8D6EFA}"/>
              </a:ext>
            </a:extLst>
          </p:cNvPr>
          <p:cNvSpPr>
            <a:spLocks noGrp="1"/>
          </p:cNvSpPr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i="1">
                <a:solidFill>
                  <a:srgbClr val="00D4AA"/>
                </a:solidFill>
                <a:latin typeface="Arial"/>
                <a:ea typeface="Arial"/>
                <a:cs typeface="Arial"/>
              </a:rPr>
              <a:t>EC2 → metrics &amp; logs → alarm → dashboard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93441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603</Words>
  <Application>Microsoft Office PowerPoint</Application>
  <DocSecurity>0</DocSecurity>
  <PresentationFormat>On-screen Show (16:9)</PresentationFormat>
  <Paragraphs>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Aryan Mohan</cp:lastModifiedBy>
  <cp:revision>3</cp:revision>
  <dcterms:created xsi:type="dcterms:W3CDTF">2026-08-07T19:46:15Z</dcterms:created>
  <dcterms:modified xsi:type="dcterms:W3CDTF">2026-08-07T20:12:21Z</dcterms:modified>
</cp:coreProperties>
</file>