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447" autoAdjust="0"/>
  </p:normalViewPr>
  <p:slideViewPr>
    <p:cSldViewPr snapToGrid="0" snapToObjects="1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740BB9F-4D48-439E-9B95-D4281B6E97D1}"/>
              </a:ext>
            </a:extLst>
          </p:cNvPr>
          <p:cNvSpPr>
            <a:spLocks noGrp="1"/>
          </p:cNvSpPr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CA92972A-3897-492E-AA42-DDDBAD209724}"/>
              </a:ext>
            </a:extLst>
          </p:cNvPr>
          <p:cNvSpPr>
            <a:spLocks noGrp="1"/>
          </p:cNvSpPr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ELK Stack: Centralized Logging</a:t>
            </a:r>
            <a:endParaRPr sz="4000"/>
          </a:p>
        </p:txBody>
      </p:sp>
    </p:spTree>
    <p:extLst>
      <p:ext uri="{BB962C8B-B14F-4D97-AF65-F5344CB8AC3E}">
        <p14:creationId xmlns:p14="http://schemas.microsoft.com/office/powerpoint/2010/main" val="1974943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A9926A-BBF5-4F03-81A1-E4F29E122C02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Learning Objectives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4F138DC-44BD-463E-808A-8B8C6F0E10E4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EE31CED3-420D-4749-99CA-48C2DDE7BB91}"/>
              </a:ext>
            </a:extLst>
          </p:cNvPr>
          <p:cNvSpPr>
            <a:spLocks noGrp="1"/>
          </p:cNvSpPr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Why container logs need a different collection model</a:t>
            </a:r>
            <a:endParaRPr sz="14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5D72294-37DC-46AF-8610-2291D07DA366}"/>
              </a:ext>
            </a:extLst>
          </p:cNvPr>
          <p:cNvSpPr>
            <a:spLocks noGrp="1"/>
          </p:cNvSpPr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8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73F732F5-85E7-44D0-A244-B772930CEC93}"/>
              </a:ext>
            </a:extLst>
          </p:cNvPr>
          <p:cNvSpPr>
            <a:spLocks noGrp="1"/>
          </p:cNvSpPr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Deploy Elasticsearch, Filebeat and Kibana on Kubernetes</a:t>
            </a:r>
            <a:endParaRPr sz="140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BE6323E5-B6A1-47CA-BB18-7F2B0D471EFD}"/>
              </a:ext>
            </a:extLst>
          </p:cNvPr>
          <p:cNvSpPr>
            <a:spLocks noGrp="1"/>
          </p:cNvSpPr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1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624E9D32-704D-4442-B9AF-2610AF107209}"/>
              </a:ext>
            </a:extLst>
          </p:cNvPr>
          <p:cNvSpPr>
            <a:spLocks noGrp="1"/>
          </p:cNvSpPr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Enrich logs with Kubernetes metadata at collection time</a:t>
            </a:r>
            <a:endParaRPr sz="140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D4304CD8-9C43-444C-BB88-720FB33264A2}"/>
              </a:ext>
            </a:extLst>
          </p:cNvPr>
          <p:cNvSpPr>
            <a:spLocks noGrp="1"/>
          </p:cNvSpPr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4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3DF9D42A-CC85-445F-AE20-0060049C087F}"/>
              </a:ext>
            </a:extLst>
          </p:cNvPr>
          <p:cNvSpPr>
            <a:spLocks noGrp="1"/>
          </p:cNvSpPr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Search with KQL and parse with ingest pipelines</a:t>
            </a:r>
            <a:endParaRPr sz="140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740CBF97-A85B-48D9-BF9E-58EAA0E37923}"/>
              </a:ext>
            </a:extLst>
          </p:cNvPr>
          <p:cNvSpPr>
            <a:spLocks noGrp="1"/>
          </p:cNvSpPr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09C0B66E-121E-4403-97E3-B975FEB07A14}"/>
              </a:ext>
            </a:extLst>
          </p:cNvPr>
          <p:cNvSpPr>
            <a:spLocks noGrp="1"/>
          </p:cNvSpPr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Build Kibana dashboards and alert on log patterns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49969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243DB92-3090-4E03-8047-027246CC848A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The Problem: Ephemeral Workloads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5E8EF72-7E96-436B-B998-6E4F9D985184}"/>
              </a:ext>
            </a:extLst>
          </p:cNvPr>
          <p:cNvSpPr>
            <a:spLocks noGrp="1"/>
          </p:cNvSpPr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FE8E8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2C10362-60AB-4543-80B7-C73D8B69B805}"/>
              </a:ext>
            </a:extLst>
          </p:cNvPr>
          <p:cNvSpPr>
            <a:spLocks noGrp="1"/>
          </p:cNvSpPr>
          <p:nvPr/>
        </p:nvSpPr>
        <p:spPr>
          <a:xfrm>
            <a:off x="640080" y="1097280"/>
            <a:ext cx="786384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b="1">
                <a:solidFill>
                  <a:srgbClr val="CC3333"/>
                </a:solidFill>
                <a:latin typeface="Arial"/>
                <a:ea typeface="Arial"/>
                <a:cs typeface="Arial"/>
              </a:rPr>
              <a:t>Without Centralized Logging on Kubernetes:</a:t>
            </a:r>
            <a:endParaRPr sz="1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A9432A2-8A88-4C12-A50E-6780B2E5F93C}"/>
              </a:ext>
            </a:extLst>
          </p:cNvPr>
          <p:cNvSpPr>
            <a:spLocks noGrp="1"/>
          </p:cNvSpPr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BD93F76-E2C9-4257-AFC2-65A096B85E62}"/>
              </a:ext>
            </a:extLst>
          </p:cNvPr>
          <p:cNvSpPr>
            <a:spLocks noGrp="1"/>
          </p:cNvSpPr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1. kubectl logs needs a pod name, and only sees running pods</a:t>
            </a:r>
            <a:endParaRPr sz="12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1283761-CA57-44D6-86C6-5754B34FD813}"/>
              </a:ext>
            </a:extLst>
          </p:cNvPr>
          <p:cNvSpPr>
            <a:spLocks noGrp="1"/>
          </p:cNvSpPr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solidFill>
            <a:srgbClr val="F4F7FC"/>
          </a:solidFill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9B21794-1794-4B2C-839A-09DC40A44D83}"/>
              </a:ext>
            </a:extLst>
          </p:cNvPr>
          <p:cNvSpPr>
            <a:spLocks noGrp="1"/>
          </p:cNvSpPr>
          <p:nvPr/>
        </p:nvSpPr>
        <p:spPr>
          <a:xfrm>
            <a:off x="640080" y="2651760"/>
            <a:ext cx="7863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2. Delete a pod and its logs are deleted with it</a:t>
            </a:r>
            <a:endParaRPr sz="12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9ABDB2E-B93E-4397-BFBF-29CA926034FE}"/>
              </a:ext>
            </a:extLst>
          </p:cNvPr>
          <p:cNvSpPr>
            <a:spLocks noGrp="1"/>
          </p:cNvSpPr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AFDB084-3E0E-4A70-A082-153D47C52506}"/>
              </a:ext>
            </a:extLst>
          </p:cNvPr>
          <p:cNvSpPr>
            <a:spLocks noGrp="1"/>
          </p:cNvSpPr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3. A deployment of 20 replicas means 20 separate log streams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0CA8E3C-2EBB-4C82-8A0E-949D3C83542B}"/>
              </a:ext>
            </a:extLst>
          </p:cNvPr>
          <p:cNvSpPr>
            <a:spLocks noGrp="1"/>
          </p:cNvSpPr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solidFill>
            <a:srgbClr val="F4F7FC"/>
          </a:solidFill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5E28B6E-A92B-4952-A75F-A1FF4CFAAE2E}"/>
              </a:ext>
            </a:extLst>
          </p:cNvPr>
          <p:cNvSpPr>
            <a:spLocks noGrp="1"/>
          </p:cNvSpPr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4. No way to search across namespaces, nodes or time</a:t>
            </a:r>
            <a:endParaRPr sz="12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0B5BACB-99E1-4D05-97AC-7E5FA09C7D11}"/>
              </a:ext>
            </a:extLst>
          </p:cNvPr>
          <p:cNvSpPr>
            <a:spLocks noGrp="1"/>
          </p:cNvSpPr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F47B396-E35F-49FF-8A43-CF804FB53470}"/>
              </a:ext>
            </a:extLst>
          </p:cNvPr>
          <p:cNvSpPr>
            <a:spLocks noGrp="1"/>
          </p:cNvSpPr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5. No alerting on error patterns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31777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1B68B6F-6638-4720-AD1E-0257050FE825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The ELK Stack + Beats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90DC24C-FD05-4940-96FA-236F04406FFE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E8EE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D4C45049-A1B3-42C5-84AB-961BDEC1D297}"/>
              </a:ext>
            </a:extLst>
          </p:cNvPr>
          <p:cNvSpPr>
            <a:spLocks noGrp="1"/>
          </p:cNvSpPr>
          <p:nvPr/>
        </p:nvSpPr>
        <p:spPr>
          <a:xfrm>
            <a:off x="109728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Beats (Filebeat)</a:t>
            </a:r>
            <a:endParaRPr sz="1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9824E33-FC54-4983-BA59-357B7E4864E5}"/>
              </a:ext>
            </a:extLst>
          </p:cNvPr>
          <p:cNvSpPr>
            <a:spLocks noGrp="1"/>
          </p:cNvSpPr>
          <p:nvPr/>
        </p:nvSpPr>
        <p:spPr>
          <a:xfrm>
            <a:off x="64008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Lightweight shipper. Runs as a DaemonSet, one per node. Ships direct to Elasticsearch.</a:t>
            </a:r>
            <a:endParaRPr sz="12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D6F1AEC-4051-4192-A73E-94DB728EEDC8}"/>
              </a:ext>
            </a:extLst>
          </p:cNvPr>
          <p:cNvSpPr>
            <a:spLocks noGrp="1"/>
          </p:cNvSpPr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E8F8F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365760" cy="36576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9EC34C26-7F72-48F0-A10F-2D81F97AB7E4}"/>
              </a:ext>
            </a:extLst>
          </p:cNvPr>
          <p:cNvSpPr>
            <a:spLocks noGrp="1"/>
          </p:cNvSpPr>
          <p:nvPr/>
        </p:nvSpPr>
        <p:spPr>
          <a:xfrm>
            <a:off x="539496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Logstash</a:t>
            </a:r>
            <a:endParaRPr sz="14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C67C1A96-0307-475D-85E2-1E10CA94BA29}"/>
              </a:ext>
            </a:extLst>
          </p:cNvPr>
          <p:cNvSpPr>
            <a:spLocks noGrp="1"/>
          </p:cNvSpPr>
          <p:nvPr/>
        </p:nvSpPr>
        <p:spPr>
          <a:xfrm>
            <a:off x="493776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Optional. Add it for queuing, fan-out, or transforms ingest cannot express.</a:t>
            </a:r>
            <a:endParaRPr sz="120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0E79D5B5-05B0-4903-985B-70AAF5E70C03}"/>
              </a:ext>
            </a:extLst>
          </p:cNvPr>
          <p:cNvSpPr>
            <a:spLocks noGrp="1"/>
          </p:cNvSpPr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FF0E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C888F22E-1B04-405D-B5B3-99D1293BA849}"/>
              </a:ext>
            </a:extLst>
          </p:cNvPr>
          <p:cNvSpPr>
            <a:spLocks noGrp="1"/>
          </p:cNvSpPr>
          <p:nvPr/>
        </p:nvSpPr>
        <p:spPr>
          <a:xfrm>
            <a:off x="109728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Elasticsearch</a:t>
            </a:r>
            <a:endParaRPr sz="14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60F7EB39-EB42-44CC-8EB3-F9166374ABAE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Search &amp; analytics engine. Stores indexed logs. Full-text search, aggregations.</a:t>
            </a:r>
            <a:endParaRPr sz="120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D46206BD-4FB3-4790-A383-79938589D9FE}"/>
              </a:ext>
            </a:extLst>
          </p:cNvPr>
          <p:cNvSpPr>
            <a:spLocks noGrp="1"/>
          </p:cNvSpPr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0E8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154680"/>
            <a:ext cx="365760" cy="365760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701407D8-A36F-405E-BB38-F93EEBB40218}"/>
              </a:ext>
            </a:extLst>
          </p:cNvPr>
          <p:cNvSpPr>
            <a:spLocks noGrp="1"/>
          </p:cNvSpPr>
          <p:nvPr/>
        </p:nvSpPr>
        <p:spPr>
          <a:xfrm>
            <a:off x="539496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Kibana</a:t>
            </a:r>
            <a:endParaRPr sz="140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5A62E4CC-8E2D-4A7A-876A-4089C07414EA}"/>
              </a:ext>
            </a:extLst>
          </p:cNvPr>
          <p:cNvSpPr>
            <a:spLocks noGrp="1"/>
          </p:cNvSpPr>
          <p:nvPr/>
        </p:nvSpPr>
        <p:spPr>
          <a:xfrm>
            <a:off x="493776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Web UI for Elasticsearch. Search, visualize, dashboard, alert on logs.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24029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62B132-033B-42E3-923F-F70AA7DD3ADB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00D4AA"/>
                </a:solidFill>
                <a:latin typeface="Arial"/>
                <a:ea typeface="Arial"/>
                <a:cs typeface="Arial"/>
              </a:rPr>
              <a:t>Architecture: Logging on Kubernetes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24E013A-0DE5-4569-8480-E5A15E53A037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solidFill>
            <a:srgbClr val="2D3454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B9A6128-E208-4157-8406-D0A5CB3DB2AF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7863840" cy="30175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300" dirty="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  Node 1                        Elasticsearch           Kibana</a:t>
            </a:r>
            <a:endParaRPr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300" dirty="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    |                                |                     |</a:t>
            </a:r>
            <a:endParaRPr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300" dirty="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  +- pod A -+     +-----------+   +-----------+       +- Discover</a:t>
            </a:r>
            <a:endParaRPr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300" dirty="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  +- pod B -+---&gt; | Filebeat  |--&gt;| Ingest    |------&gt;+- Dashboards</a:t>
            </a:r>
            <a:endParaRPr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300" dirty="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  +- pod C -+     | </a:t>
            </a:r>
            <a:r>
              <a:rPr sz="1300" dirty="0" err="1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DaemonSet</a:t>
            </a:r>
            <a:r>
              <a:rPr sz="1300" dirty="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 |   | Index     |       +- Alerts</a:t>
            </a:r>
            <a:endParaRPr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300" dirty="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                  +-----+-----+   +-----------+</a:t>
            </a:r>
            <a:endParaRPr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300" dirty="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  Node 2                | enriches from</a:t>
            </a:r>
            <a:endParaRPr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300" dirty="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  +- pod D -+           v</a:t>
            </a:r>
            <a:endParaRPr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300" dirty="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  +- pod E -+---&gt; [ Kubernetes API:  pod, namespace, node, labels ]</a:t>
            </a:r>
            <a:endParaRPr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300" dirty="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  +- pod F -+</a:t>
            </a:r>
            <a:endParaRPr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6DB299-7D43-4410-884A-5484BE8AE465}"/>
              </a:ext>
            </a:extLst>
          </p:cNvPr>
          <p:cNvSpPr>
            <a:spLocks noGrp="1"/>
          </p:cNvSpPr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8D87DB0-5923-440F-9AD0-12210356E233}"/>
              </a:ext>
            </a:extLst>
          </p:cNvPr>
          <p:cNvSpPr>
            <a:spLocks noGrp="1"/>
          </p:cNvSpPr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kubelet writes to /var/log/containers  →  Filebeat enriches  →  ES parses and indexes  →  Kibana queries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06546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4FC542E-283C-47A0-8F4A-72AC543E71F1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Filebeat on Kubernetes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E6B5728-0373-4ED9-B86F-20C0E2E50882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8229600" cy="62179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7202F3A-E006-4DCD-A800-A1362C2DB38B}"/>
              </a:ext>
            </a:extLst>
          </p:cNvPr>
          <p:cNvSpPr>
            <a:spLocks noGrp="1"/>
          </p:cNvSpPr>
          <p:nvPr/>
        </p:nvSpPr>
        <p:spPr>
          <a:xfrm>
            <a:off x="594360" y="1298448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C7018D5-5858-4E53-81B5-EF107AA855DA}"/>
              </a:ext>
            </a:extLst>
          </p:cNvPr>
          <p:cNvSpPr>
            <a:spLocks noGrp="1"/>
          </p:cNvSpPr>
          <p:nvPr/>
        </p:nvSpPr>
        <p:spPr>
          <a:xfrm>
            <a:off x="594360" y="1298448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400"/>
          </a:p>
        </p:txBody>
      </p:sp>
      <p:pic>
        <p:nvPicPr>
          <p:cNvPr id="3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335024"/>
            <a:ext cx="329184" cy="329184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89E8635B-D831-4F85-AC31-7396032DD2ED}"/>
              </a:ext>
            </a:extLst>
          </p:cNvPr>
          <p:cNvSpPr>
            <a:spLocks noGrp="1"/>
          </p:cNvSpPr>
          <p:nvPr/>
        </p:nvSpPr>
        <p:spPr>
          <a:xfrm>
            <a:off x="1600200" y="1188720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Runs as a DaemonSet: the kubelet writes logs to node-local disk</a:t>
            </a:r>
            <a:endParaRPr sz="13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C245BCD-BB19-490D-A6EC-3519AF3773DD}"/>
              </a:ext>
            </a:extLst>
          </p:cNvPr>
          <p:cNvSpPr>
            <a:spLocks noGrp="1"/>
          </p:cNvSpPr>
          <p:nvPr/>
        </p:nvSpPr>
        <p:spPr>
          <a:xfrm>
            <a:off x="457200" y="1883664"/>
            <a:ext cx="8229600" cy="621792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47E224A-68A3-4151-A57B-E6E788861AA4}"/>
              </a:ext>
            </a:extLst>
          </p:cNvPr>
          <p:cNvSpPr>
            <a:spLocks noGrp="1"/>
          </p:cNvSpPr>
          <p:nvPr/>
        </p:nvSpPr>
        <p:spPr>
          <a:xfrm>
            <a:off x="594360" y="1993392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CE62FB5-125C-4DC2-ABFC-269940C82320}"/>
              </a:ext>
            </a:extLst>
          </p:cNvPr>
          <p:cNvSpPr>
            <a:spLocks noGrp="1"/>
          </p:cNvSpPr>
          <p:nvPr/>
        </p:nvSpPr>
        <p:spPr>
          <a:xfrm>
            <a:off x="594360" y="1993392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400"/>
          </a:p>
        </p:txBody>
      </p:sp>
      <p:pic>
        <p:nvPicPr>
          <p:cNvPr id="4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029968"/>
            <a:ext cx="329184" cy="329184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3C18A028-3041-414C-97FA-2DB5874AC85D}"/>
              </a:ext>
            </a:extLst>
          </p:cNvPr>
          <p:cNvSpPr>
            <a:spLocks noGrp="1"/>
          </p:cNvSpPr>
          <p:nvPr/>
        </p:nvSpPr>
        <p:spPr>
          <a:xfrm>
            <a:off x="1600200" y="1883664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Reads /var/log/containers, every container on that node</a:t>
            </a:r>
            <a:endParaRPr sz="130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599E1308-2B14-4644-9D34-AD1F44CB6E95}"/>
              </a:ext>
            </a:extLst>
          </p:cNvPr>
          <p:cNvSpPr>
            <a:spLocks noGrp="1"/>
          </p:cNvSpPr>
          <p:nvPr/>
        </p:nvSpPr>
        <p:spPr>
          <a:xfrm>
            <a:off x="457200" y="2578608"/>
            <a:ext cx="8229600" cy="62179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483A3FA5-9F11-470A-9278-16C77E9E9BE7}"/>
              </a:ext>
            </a:extLst>
          </p:cNvPr>
          <p:cNvSpPr>
            <a:spLocks noGrp="1"/>
          </p:cNvSpPr>
          <p:nvPr/>
        </p:nvSpPr>
        <p:spPr>
          <a:xfrm>
            <a:off x="594360" y="2688336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778AB330-59B5-41F8-B637-DC50102FB89A}"/>
              </a:ext>
            </a:extLst>
          </p:cNvPr>
          <p:cNvSpPr>
            <a:spLocks noGrp="1"/>
          </p:cNvSpPr>
          <p:nvPr/>
        </p:nvSpPr>
        <p:spPr>
          <a:xfrm>
            <a:off x="594360" y="2688336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400"/>
          </a:p>
        </p:txBody>
      </p:sp>
      <p:pic>
        <p:nvPicPr>
          <p:cNvPr id="47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724912"/>
            <a:ext cx="329184" cy="329184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0E7B86F5-0490-4913-9A79-465659D3FBC6}"/>
              </a:ext>
            </a:extLst>
          </p:cNvPr>
          <p:cNvSpPr>
            <a:spLocks noGrp="1"/>
          </p:cNvSpPr>
          <p:nvPr/>
        </p:nvSpPr>
        <p:spPr>
          <a:xfrm>
            <a:off x="1600200" y="2578608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Enriches each event with pod, namespace, node and labels from the API</a:t>
            </a:r>
            <a:endParaRPr sz="130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82C673F4-AE84-4CCC-B54B-AF84B4F93A76}"/>
              </a:ext>
            </a:extLst>
          </p:cNvPr>
          <p:cNvSpPr>
            <a:spLocks noGrp="1"/>
          </p:cNvSpPr>
          <p:nvPr/>
        </p:nvSpPr>
        <p:spPr>
          <a:xfrm>
            <a:off x="457200" y="3273552"/>
            <a:ext cx="8229600" cy="621792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26DC079D-45C7-495F-A921-6284CE47727C}"/>
              </a:ext>
            </a:extLst>
          </p:cNvPr>
          <p:cNvSpPr>
            <a:spLocks noGrp="1"/>
          </p:cNvSpPr>
          <p:nvPr/>
        </p:nvSpPr>
        <p:spPr>
          <a:xfrm>
            <a:off x="594360" y="3383280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6E5E7755-59EF-406F-8255-200D297B7195}"/>
              </a:ext>
            </a:extLst>
          </p:cNvPr>
          <p:cNvSpPr>
            <a:spLocks noGrp="1"/>
          </p:cNvSpPr>
          <p:nvPr/>
        </p:nvSpPr>
        <p:spPr>
          <a:xfrm>
            <a:off x="594360" y="3383280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400"/>
          </a:p>
        </p:txBody>
      </p:sp>
      <p:pic>
        <p:nvPicPr>
          <p:cNvPr id="52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419856"/>
            <a:ext cx="329184" cy="329184"/>
          </a:xfrm>
          <a:prstGeom prst="rect">
            <a:avLst/>
          </a:prstGeom>
        </p:spPr>
      </p:pic>
      <p:sp>
        <p:nvSpPr>
          <p:cNvPr id="22" name="Text 16">
            <a:extLst>
              <a:ext uri="{FF2B5EF4-FFF2-40B4-BE49-F238E27FC236}">
                <a16:creationId xmlns:a16="http://schemas.microsoft.com/office/drawing/2014/main" id="{792C3370-11EE-452A-A80E-71194B30C0BB}"/>
              </a:ext>
            </a:extLst>
          </p:cNvPr>
          <p:cNvSpPr>
            <a:spLocks noGrp="1"/>
          </p:cNvSpPr>
          <p:nvPr/>
        </p:nvSpPr>
        <p:spPr>
          <a:xfrm>
            <a:off x="1600200" y="3273552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Ships direct to Elasticsearch, picking an ingest pipeline per workload</a:t>
            </a:r>
            <a:endParaRPr sz="130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04082C8E-9F42-4404-95D2-54702699EB37}"/>
              </a:ext>
            </a:extLst>
          </p:cNvPr>
          <p:cNvSpPr>
            <a:spLocks noGrp="1"/>
          </p:cNvSpPr>
          <p:nvPr/>
        </p:nvSpPr>
        <p:spPr>
          <a:xfrm>
            <a:off x="457200" y="3968496"/>
            <a:ext cx="8229600" cy="62179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BB5C4D43-B3F8-4E0D-A046-89CD8C4922CF}"/>
              </a:ext>
            </a:extLst>
          </p:cNvPr>
          <p:cNvSpPr>
            <a:spLocks noGrp="1"/>
          </p:cNvSpPr>
          <p:nvPr/>
        </p:nvSpPr>
        <p:spPr>
          <a:xfrm>
            <a:off x="594360" y="4078224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3083BC84-227F-4B39-B769-FF87DB01F785}"/>
              </a:ext>
            </a:extLst>
          </p:cNvPr>
          <p:cNvSpPr>
            <a:spLocks noGrp="1"/>
          </p:cNvSpPr>
          <p:nvPr/>
        </p:nvSpPr>
        <p:spPr>
          <a:xfrm>
            <a:off x="594360" y="4078224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1400"/>
          </a:p>
        </p:txBody>
      </p:sp>
      <p:pic>
        <p:nvPicPr>
          <p:cNvPr id="57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114800"/>
            <a:ext cx="329184" cy="329184"/>
          </a:xfrm>
          <a:prstGeom prst="rect">
            <a:avLst/>
          </a:prstGeom>
        </p:spPr>
      </p:pic>
      <p:sp>
        <p:nvSpPr>
          <p:cNvPr id="27" name="Text 20">
            <a:extLst>
              <a:ext uri="{FF2B5EF4-FFF2-40B4-BE49-F238E27FC236}">
                <a16:creationId xmlns:a16="http://schemas.microsoft.com/office/drawing/2014/main" id="{AB1D5C90-E157-4EF4-80C5-CCD53FC82AD6}"/>
              </a:ext>
            </a:extLst>
          </p:cNvPr>
          <p:cNvSpPr>
            <a:spLocks noGrp="1"/>
          </p:cNvSpPr>
          <p:nvPr/>
        </p:nvSpPr>
        <p:spPr>
          <a:xfrm>
            <a:off x="1600200" y="3968496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Keeps a registry of file and offset, so a restart does not re-ship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461470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6F7655E-244C-4377-8602-939EACD79C7A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Container Logs Have No Identity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F5C0622-71EB-41AB-A890-0B3F23D8ACF9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47C9611-614C-4D8E-A053-95BC98FA1646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CC3333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F8C876C-6DD9-4AE1-B30F-3A17558D05D6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Raw line on the node</a:t>
            </a:r>
            <a:endParaRPr sz="1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2B069C1-2E46-4C38-9925-1A5A0777204E}"/>
              </a:ext>
            </a:extLst>
          </p:cNvPr>
          <p:cNvSpPr>
            <a:spLocks noGrp="1"/>
          </p:cNvSpPr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2026-08-08T10:14:08Z app[1234] ERROR Database connection timeout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No pod, namespace or node attached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The only clue is the log file name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Unattributable across 40 nodes</a:t>
            </a:r>
            <a:endParaRPr sz="13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D901C6C-991F-4429-B78D-14D9C84A2BCF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76B1F1A-515B-4FE1-9623-C172A754C83D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228B22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6FEE9C1-7870-4E0B-9538-693B1DA11F26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After add_kubernetes_metadata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E6A9C87-286F-4BD4-9093-04E7065E9E67}"/>
              </a:ext>
            </a:extLst>
          </p:cNvPr>
          <p:cNvSpPr>
            <a:spLocks noGrp="1"/>
          </p:cNvSpPr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kubernetes.namespace: demo | kubernetes.pod.name: plain-logger-7f9c2 | kubernetes.labels.app: plain-logger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Filebeat resolves the container ID against the API server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This is the only reason the collector needs RBAC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CloudWatch gave you this free: the log group was the identity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542806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5EB20F0-00C4-49C0-85D4-2C01611BB98A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Where Parsing Happens</a:t>
            </a:r>
            <a:endParaRPr sz="36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7ECBCD-1614-46EE-88B7-122BEC8F697B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i="1">
                <a:solidFill>
                  <a:srgbClr val="7A8BBE"/>
                </a:solidFill>
                <a:latin typeface="Arial"/>
                <a:ea typeface="Arial"/>
                <a:cs typeface="Arial"/>
              </a:rPr>
              <a:t>Agent  →  Ingest  →  Logstash</a:t>
            </a:r>
            <a:endParaRPr sz="1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C056F5B-C464-4E31-82BC-FE24D6EACF81}"/>
              </a:ext>
            </a:extLst>
          </p:cNvPr>
          <p:cNvSpPr>
            <a:spLocks noGrp="1"/>
          </p:cNvSpPr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solidFill>
            <a:srgbClr val="E8EE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B9D1DB2-43BD-4226-A02E-0FC41EB89816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371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AGENT</a:t>
            </a:r>
            <a:endParaRPr sz="1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D9CD08B-E0B5-45B2-88E2-EDD23DE0242F}"/>
              </a:ext>
            </a:extLst>
          </p:cNvPr>
          <p:cNvSpPr>
            <a:spLocks noGrp="1"/>
          </p:cNvSpPr>
          <p:nvPr/>
        </p:nvSpPr>
        <p:spPr>
          <a:xfrm>
            <a:off x="2286000" y="1783080"/>
            <a:ext cx="62179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Filebeat processors: dissect, decode_json_fields. Cheap, but runs on every node.</a:t>
            </a:r>
            <a:endParaRPr sz="12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48C01EA-8F98-46A6-9C09-76FA5D15233D}"/>
              </a:ext>
            </a:extLst>
          </p:cNvPr>
          <p:cNvSpPr>
            <a:spLocks noGrp="1"/>
          </p:cNvSpPr>
          <p:nvPr/>
        </p:nvSpPr>
        <p:spPr>
          <a:xfrm>
            <a:off x="457200" y="2697480"/>
            <a:ext cx="8229600" cy="914400"/>
          </a:xfrm>
          <a:prstGeom prst="rect">
            <a:avLst/>
          </a:prstGeom>
          <a:solidFill>
            <a:srgbClr val="E8F8F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AC26B81-FF97-4E53-B734-71757314DE86}"/>
              </a:ext>
            </a:extLst>
          </p:cNvPr>
          <p:cNvSpPr>
            <a:spLocks noGrp="1"/>
          </p:cNvSpPr>
          <p:nvPr/>
        </p:nvSpPr>
        <p:spPr>
          <a:xfrm>
            <a:off x="640080" y="2743200"/>
            <a:ext cx="1371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INGEST</a:t>
            </a:r>
            <a:endParaRPr sz="1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818AD70-D8EA-4515-81C3-62C431E22499}"/>
              </a:ext>
            </a:extLst>
          </p:cNvPr>
          <p:cNvSpPr>
            <a:spLocks noGrp="1"/>
          </p:cNvSpPr>
          <p:nvPr/>
        </p:nvSpPr>
        <p:spPr>
          <a:xfrm>
            <a:off x="2286000" y="2834640"/>
            <a:ext cx="62179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Ingest pipelines: grok, json, date, rename. Where we do it today.</a:t>
            </a:r>
            <a:endParaRPr sz="12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7ADA2FA-2D9A-4F36-8C49-AA90E75E82B8}"/>
              </a:ext>
            </a:extLst>
          </p:cNvPr>
          <p:cNvSpPr>
            <a:spLocks noGrp="1"/>
          </p:cNvSpPr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FFF0E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6B297D8-5E66-4E36-9606-1A4A933E890F}"/>
              </a:ext>
            </a:extLst>
          </p:cNvPr>
          <p:cNvSpPr>
            <a:spLocks noGrp="1"/>
          </p:cNvSpPr>
          <p:nvPr/>
        </p:nvSpPr>
        <p:spPr>
          <a:xfrm>
            <a:off x="640080" y="3794760"/>
            <a:ext cx="1371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LOGSTASH</a:t>
            </a:r>
            <a:endParaRPr sz="14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7B44955-A14C-4459-A1A4-A63AE0990148}"/>
              </a:ext>
            </a:extLst>
          </p:cNvPr>
          <p:cNvSpPr>
            <a:spLocks noGrp="1"/>
          </p:cNvSpPr>
          <p:nvPr/>
        </p:nvSpPr>
        <p:spPr>
          <a:xfrm>
            <a:off x="2286000" y="3886200"/>
            <a:ext cx="62179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Only for queuing, fan-out to several sinks, or heavy enrichment lookups.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52332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573339-A5CF-4231-9559-49511B704C71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Elasticsearch: Document Store &amp; Search Engine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6A9B5ED-E865-4FB9-8CB3-942B9EB65D78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0FC9DF2-041A-47D5-A2AD-5B9C14E82EAF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0B2D206-A17A-4D84-A6E0-2C9ED60B21A0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Key Concepts</a:t>
            </a:r>
            <a:endParaRPr sz="1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18291B7-1854-44F3-B234-1948F53858AF}"/>
              </a:ext>
            </a:extLst>
          </p:cNvPr>
          <p:cNvSpPr>
            <a:spLocks noGrp="1"/>
          </p:cNvSpPr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Document: JSON object (one log entry)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Index: Collection of documents (like a table)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Shard: Horizontal partition (for scale)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Replica: Copy for redundancy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Data stream: append-only, auto-rolling set of indices</a:t>
            </a:r>
            <a:endParaRPr sz="13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360082B-EC9A-4D71-BADF-B886E8E8F2ED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CEE478A-B52F-41F5-9393-700CE7EAEAAB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C8C7F40-6E38-48AC-8A97-4F9BD0E1C07A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Search Features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68D51EE-111E-4405-977D-0257245B62DA}"/>
              </a:ext>
            </a:extLst>
          </p:cNvPr>
          <p:cNvSpPr>
            <a:spLocks noGrp="1"/>
          </p:cNvSpPr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Full-text search: tokenized, ranked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Exact match: keyword fields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Range queries: dates, numbers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Aggregations: sum, avg, histogram, terms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Geo queries: location-based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671728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3448BC-5496-4A40-974E-EC283AC9B16E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Kibana: Search, Visualize, Alert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297DE6D-5241-4BA1-B0A0-D44CF7D54548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E8EE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3C7858-E454-4839-9043-F12B2134C42C}"/>
              </a:ext>
            </a:extLst>
          </p:cNvPr>
          <p:cNvSpPr>
            <a:spLocks noGrp="1"/>
          </p:cNvSpPr>
          <p:nvPr/>
        </p:nvSpPr>
        <p:spPr>
          <a:xfrm>
            <a:off x="109728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Discover</a:t>
            </a:r>
            <a:endParaRPr sz="1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53DFC80-4141-470B-91C3-8C3A95340D57}"/>
              </a:ext>
            </a:extLst>
          </p:cNvPr>
          <p:cNvSpPr>
            <a:spLocks noGrp="1"/>
          </p:cNvSpPr>
          <p:nvPr/>
        </p:nvSpPr>
        <p:spPr>
          <a:xfrm>
            <a:off x="64008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Interactive search. Filter, view raw logs, drill down.</a:t>
            </a:r>
            <a:endParaRPr sz="12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E32F17E-ED24-4EA0-B874-52944F4EA7DA}"/>
              </a:ext>
            </a:extLst>
          </p:cNvPr>
          <p:cNvSpPr>
            <a:spLocks noGrp="1"/>
          </p:cNvSpPr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E8F8F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365760" cy="36576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7719CF8-0D7D-4414-835C-668DF8346E54}"/>
              </a:ext>
            </a:extLst>
          </p:cNvPr>
          <p:cNvSpPr>
            <a:spLocks noGrp="1"/>
          </p:cNvSpPr>
          <p:nvPr/>
        </p:nvSpPr>
        <p:spPr>
          <a:xfrm>
            <a:off x="539496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Visualize</a:t>
            </a:r>
            <a:endParaRPr sz="14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05DF557-9BBE-46E7-8B69-FD51F9C85CAC}"/>
              </a:ext>
            </a:extLst>
          </p:cNvPr>
          <p:cNvSpPr>
            <a:spLocks noGrp="1"/>
          </p:cNvSpPr>
          <p:nvPr/>
        </p:nvSpPr>
        <p:spPr>
          <a:xfrm>
            <a:off x="493776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Build charts from logs. Time series, bar, pie, map.</a:t>
            </a:r>
            <a:endParaRPr sz="120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0A07DE8-025F-47B0-9505-CFA6B2069DA9}"/>
              </a:ext>
            </a:extLst>
          </p:cNvPr>
          <p:cNvSpPr>
            <a:spLocks noGrp="1"/>
          </p:cNvSpPr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FF0E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80C0BEB8-E2BE-4974-ABF1-4FD9A00B69EA}"/>
              </a:ext>
            </a:extLst>
          </p:cNvPr>
          <p:cNvSpPr>
            <a:spLocks noGrp="1"/>
          </p:cNvSpPr>
          <p:nvPr/>
        </p:nvSpPr>
        <p:spPr>
          <a:xfrm>
            <a:off x="109728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Dashboard</a:t>
            </a:r>
            <a:endParaRPr sz="14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FDAB976E-D5B3-4C98-B55B-67524596BF7E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Combine visualizations. Real-time monitoring.</a:t>
            </a:r>
            <a:endParaRPr sz="120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0AA166E4-7FA6-45D1-8C0C-49A5772714D6}"/>
              </a:ext>
            </a:extLst>
          </p:cNvPr>
          <p:cNvSpPr>
            <a:spLocks noGrp="1"/>
          </p:cNvSpPr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0E8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154680"/>
            <a:ext cx="365760" cy="365760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46093F22-1708-40BB-9BAB-BE99CF62B8BC}"/>
              </a:ext>
            </a:extLst>
          </p:cNvPr>
          <p:cNvSpPr>
            <a:spLocks noGrp="1"/>
          </p:cNvSpPr>
          <p:nvPr/>
        </p:nvSpPr>
        <p:spPr>
          <a:xfrm>
            <a:off x="539496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Alerts</a:t>
            </a:r>
            <a:endParaRPr sz="140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78BBDE47-900A-4059-B793-D525709ED891}"/>
              </a:ext>
            </a:extLst>
          </p:cNvPr>
          <p:cNvSpPr>
            <a:spLocks noGrp="1"/>
          </p:cNvSpPr>
          <p:nvPr/>
        </p:nvSpPr>
        <p:spPr>
          <a:xfrm>
            <a:off x="493776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Trigger actions on log patterns using connectors and rules.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793097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67C80B-65B3-4ED1-93DD-6E0CEE774D7B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From CloudWatch to Elastic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28EA48F-A975-4484-9123-309A4EEFEB7E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F2CAFA1-1C0F-4276-86A9-8166630BCA85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D2F1FDA-ABD7-4444-8190-01A68DB49DCB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already know</a:t>
            </a:r>
            <a:endParaRPr sz="1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937D63E-3E8D-439C-AFC9-349B2C1C914D}"/>
              </a:ext>
            </a:extLst>
          </p:cNvPr>
          <p:cNvSpPr>
            <a:spLocks noGrp="1"/>
          </p:cNvSpPr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CloudWatch agent on an instance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Log group and log stream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Logs Insights query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Metric filter, then an alarm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Retention setting on a log group</a:t>
            </a:r>
            <a:endParaRPr sz="13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8683419-885E-4C8A-BEE0-09FA77BF4D42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590AFF7-7138-4DDF-B66B-A6F92E14E791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FF9900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4B9A6C9-5DBC-4804-811D-851343207CCE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Here it is called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D56A9AD-36A7-49A5-B723-F429A57D5A97}"/>
              </a:ext>
            </a:extLst>
          </p:cNvPr>
          <p:cNvSpPr>
            <a:spLocks noGrp="1"/>
          </p:cNvSpPr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Filebeat DaemonSet on a node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Index and data stream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KQL in Discover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Ingest pipeline, then a Kibana rule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ILM policy with hot, warm, cold, delete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760465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036864"/>
            <a:ext cx="1188720" cy="118872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011CAA0-C8A6-4090-B09D-01F9D5A0FEC5}"/>
              </a:ext>
            </a:extLst>
          </p:cNvPr>
          <p:cNvSpPr>
            <a:spLocks noGrp="1"/>
          </p:cNvSpPr>
          <p:nvPr/>
        </p:nvSpPr>
        <p:spPr>
          <a:xfrm>
            <a:off x="457200" y="2408464"/>
            <a:ext cx="82296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4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Hands-On Labs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987102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722</Words>
  <Application>Microsoft Office PowerPoint</Application>
  <DocSecurity>0</DocSecurity>
  <PresentationFormat>On-screen Show (16:9)</PresentationFormat>
  <Paragraphs>101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Aryan Mohan</cp:lastModifiedBy>
  <cp:revision>2</cp:revision>
  <dcterms:created xsi:type="dcterms:W3CDTF">2026-08-08T17:12:08Z</dcterms:created>
  <dcterms:modified xsi:type="dcterms:W3CDTF">2026-08-16T13:56:45Z</dcterms:modified>
</cp:coreProperties>
</file>