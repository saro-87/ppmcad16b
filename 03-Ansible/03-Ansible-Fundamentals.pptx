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9" r:id="rId13"/>
    <p:sldId id="270" r:id="rId14"/>
    <p:sldId id="277" r:id="rId15"/>
    <p:sldId id="268" r:id="rId16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78" d="100"/>
          <a:sy n="78" d="100"/>
        </p:scale>
        <p:origin x="940" y="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5867998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7" Type="http://schemas.openxmlformats.org/officeDocument/2006/relationships/image" Target="../media/image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7.png"/><Relationship Id="rId4" Type="http://schemas.openxmlformats.org/officeDocument/2006/relationships/image" Target="../media/image9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png"/><Relationship Id="rId5" Type="http://schemas.openxmlformats.org/officeDocument/2006/relationships/image" Target="../media/image7.png"/><Relationship Id="rId4" Type="http://schemas.openxmlformats.org/officeDocument/2006/relationships/image" Target="../media/image5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55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11880" y="457200"/>
            <a:ext cx="1920240" cy="1920240"/>
          </a:xfrm>
          <a:prstGeom prst="ellipse">
            <a:avLst/>
          </a:prstGeom>
          <a:ln w="31750">
            <a:solidFill>
              <a:srgbClr val="326CE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77640" y="685800"/>
            <a:ext cx="1188720" cy="11887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2560320"/>
            <a:ext cx="8229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Ansible: Configuration Management Fundamentals</a:t>
            </a:r>
            <a:endParaRPr lang="en-US" sz="4000" dirty="0"/>
          </a:p>
        </p:txBody>
      </p:sp>
      <p:sp>
        <p:nvSpPr>
          <p:cNvPr id="5" name="Text 2"/>
          <p:cNvSpPr/>
          <p:nvPr/>
        </p:nvSpPr>
        <p:spPr>
          <a:xfrm>
            <a:off x="914400" y="384048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i="1" dirty="0">
                <a:solidFill>
                  <a:srgbClr val="00D4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Automate server configuration at scale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8ED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1B25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Learning Objectives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001356"/>
            <a:ext cx="8229601" cy="374729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2331" y="1063811"/>
            <a:ext cx="249819" cy="249819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097280" y="1001356"/>
            <a:ext cx="7406640" cy="37472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A46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Understand the problem: manual configuration and script fragility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457200" y="1519516"/>
            <a:ext cx="8229601" cy="374729"/>
          </a:xfrm>
          <a:prstGeom prst="rect">
            <a:avLst/>
          </a:prstGeom>
          <a:solidFill>
            <a:srgbClr val="F4F7FC"/>
          </a:solidFill>
          <a:ln/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2331" y="1581971"/>
            <a:ext cx="249819" cy="249819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1097280" y="1519516"/>
            <a:ext cx="7406640" cy="37472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A46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Compare agent-based vs agentless configuration management tools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457200" y="2068156"/>
            <a:ext cx="8229601" cy="374729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10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2331" y="2130611"/>
            <a:ext cx="249819" cy="249819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1097280" y="2068156"/>
            <a:ext cx="7406640" cy="37472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A46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Master Ansible architecture: control node, managed nodes, SSH inventory</a:t>
            </a:r>
            <a:endParaRPr lang="en-US" sz="1400" dirty="0"/>
          </a:p>
        </p:txBody>
      </p:sp>
      <p:sp>
        <p:nvSpPr>
          <p:cNvPr id="12" name="Shape 7"/>
          <p:cNvSpPr/>
          <p:nvPr/>
        </p:nvSpPr>
        <p:spPr>
          <a:xfrm>
            <a:off x="457200" y="2624416"/>
            <a:ext cx="8229601" cy="374729"/>
          </a:xfrm>
          <a:prstGeom prst="rect">
            <a:avLst/>
          </a:prstGeom>
          <a:solidFill>
            <a:srgbClr val="F4F7FC"/>
          </a:solidFill>
          <a:ln/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13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2331" y="2686871"/>
            <a:ext cx="249819" cy="249819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097280" y="2624416"/>
            <a:ext cx="7406640" cy="37472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A46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Write your first playbook with tasks, handlers, and variables</a:t>
            </a:r>
            <a:endParaRPr lang="en-US" sz="1400" dirty="0"/>
          </a:p>
        </p:txBody>
      </p:sp>
      <p:sp>
        <p:nvSpPr>
          <p:cNvPr id="18" name="Shape 1">
            <a:extLst>
              <a:ext uri="{FF2B5EF4-FFF2-40B4-BE49-F238E27FC236}">
                <a16:creationId xmlns:a16="http://schemas.microsoft.com/office/drawing/2014/main" id="{8EEDF026-9C12-E4DF-8037-A5DF1CA85FD6}"/>
              </a:ext>
            </a:extLst>
          </p:cNvPr>
          <p:cNvSpPr/>
          <p:nvPr/>
        </p:nvSpPr>
        <p:spPr>
          <a:xfrm>
            <a:off x="457200" y="3091412"/>
            <a:ext cx="8229601" cy="374729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19" name="Image 0" descr="preencoded.png">
            <a:extLst>
              <a:ext uri="{FF2B5EF4-FFF2-40B4-BE49-F238E27FC236}">
                <a16:creationId xmlns:a16="http://schemas.microsoft.com/office/drawing/2014/main" id="{E80F0269-ABA8-F20A-F7C3-21429B1A572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2331" y="3153867"/>
            <a:ext cx="249819" cy="249819"/>
          </a:xfrm>
          <a:prstGeom prst="rect">
            <a:avLst/>
          </a:prstGeom>
        </p:spPr>
      </p:pic>
      <p:sp>
        <p:nvSpPr>
          <p:cNvPr id="20" name="Text 2">
            <a:extLst>
              <a:ext uri="{FF2B5EF4-FFF2-40B4-BE49-F238E27FC236}">
                <a16:creationId xmlns:a16="http://schemas.microsoft.com/office/drawing/2014/main" id="{F5863430-FA7B-B951-07AE-4063DDE8A237}"/>
              </a:ext>
            </a:extLst>
          </p:cNvPr>
          <p:cNvSpPr/>
          <p:nvPr/>
        </p:nvSpPr>
        <p:spPr>
          <a:xfrm>
            <a:off x="1097280" y="3091412"/>
            <a:ext cx="7406640" cy="37472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A46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Understand roles: self-contained automation units with standardized structure</a:t>
            </a:r>
            <a:endParaRPr lang="en-US" sz="1400" dirty="0"/>
          </a:p>
        </p:txBody>
      </p:sp>
      <p:sp>
        <p:nvSpPr>
          <p:cNvPr id="21" name="Shape 3">
            <a:extLst>
              <a:ext uri="{FF2B5EF4-FFF2-40B4-BE49-F238E27FC236}">
                <a16:creationId xmlns:a16="http://schemas.microsoft.com/office/drawing/2014/main" id="{87A8C934-48FE-055F-C93B-2424460271DE}"/>
              </a:ext>
            </a:extLst>
          </p:cNvPr>
          <p:cNvSpPr/>
          <p:nvPr/>
        </p:nvSpPr>
        <p:spPr>
          <a:xfrm>
            <a:off x="457200" y="3624272"/>
            <a:ext cx="8229601" cy="374729"/>
          </a:xfrm>
          <a:prstGeom prst="rect">
            <a:avLst/>
          </a:prstGeom>
          <a:solidFill>
            <a:srgbClr val="F4F7FC"/>
          </a:solidFill>
          <a:ln/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22" name="Image 1" descr="preencoded.png">
            <a:extLst>
              <a:ext uri="{FF2B5EF4-FFF2-40B4-BE49-F238E27FC236}">
                <a16:creationId xmlns:a16="http://schemas.microsoft.com/office/drawing/2014/main" id="{52BE4728-9A7F-2390-4652-C7DD5B0B2EE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2331" y="3694887"/>
            <a:ext cx="249819" cy="249819"/>
          </a:xfrm>
          <a:prstGeom prst="rect">
            <a:avLst/>
          </a:prstGeom>
        </p:spPr>
      </p:pic>
      <p:sp>
        <p:nvSpPr>
          <p:cNvPr id="23" name="Text 4">
            <a:extLst>
              <a:ext uri="{FF2B5EF4-FFF2-40B4-BE49-F238E27FC236}">
                <a16:creationId xmlns:a16="http://schemas.microsoft.com/office/drawing/2014/main" id="{955B43CD-0702-3740-70C3-D3EC91239B7E}"/>
              </a:ext>
            </a:extLst>
          </p:cNvPr>
          <p:cNvSpPr/>
          <p:nvPr/>
        </p:nvSpPr>
        <p:spPr>
          <a:xfrm>
            <a:off x="1097280" y="3632432"/>
            <a:ext cx="7406640" cy="37472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A46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role directory structure: tasks, handlers, defaults, vars, templates, files, meta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8ED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B25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Problem: Manual Configuration at Scale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7A8BB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we need configuration management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417320"/>
            <a:ext cx="3931920" cy="333756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5" name="Shape 3"/>
          <p:cNvSpPr/>
          <p:nvPr/>
        </p:nvSpPr>
        <p:spPr>
          <a:xfrm>
            <a:off x="457200" y="1417320"/>
            <a:ext cx="3931920" cy="384048"/>
          </a:xfrm>
          <a:prstGeom prst="rect">
            <a:avLst/>
          </a:prstGeom>
          <a:solidFill>
            <a:srgbClr val="CC3333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" name="Text 4"/>
          <p:cNvSpPr/>
          <p:nvPr/>
        </p:nvSpPr>
        <p:spPr>
          <a:xfrm>
            <a:off x="457200" y="1417320"/>
            <a:ext cx="3931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Manual Operations on VMs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1965960"/>
            <a:ext cx="3566160" cy="2606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3A46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Manual SSH to 3-30 servers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3A46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Manually install nginx, Java, Node.js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3A46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Configure each service individually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3A46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consistency across environments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3A46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Hours of manual labor per deployment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754880" y="1417320"/>
            <a:ext cx="3931920" cy="333756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9" name="Shape 7"/>
          <p:cNvSpPr/>
          <p:nvPr/>
        </p:nvSpPr>
        <p:spPr>
          <a:xfrm>
            <a:off x="4754880" y="1417320"/>
            <a:ext cx="3931920" cy="384048"/>
          </a:xfrm>
          <a:prstGeom prst="rect">
            <a:avLst/>
          </a:prstGeom>
          <a:solidFill>
            <a:srgbClr val="CC9933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" name="Text 8"/>
          <p:cNvSpPr/>
          <p:nvPr/>
        </p:nvSpPr>
        <p:spPr>
          <a:xfrm>
            <a:off x="4754880" y="1417320"/>
            <a:ext cx="3931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Problems with Shell Scripts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937760" y="1965960"/>
            <a:ext cx="3566160" cy="2606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3A46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 idempotent (run twice = broken)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3A46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state awareness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3A46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drift detection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3A46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Hard to maintain and debug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3A46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Difficult to scale beyond 10 servers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8ED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1B25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is Configuration Management?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3931920" cy="1645920"/>
          </a:xfrm>
          <a:prstGeom prst="rect">
            <a:avLst/>
          </a:prstGeom>
          <a:solidFill>
            <a:srgbClr val="E8EEFF"/>
          </a:solidFill>
          <a:ln/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325880"/>
            <a:ext cx="365760" cy="3657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097280" y="1325880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25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Idempotent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640080" y="1737360"/>
            <a:ext cx="356616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A46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 result whether run once or 100 times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4754880" y="1188720"/>
            <a:ext cx="3931920" cy="1645920"/>
          </a:xfrm>
          <a:prstGeom prst="rect">
            <a:avLst/>
          </a:prstGeom>
          <a:solidFill>
            <a:srgbClr val="E8F8F0"/>
          </a:solidFill>
          <a:ln/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8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37760" y="1325880"/>
            <a:ext cx="365760" cy="36576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394960" y="1325880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25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Declarative</a:t>
            </a:r>
            <a:endParaRPr lang="en-US" sz="1400" dirty="0"/>
          </a:p>
        </p:txBody>
      </p:sp>
      <p:sp>
        <p:nvSpPr>
          <p:cNvPr id="10" name="Text 6"/>
          <p:cNvSpPr/>
          <p:nvPr/>
        </p:nvSpPr>
        <p:spPr>
          <a:xfrm>
            <a:off x="4937760" y="1737360"/>
            <a:ext cx="356616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A46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Describe desired state, not steps to achieve it</a:t>
            </a:r>
            <a:endParaRPr lang="en-US" sz="1200" dirty="0"/>
          </a:p>
        </p:txBody>
      </p:sp>
      <p:sp>
        <p:nvSpPr>
          <p:cNvPr id="11" name="Shape 7"/>
          <p:cNvSpPr/>
          <p:nvPr/>
        </p:nvSpPr>
        <p:spPr>
          <a:xfrm>
            <a:off x="457200" y="3017520"/>
            <a:ext cx="3931920" cy="1645920"/>
          </a:xfrm>
          <a:prstGeom prst="rect">
            <a:avLst/>
          </a:prstGeom>
          <a:solidFill>
            <a:srgbClr val="F0E8FF"/>
          </a:solidFill>
          <a:ln/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" y="3154680"/>
            <a:ext cx="365760" cy="36576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097280" y="3154680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25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State Aware</a:t>
            </a:r>
            <a:endParaRPr lang="en-US" sz="1400" dirty="0"/>
          </a:p>
        </p:txBody>
      </p:sp>
      <p:sp>
        <p:nvSpPr>
          <p:cNvPr id="14" name="Text 9"/>
          <p:cNvSpPr/>
          <p:nvPr/>
        </p:nvSpPr>
        <p:spPr>
          <a:xfrm>
            <a:off x="640080" y="3566160"/>
            <a:ext cx="356616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A46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Detects and corrects configuration drift</a:t>
            </a:r>
            <a:endParaRPr lang="en-US" sz="1200" dirty="0"/>
          </a:p>
        </p:txBody>
      </p:sp>
      <p:sp>
        <p:nvSpPr>
          <p:cNvPr id="15" name="Shape 10"/>
          <p:cNvSpPr/>
          <p:nvPr/>
        </p:nvSpPr>
        <p:spPr>
          <a:xfrm>
            <a:off x="4754880" y="3017520"/>
            <a:ext cx="3931920" cy="1645920"/>
          </a:xfrm>
          <a:prstGeom prst="rect">
            <a:avLst/>
          </a:prstGeom>
          <a:solidFill>
            <a:srgbClr val="FFF0E0"/>
          </a:solidFill>
          <a:ln/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37760" y="3154680"/>
            <a:ext cx="365760" cy="36576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5394960" y="3154680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25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Scalable</a:t>
            </a:r>
            <a:endParaRPr lang="en-US" sz="1400" dirty="0"/>
          </a:p>
        </p:txBody>
      </p:sp>
      <p:sp>
        <p:nvSpPr>
          <p:cNvPr id="18" name="Text 12"/>
          <p:cNvSpPr/>
          <p:nvPr/>
        </p:nvSpPr>
        <p:spPr>
          <a:xfrm>
            <a:off x="4937760" y="3566160"/>
            <a:ext cx="356616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A46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Manage thousands of servers with one tool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8ED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B25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Agent-Based vs Agentless Approaches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7A8BB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configuration management tools work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417320"/>
            <a:ext cx="3931920" cy="333756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5" name="Shape 3"/>
          <p:cNvSpPr/>
          <p:nvPr/>
        </p:nvSpPr>
        <p:spPr>
          <a:xfrm>
            <a:off x="457200" y="1417320"/>
            <a:ext cx="3931920" cy="384048"/>
          </a:xfrm>
          <a:prstGeom prst="rect">
            <a:avLst/>
          </a:prstGeom>
          <a:solidFill>
            <a:srgbClr val="CC6633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" name="Text 4"/>
          <p:cNvSpPr/>
          <p:nvPr/>
        </p:nvSpPr>
        <p:spPr>
          <a:xfrm>
            <a:off x="457200" y="1417320"/>
            <a:ext cx="3931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Agent-Based (Puppet, Chef)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1965960"/>
            <a:ext cx="3566160" cy="2606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3A46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Requires agent software on each server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3A46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Polling connection (agent → control)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3A46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More complex to set up and maintain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3A46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Higher resource overhead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3A46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Requires central server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754880" y="1417320"/>
            <a:ext cx="3931920" cy="333756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9" name="Shape 7"/>
          <p:cNvSpPr/>
          <p:nvPr/>
        </p:nvSpPr>
        <p:spPr>
          <a:xfrm>
            <a:off x="4754880" y="1417320"/>
            <a:ext cx="3931920" cy="384048"/>
          </a:xfrm>
          <a:prstGeom prst="rect">
            <a:avLst/>
          </a:prstGeom>
          <a:solidFill>
            <a:srgbClr val="228B22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" name="Text 8"/>
          <p:cNvSpPr/>
          <p:nvPr/>
        </p:nvSpPr>
        <p:spPr>
          <a:xfrm>
            <a:off x="4754880" y="1417320"/>
            <a:ext cx="3931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Agentless (Ansible)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937760" y="1965960"/>
            <a:ext cx="3566160" cy="2606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3A46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agent needed on target servers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3A46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SSH push connection (control → agent)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3A46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Simple to set up and use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3A46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Low resource overhead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3A46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Minimal prerequisites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8ED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1B25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Ansible Architecture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7A8BB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Control node, managed nodes, SSH, inventory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417320"/>
            <a:ext cx="3931920" cy="333756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5" name="Shape 3"/>
          <p:cNvSpPr/>
          <p:nvPr/>
        </p:nvSpPr>
        <p:spPr>
          <a:xfrm>
            <a:off x="457200" y="1417320"/>
            <a:ext cx="3931920" cy="384048"/>
          </a:xfrm>
          <a:prstGeom prst="rect">
            <a:avLst/>
          </a:prstGeom>
          <a:solidFill>
            <a:srgbClr val="326CE5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" name="Text 4"/>
          <p:cNvSpPr/>
          <p:nvPr/>
        </p:nvSpPr>
        <p:spPr>
          <a:xfrm>
            <a:off x="457200" y="1417320"/>
            <a:ext cx="3931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Core Components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1965960"/>
            <a:ext cx="3566160" cy="2606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3A46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Control Node: your laptop or CI/CD server (should be running on Linux)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3A46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Managed Nodes: target servers (VMs, cloud, </a:t>
            </a:r>
            <a:r>
              <a:rPr lang="en-US" sz="1300" dirty="0" err="1">
                <a:solidFill>
                  <a:srgbClr val="3A46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etc</a:t>
            </a:r>
            <a:r>
              <a:rPr lang="en-US" sz="1300" dirty="0">
                <a:solidFill>
                  <a:srgbClr val="3A46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 (Can be Linux or Windows)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3A46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SSH / </a:t>
            </a:r>
            <a:r>
              <a:rPr lang="en-US" sz="1300" dirty="0" err="1">
                <a:solidFill>
                  <a:srgbClr val="3A46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Winrm</a:t>
            </a:r>
            <a:r>
              <a:rPr lang="en-US" sz="1300" dirty="0">
                <a:solidFill>
                  <a:srgbClr val="3A46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 only requirement on managed nodes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3A46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Inventory: defines hosts and groups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3A46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Playbooks: YAML files with tasks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754880" y="1417320"/>
            <a:ext cx="3931920" cy="333756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9" name="Shape 7"/>
          <p:cNvSpPr/>
          <p:nvPr/>
        </p:nvSpPr>
        <p:spPr>
          <a:xfrm>
            <a:off x="4754880" y="1417320"/>
            <a:ext cx="3931920" cy="384048"/>
          </a:xfrm>
          <a:prstGeom prst="rect">
            <a:avLst/>
          </a:prstGeom>
          <a:solidFill>
            <a:srgbClr val="00B074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" name="Text 8"/>
          <p:cNvSpPr/>
          <p:nvPr/>
        </p:nvSpPr>
        <p:spPr>
          <a:xfrm>
            <a:off x="4754880" y="1417320"/>
            <a:ext cx="3931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Communication Flow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937760" y="1965960"/>
            <a:ext cx="3566160" cy="2606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3A46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Control → read inventory file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3A46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Control → generate tasks via Playbooks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3A46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Control → push via SSH to managed node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3A46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Managed node → execute + return results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3A46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Control → log results and next task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E8ED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1B25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Inventory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417320"/>
            <a:ext cx="8229600" cy="3337560"/>
          </a:xfrm>
          <a:prstGeom prst="rect">
            <a:avLst/>
          </a:prstGeom>
          <a:solidFill>
            <a:srgbClr val="2D3454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" name="Text 2"/>
          <p:cNvSpPr/>
          <p:nvPr/>
        </p:nvSpPr>
        <p:spPr>
          <a:xfrm>
            <a:off x="640080" y="1554480"/>
            <a:ext cx="7863840" cy="3063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00D4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Static Inventory File (YAML)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00D4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all: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00D4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vars: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00D4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ansible_user: ubuntu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00D4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ansible_key_file: ~/.ssh/id_rsa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00D4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children: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00D4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webservers: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00D4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hosts: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00D4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web1.example.com: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00D4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web2.example.com: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00D4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dbservers: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00D4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hosts: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00D4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db1.example.com: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00D4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ansible_host: 10.0.1.50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8ED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B25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Ad-Hoc Commands: Quick Tasks Without Playbooks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1493520"/>
            <a:ext cx="4114800" cy="384048"/>
          </a:xfrm>
          <a:prstGeom prst="rect">
            <a:avLst/>
          </a:prstGeom>
          <a:solidFill>
            <a:srgbClr val="2D3454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" name="Text 2"/>
          <p:cNvSpPr/>
          <p:nvPr/>
        </p:nvSpPr>
        <p:spPr>
          <a:xfrm>
            <a:off x="548640" y="1493520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0D4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ansible all -m ping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754880" y="1493520"/>
            <a:ext cx="3931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A46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 connectivity to all hosts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57200" y="1932432"/>
            <a:ext cx="4114800" cy="384048"/>
          </a:xfrm>
          <a:prstGeom prst="rect">
            <a:avLst/>
          </a:prstGeom>
          <a:solidFill>
            <a:srgbClr val="2D3454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7" name="Text 5"/>
          <p:cNvSpPr/>
          <p:nvPr/>
        </p:nvSpPr>
        <p:spPr>
          <a:xfrm>
            <a:off x="548640" y="1932432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0D4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ansible webservers -m shell -a 'uptime'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754880" y="1932432"/>
            <a:ext cx="3931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A46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 shell command on webservers group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57200" y="2371344"/>
            <a:ext cx="4114800" cy="384048"/>
          </a:xfrm>
          <a:prstGeom prst="rect">
            <a:avLst/>
          </a:prstGeom>
          <a:solidFill>
            <a:srgbClr val="2D3454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" name="Text 8"/>
          <p:cNvSpPr/>
          <p:nvPr/>
        </p:nvSpPr>
        <p:spPr>
          <a:xfrm>
            <a:off x="548640" y="2371344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0D4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ansible all -m apt -a 'name=nginx state=present'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754880" y="2371344"/>
            <a:ext cx="3931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A46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Install package (idempotent)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57200" y="2810256"/>
            <a:ext cx="4114800" cy="384048"/>
          </a:xfrm>
          <a:prstGeom prst="rect">
            <a:avLst/>
          </a:prstGeom>
          <a:solidFill>
            <a:srgbClr val="2D3454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3" name="Text 11"/>
          <p:cNvSpPr/>
          <p:nvPr/>
        </p:nvSpPr>
        <p:spPr>
          <a:xfrm>
            <a:off x="548640" y="2810256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0D4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ansible all -m service -a 'name=nginx state=started'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754880" y="2810256"/>
            <a:ext cx="3931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A46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Ensure service is running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B255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00D4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First Playbook: Install Nginx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051560"/>
            <a:ext cx="8229600" cy="3817620"/>
          </a:xfrm>
          <a:prstGeom prst="rect">
            <a:avLst/>
          </a:prstGeom>
          <a:solidFill>
            <a:srgbClr val="2D3454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" name="Text 2"/>
          <p:cNvSpPr/>
          <p:nvPr/>
        </p:nvSpPr>
        <p:spPr>
          <a:xfrm>
            <a:off x="640080" y="1143000"/>
            <a:ext cx="7863840" cy="36652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1100" dirty="0">
                <a:solidFill>
                  <a:srgbClr val="00D4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---</a:t>
            </a:r>
            <a:endParaRPr lang="en-US" sz="1100" dirty="0"/>
          </a:p>
          <a:p>
            <a:pPr marL="0" indent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1100" dirty="0">
                <a:solidFill>
                  <a:srgbClr val="00D4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name: Deploy Nginx Web Servers</a:t>
            </a:r>
            <a:endParaRPr lang="en-US" sz="1100" dirty="0"/>
          </a:p>
          <a:p>
            <a:pPr marL="0" indent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1100" dirty="0">
                <a:solidFill>
                  <a:srgbClr val="00D4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hosts: webservers</a:t>
            </a:r>
            <a:endParaRPr lang="en-US" sz="1100" dirty="0"/>
          </a:p>
          <a:p>
            <a:pPr marL="0" indent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1100" dirty="0">
                <a:solidFill>
                  <a:srgbClr val="00D4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gather_facts: no</a:t>
            </a:r>
            <a:endParaRPr lang="en-US" sz="1100" dirty="0"/>
          </a:p>
          <a:p>
            <a:pPr marL="0" indent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1100" dirty="0">
                <a:solidFill>
                  <a:srgbClr val="00D4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vars:</a:t>
            </a:r>
            <a:endParaRPr lang="en-US" sz="1100" dirty="0"/>
          </a:p>
          <a:p>
            <a:pPr marL="0" indent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1100" dirty="0">
                <a:solidFill>
                  <a:srgbClr val="00D4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nginx_port: 80</a:t>
            </a:r>
            <a:endParaRPr lang="en-US" sz="1100" dirty="0"/>
          </a:p>
          <a:p>
            <a:pPr marL="0" indent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1100" dirty="0">
                <a:solidFill>
                  <a:srgbClr val="00D4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tasks:</a:t>
            </a:r>
            <a:endParaRPr lang="en-US" sz="1100" dirty="0"/>
          </a:p>
          <a:p>
            <a:pPr marL="0" indent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1100" dirty="0">
                <a:solidFill>
                  <a:srgbClr val="00D4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- name: Install Nginx</a:t>
            </a:r>
            <a:endParaRPr lang="en-US" sz="1100" dirty="0"/>
          </a:p>
          <a:p>
            <a:pPr marL="0" indent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1100" dirty="0">
                <a:solidFill>
                  <a:srgbClr val="00D4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apt:</a:t>
            </a:r>
            <a:endParaRPr lang="en-US" sz="1100" dirty="0"/>
          </a:p>
          <a:p>
            <a:pPr marL="0" indent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1100" dirty="0">
                <a:solidFill>
                  <a:srgbClr val="00D4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name: nginx</a:t>
            </a:r>
            <a:endParaRPr lang="en-US" sz="1100" dirty="0"/>
          </a:p>
          <a:p>
            <a:pPr marL="0" indent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1100" dirty="0">
                <a:solidFill>
                  <a:srgbClr val="00D4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state: present</a:t>
            </a:r>
            <a:endParaRPr lang="en-US" sz="1100" dirty="0"/>
          </a:p>
          <a:p>
            <a:pPr marL="0" indent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1100" dirty="0">
                <a:solidFill>
                  <a:srgbClr val="00D4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- name: Start Nginx</a:t>
            </a:r>
            <a:endParaRPr lang="en-US" sz="1100" dirty="0"/>
          </a:p>
          <a:p>
            <a:pPr marL="0" indent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1100" dirty="0">
                <a:solidFill>
                  <a:srgbClr val="00D4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service:</a:t>
            </a:r>
            <a:endParaRPr lang="en-US" sz="1100" dirty="0"/>
          </a:p>
          <a:p>
            <a:pPr marL="0" indent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1100" dirty="0">
                <a:solidFill>
                  <a:srgbClr val="00D4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name: nginx</a:t>
            </a:r>
            <a:endParaRPr lang="en-US" sz="1100" dirty="0"/>
          </a:p>
          <a:p>
            <a:pPr marL="0" indent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1100" dirty="0">
                <a:solidFill>
                  <a:srgbClr val="00D4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state: started</a:t>
            </a:r>
            <a:endParaRPr lang="en-US" sz="1100" dirty="0"/>
          </a:p>
          <a:p>
            <a:pPr marL="0" indent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1100" dirty="0">
                <a:solidFill>
                  <a:srgbClr val="00D4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enabled: yes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E8ED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1B25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Common Ansible Modules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7A8BB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Building blocks for automation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417320"/>
            <a:ext cx="2560320" cy="1645920"/>
          </a:xfrm>
          <a:prstGeom prst="rect">
            <a:avLst/>
          </a:prstGeom>
          <a:solidFill>
            <a:srgbClr val="E8EEFF"/>
          </a:solidFill>
          <a:ln/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554480"/>
            <a:ext cx="365760" cy="36576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097280" y="1554480"/>
            <a:ext cx="1645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25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apt / yum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640080" y="1965960"/>
            <a:ext cx="219456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A46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Install/remove packages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3291840" y="1417320"/>
            <a:ext cx="2560320" cy="1645920"/>
          </a:xfrm>
          <a:prstGeom prst="rect">
            <a:avLst/>
          </a:prstGeom>
          <a:solidFill>
            <a:srgbClr val="E8F8F0"/>
          </a:solidFill>
          <a:ln/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74720" y="1554480"/>
            <a:ext cx="365760" cy="36576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3931920" y="1554480"/>
            <a:ext cx="1645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25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shell / command</a:t>
            </a:r>
            <a:endParaRPr lang="en-US" sz="1400" dirty="0"/>
          </a:p>
        </p:txBody>
      </p:sp>
      <p:sp>
        <p:nvSpPr>
          <p:cNvPr id="11" name="Text 7"/>
          <p:cNvSpPr/>
          <p:nvPr/>
        </p:nvSpPr>
        <p:spPr>
          <a:xfrm>
            <a:off x="3474720" y="1965960"/>
            <a:ext cx="219456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A46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 arbitrary commands</a:t>
            </a:r>
            <a:endParaRPr lang="en-US" sz="1200" dirty="0"/>
          </a:p>
        </p:txBody>
      </p:sp>
      <p:sp>
        <p:nvSpPr>
          <p:cNvPr id="12" name="Shape 8"/>
          <p:cNvSpPr/>
          <p:nvPr/>
        </p:nvSpPr>
        <p:spPr>
          <a:xfrm>
            <a:off x="6126480" y="1417320"/>
            <a:ext cx="2560320" cy="1645920"/>
          </a:xfrm>
          <a:prstGeom prst="rect">
            <a:avLst/>
          </a:prstGeom>
          <a:solidFill>
            <a:srgbClr val="F0E8FF"/>
          </a:solidFill>
          <a:ln/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13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09360" y="1554480"/>
            <a:ext cx="365760" cy="365760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6766560" y="1554480"/>
            <a:ext cx="1645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25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service</a:t>
            </a:r>
            <a:endParaRPr lang="en-US" sz="1400" dirty="0"/>
          </a:p>
        </p:txBody>
      </p:sp>
      <p:sp>
        <p:nvSpPr>
          <p:cNvPr id="15" name="Text 10"/>
          <p:cNvSpPr/>
          <p:nvPr/>
        </p:nvSpPr>
        <p:spPr>
          <a:xfrm>
            <a:off x="6309360" y="1965960"/>
            <a:ext cx="219456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A46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Start/stop/restart services</a:t>
            </a:r>
            <a:endParaRPr lang="en-US" sz="1200" dirty="0"/>
          </a:p>
        </p:txBody>
      </p:sp>
      <p:sp>
        <p:nvSpPr>
          <p:cNvPr id="16" name="Shape 11"/>
          <p:cNvSpPr/>
          <p:nvPr/>
        </p:nvSpPr>
        <p:spPr>
          <a:xfrm>
            <a:off x="457200" y="3246120"/>
            <a:ext cx="2560320" cy="1645920"/>
          </a:xfrm>
          <a:prstGeom prst="rect">
            <a:avLst/>
          </a:prstGeom>
          <a:solidFill>
            <a:srgbClr val="FFF0E0"/>
          </a:solidFill>
          <a:ln/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17" name="Image 3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3383280"/>
            <a:ext cx="365760" cy="365760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1097280" y="3383280"/>
            <a:ext cx="1645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25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copy / template</a:t>
            </a:r>
            <a:endParaRPr lang="en-US" sz="1400" dirty="0"/>
          </a:p>
        </p:txBody>
      </p:sp>
      <p:sp>
        <p:nvSpPr>
          <p:cNvPr id="19" name="Text 13"/>
          <p:cNvSpPr/>
          <p:nvPr/>
        </p:nvSpPr>
        <p:spPr>
          <a:xfrm>
            <a:off x="640080" y="3794760"/>
            <a:ext cx="219456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A46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Deploy files with/without variables</a:t>
            </a:r>
            <a:endParaRPr lang="en-US" sz="1200" dirty="0"/>
          </a:p>
        </p:txBody>
      </p:sp>
      <p:sp>
        <p:nvSpPr>
          <p:cNvPr id="20" name="Shape 14"/>
          <p:cNvSpPr/>
          <p:nvPr/>
        </p:nvSpPr>
        <p:spPr>
          <a:xfrm>
            <a:off x="3291840" y="3246120"/>
            <a:ext cx="2560320" cy="1645920"/>
          </a:xfrm>
          <a:prstGeom prst="rect">
            <a:avLst/>
          </a:prstGeom>
          <a:solidFill>
            <a:srgbClr val="FFF8E1"/>
          </a:solidFill>
          <a:ln/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21" name="Image 4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474720" y="3383280"/>
            <a:ext cx="365760" cy="365760"/>
          </a:xfrm>
          <a:prstGeom prst="rect">
            <a:avLst/>
          </a:prstGeom>
        </p:spPr>
      </p:pic>
      <p:sp>
        <p:nvSpPr>
          <p:cNvPr id="22" name="Text 15"/>
          <p:cNvSpPr/>
          <p:nvPr/>
        </p:nvSpPr>
        <p:spPr>
          <a:xfrm>
            <a:off x="3931920" y="3383280"/>
            <a:ext cx="1645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25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 / group</a:t>
            </a:r>
            <a:endParaRPr lang="en-US" sz="1400" dirty="0"/>
          </a:p>
        </p:txBody>
      </p:sp>
      <p:sp>
        <p:nvSpPr>
          <p:cNvPr id="23" name="Text 16"/>
          <p:cNvSpPr/>
          <p:nvPr/>
        </p:nvSpPr>
        <p:spPr>
          <a:xfrm>
            <a:off x="3474720" y="3794760"/>
            <a:ext cx="219456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A46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Create/modify users and groups</a:t>
            </a:r>
            <a:endParaRPr lang="en-US" sz="1200" dirty="0"/>
          </a:p>
        </p:txBody>
      </p:sp>
      <p:sp>
        <p:nvSpPr>
          <p:cNvPr id="24" name="Shape 17"/>
          <p:cNvSpPr/>
          <p:nvPr/>
        </p:nvSpPr>
        <p:spPr>
          <a:xfrm>
            <a:off x="6126480" y="3246120"/>
            <a:ext cx="2560320" cy="1645920"/>
          </a:xfrm>
          <a:prstGeom prst="rect">
            <a:avLst/>
          </a:prstGeom>
          <a:solidFill>
            <a:srgbClr val="FFE8E8"/>
          </a:solidFill>
          <a:ln/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25" name="Image 5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09360" y="3383280"/>
            <a:ext cx="365760" cy="365760"/>
          </a:xfrm>
          <a:prstGeom prst="rect">
            <a:avLst/>
          </a:prstGeom>
        </p:spPr>
      </p:pic>
      <p:sp>
        <p:nvSpPr>
          <p:cNvPr id="26" name="Text 18"/>
          <p:cNvSpPr/>
          <p:nvPr/>
        </p:nvSpPr>
        <p:spPr>
          <a:xfrm>
            <a:off x="6766560" y="3383280"/>
            <a:ext cx="1645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25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lineinfile / blockinfile</a:t>
            </a:r>
            <a:endParaRPr lang="en-US" sz="1400" dirty="0"/>
          </a:p>
        </p:txBody>
      </p:sp>
      <p:sp>
        <p:nvSpPr>
          <p:cNvPr id="27" name="Text 19"/>
          <p:cNvSpPr/>
          <p:nvPr/>
        </p:nvSpPr>
        <p:spPr>
          <a:xfrm>
            <a:off x="6309360" y="3794760"/>
            <a:ext cx="219456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A46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Edit config files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B255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00D4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Handlers: Triggered Reactions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051560"/>
            <a:ext cx="8229600" cy="3665220"/>
          </a:xfrm>
          <a:prstGeom prst="rect">
            <a:avLst/>
          </a:prstGeom>
          <a:solidFill>
            <a:srgbClr val="2D3454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" name="Text 2"/>
          <p:cNvSpPr/>
          <p:nvPr/>
        </p:nvSpPr>
        <p:spPr>
          <a:xfrm>
            <a:off x="640080" y="1143000"/>
            <a:ext cx="7863840" cy="3017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1100" dirty="0">
                <a:solidFill>
                  <a:srgbClr val="00D4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---</a:t>
            </a:r>
            <a:endParaRPr lang="en-US" sz="1100" dirty="0"/>
          </a:p>
          <a:p>
            <a:pPr marL="0" indent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1100" dirty="0">
                <a:solidFill>
                  <a:srgbClr val="00D4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name: Configure Nginx</a:t>
            </a:r>
            <a:endParaRPr lang="en-US" sz="1100" dirty="0"/>
          </a:p>
          <a:p>
            <a:pPr marL="0" indent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1100" dirty="0">
                <a:solidFill>
                  <a:srgbClr val="00D4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hosts: webservers</a:t>
            </a:r>
            <a:endParaRPr lang="en-US" sz="1100" dirty="0"/>
          </a:p>
          <a:p>
            <a:pPr marL="0" indent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1100" dirty="0">
                <a:solidFill>
                  <a:srgbClr val="00D4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tasks:</a:t>
            </a:r>
            <a:endParaRPr lang="en-US" sz="1100" dirty="0"/>
          </a:p>
          <a:p>
            <a:pPr marL="0" indent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1100" dirty="0">
                <a:solidFill>
                  <a:srgbClr val="00D4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- name: Copy nginx config</a:t>
            </a:r>
            <a:endParaRPr lang="en-US" sz="1100" dirty="0"/>
          </a:p>
          <a:p>
            <a:pPr marL="0" indent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1100" dirty="0">
                <a:solidFill>
                  <a:srgbClr val="00D4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copy:</a:t>
            </a:r>
            <a:endParaRPr lang="en-US" sz="1100" dirty="0"/>
          </a:p>
          <a:p>
            <a:pPr marL="0" indent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1100" dirty="0">
                <a:solidFill>
                  <a:srgbClr val="00D4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src: nginx.conf</a:t>
            </a:r>
            <a:endParaRPr lang="en-US" sz="1100" dirty="0"/>
          </a:p>
          <a:p>
            <a:pPr marL="0" indent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1100" dirty="0">
                <a:solidFill>
                  <a:srgbClr val="00D4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dest: /etc/nginx/nginx.conf</a:t>
            </a:r>
            <a:endParaRPr lang="en-US" sz="1100" dirty="0"/>
          </a:p>
          <a:p>
            <a:pPr marL="0" indent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1100" dirty="0">
                <a:solidFill>
                  <a:srgbClr val="00D4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notify: restart nginx</a:t>
            </a:r>
            <a:endParaRPr lang="en-US" sz="1100" dirty="0"/>
          </a:p>
          <a:p>
            <a:pPr marL="0" indent="0">
              <a:spcBef>
                <a:spcPts val="200"/>
              </a:spcBef>
              <a:spcAft>
                <a:spcPts val="200"/>
              </a:spcAft>
              <a:buNone/>
            </a:pPr>
            <a:endParaRPr lang="en-US" sz="1100" dirty="0"/>
          </a:p>
          <a:p>
            <a:pPr marL="0" indent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1100" dirty="0">
                <a:solidFill>
                  <a:srgbClr val="00D4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handlers:</a:t>
            </a:r>
            <a:endParaRPr lang="en-US" sz="1100" dirty="0"/>
          </a:p>
          <a:p>
            <a:pPr marL="0" indent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1100" dirty="0">
                <a:solidFill>
                  <a:srgbClr val="00D4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- name: restart nginx</a:t>
            </a:r>
            <a:endParaRPr lang="en-US" sz="1100" dirty="0"/>
          </a:p>
          <a:p>
            <a:pPr marL="0" indent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1100" dirty="0">
                <a:solidFill>
                  <a:srgbClr val="00D4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service:</a:t>
            </a:r>
            <a:endParaRPr lang="en-US" sz="1100" dirty="0"/>
          </a:p>
          <a:p>
            <a:pPr marL="0" indent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1100" dirty="0">
                <a:solidFill>
                  <a:srgbClr val="00D4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name: nginx</a:t>
            </a:r>
            <a:endParaRPr lang="en-US" sz="1100" dirty="0"/>
          </a:p>
          <a:p>
            <a:pPr marL="0" indent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1100" dirty="0">
                <a:solidFill>
                  <a:srgbClr val="00D4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state: restarted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B25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We Need Roles: Playbook Sprawl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7A8BB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 complexity grows, playbooks become unmaintainable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417320"/>
            <a:ext cx="3931920" cy="333756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5" name="Shape 3"/>
          <p:cNvSpPr/>
          <p:nvPr/>
        </p:nvSpPr>
        <p:spPr>
          <a:xfrm>
            <a:off x="457200" y="1417320"/>
            <a:ext cx="3931920" cy="384048"/>
          </a:xfrm>
          <a:prstGeom prst="rect">
            <a:avLst/>
          </a:prstGeom>
          <a:solidFill>
            <a:srgbClr val="CC6633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" name="Text 4"/>
          <p:cNvSpPr/>
          <p:nvPr/>
        </p:nvSpPr>
        <p:spPr>
          <a:xfrm>
            <a:off x="457200" y="1417320"/>
            <a:ext cx="3931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Monolithic Playbook Problems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1965960"/>
            <a:ext cx="3566160" cy="2606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3A46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giant playbook with 100+ tasks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3A46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Difficult to reuse nginx setup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3A46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Copy-paste leads to inconsistency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3A46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Hard to test individual components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3A46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Scaling becomes a nightmare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754880" y="1417320"/>
            <a:ext cx="3931920" cy="333756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9" name="Shape 7"/>
          <p:cNvSpPr/>
          <p:nvPr/>
        </p:nvSpPr>
        <p:spPr>
          <a:xfrm>
            <a:off x="4754880" y="1417320"/>
            <a:ext cx="3931920" cy="384048"/>
          </a:xfrm>
          <a:prstGeom prst="rect">
            <a:avLst/>
          </a:prstGeom>
          <a:solidFill>
            <a:srgbClr val="228B22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" name="Text 8"/>
          <p:cNvSpPr/>
          <p:nvPr/>
        </p:nvSpPr>
        <p:spPr>
          <a:xfrm>
            <a:off x="4754880" y="1417320"/>
            <a:ext cx="3931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Role-Based Solution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937760" y="1965960"/>
            <a:ext cx="3566160" cy="2606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3A46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Self-contained, reusable units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3A46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Modular structure (tasks, defaults, etc)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3A46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 use same role on 10 projects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3A46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Easy to test and version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3A46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 via Ansible Galaxy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B25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Roles: Self-Contained Automation Units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3931920" cy="1645920"/>
          </a:xfrm>
          <a:prstGeom prst="rect">
            <a:avLst/>
          </a:prstGeom>
          <a:solidFill>
            <a:srgbClr val="E8EEFF"/>
          </a:solidFill>
          <a:ln/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325880"/>
            <a:ext cx="365760" cy="3657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097280" y="1325880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25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Modular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640080" y="1737360"/>
            <a:ext cx="356616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A46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role handles one component (nginx, java, etc)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4754880" y="1188720"/>
            <a:ext cx="3931920" cy="1645920"/>
          </a:xfrm>
          <a:prstGeom prst="rect">
            <a:avLst/>
          </a:prstGeom>
          <a:solidFill>
            <a:srgbClr val="E8F8F0"/>
          </a:solidFill>
          <a:ln/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8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37760" y="1325880"/>
            <a:ext cx="365760" cy="36576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394960" y="1325880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25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Structured</a:t>
            </a:r>
            <a:endParaRPr lang="en-US" sz="1400" dirty="0"/>
          </a:p>
        </p:txBody>
      </p:sp>
      <p:sp>
        <p:nvSpPr>
          <p:cNvPr id="10" name="Text 6"/>
          <p:cNvSpPr/>
          <p:nvPr/>
        </p:nvSpPr>
        <p:spPr>
          <a:xfrm>
            <a:off x="4937760" y="1737360"/>
            <a:ext cx="356616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A46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Consistent directory layout</a:t>
            </a:r>
            <a:endParaRPr lang="en-US" sz="1200" dirty="0"/>
          </a:p>
        </p:txBody>
      </p:sp>
      <p:sp>
        <p:nvSpPr>
          <p:cNvPr id="11" name="Shape 7"/>
          <p:cNvSpPr/>
          <p:nvPr/>
        </p:nvSpPr>
        <p:spPr>
          <a:xfrm>
            <a:off x="457200" y="3017520"/>
            <a:ext cx="3931920" cy="1645920"/>
          </a:xfrm>
          <a:prstGeom prst="rect">
            <a:avLst/>
          </a:prstGeom>
          <a:solidFill>
            <a:srgbClr val="F0E8FF"/>
          </a:solidFill>
          <a:ln/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" y="3154680"/>
            <a:ext cx="365760" cy="36576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097280" y="3154680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25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Reusable</a:t>
            </a:r>
            <a:endParaRPr lang="en-US" sz="1400" dirty="0"/>
          </a:p>
        </p:txBody>
      </p:sp>
      <p:sp>
        <p:nvSpPr>
          <p:cNvPr id="14" name="Text 9"/>
          <p:cNvSpPr/>
          <p:nvPr/>
        </p:nvSpPr>
        <p:spPr>
          <a:xfrm>
            <a:off x="640080" y="3566160"/>
            <a:ext cx="356616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A46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same role across many projects</a:t>
            </a:r>
            <a:endParaRPr lang="en-US" sz="1200" dirty="0"/>
          </a:p>
        </p:txBody>
      </p:sp>
      <p:sp>
        <p:nvSpPr>
          <p:cNvPr id="15" name="Shape 10"/>
          <p:cNvSpPr/>
          <p:nvPr/>
        </p:nvSpPr>
        <p:spPr>
          <a:xfrm>
            <a:off x="4754880" y="3017520"/>
            <a:ext cx="3931920" cy="1645920"/>
          </a:xfrm>
          <a:prstGeom prst="rect">
            <a:avLst/>
          </a:prstGeom>
          <a:solidFill>
            <a:srgbClr val="FFF0E0"/>
          </a:solidFill>
          <a:ln/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37760" y="3154680"/>
            <a:ext cx="365760" cy="36576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5394960" y="3154680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25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Shareable</a:t>
            </a:r>
            <a:endParaRPr lang="en-US" sz="1400" dirty="0"/>
          </a:p>
        </p:txBody>
      </p:sp>
      <p:sp>
        <p:nvSpPr>
          <p:cNvPr id="18" name="Text 12"/>
          <p:cNvSpPr/>
          <p:nvPr/>
        </p:nvSpPr>
        <p:spPr>
          <a:xfrm>
            <a:off x="4937760" y="3566160"/>
            <a:ext cx="356616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A46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Publish to Ansible Galaxy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1B25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Variable Precedence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7A8BB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Higher number = higher priority</a:t>
            </a:r>
            <a:endParaRPr lang="en-US" sz="1400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E461E36-B145-091C-12D9-FB4ADF0F302D}"/>
              </a:ext>
            </a:extLst>
          </p:cNvPr>
          <p:cNvSpPr txBox="1"/>
          <p:nvPr/>
        </p:nvSpPr>
        <p:spPr>
          <a:xfrm>
            <a:off x="617220" y="1409700"/>
            <a:ext cx="7551420" cy="31085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/>
            <a:r>
              <a:rPr lang="en-US" sz="1400" b="1" dirty="0">
                <a:latin typeface="Arial"/>
                <a:ea typeface="Arial"/>
                <a:cs typeface="Arial"/>
                <a:sym typeface="Arial"/>
              </a:rPr>
              <a:t>Command-line variables (</a:t>
            </a:r>
            <a:r>
              <a:rPr lang="en-US" sz="1400" b="1" dirty="0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--extra-vars</a:t>
            </a:r>
            <a:r>
              <a:rPr lang="en-US" sz="1400" b="1">
                <a:latin typeface="Arial"/>
                <a:ea typeface="Arial"/>
                <a:cs typeface="Arial"/>
                <a:sym typeface="Arial"/>
              </a:rPr>
              <a:t>)</a:t>
            </a:r>
            <a:r>
              <a:rPr lang="en-US" sz="1400">
                <a:latin typeface="Arial"/>
                <a:ea typeface="Arial"/>
                <a:cs typeface="Arial"/>
                <a:sym typeface="Arial"/>
              </a:rPr>
              <a:t> - </a:t>
            </a:r>
            <a:r>
              <a:rPr lang="en-US" sz="1400" dirty="0">
                <a:latin typeface="Arial"/>
                <a:ea typeface="Arial"/>
                <a:cs typeface="Arial"/>
                <a:sym typeface="Arial"/>
              </a:rPr>
              <a:t>Highest precedence // </a:t>
            </a:r>
            <a:r>
              <a:rPr lang="en-US" sz="1400" dirty="0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  <a:t>Not prescribed because the ideal/standard approach should always be to preserve everything in a file</a:t>
            </a:r>
          </a:p>
          <a:p>
            <a:pPr lvl="0">
              <a:buClr>
                <a:schemeClr val="dk1"/>
              </a:buClr>
              <a:buSzPts val="1100"/>
            </a:pPr>
            <a:endParaRPr lang="en-US" sz="1400" dirty="0">
              <a:latin typeface="Arial"/>
              <a:ea typeface="Arial"/>
              <a:cs typeface="Arial"/>
              <a:sym typeface="Arial"/>
            </a:endParaRPr>
          </a:p>
          <a:p>
            <a:pPr lvl="0"/>
            <a:r>
              <a:rPr lang="en-US" sz="1400" b="1" dirty="0">
                <a:latin typeface="Arial"/>
                <a:ea typeface="Arial"/>
                <a:cs typeface="Arial"/>
                <a:sym typeface="Arial"/>
              </a:rPr>
              <a:t>Playbook variables (</a:t>
            </a:r>
            <a:r>
              <a:rPr lang="en-US" sz="1400" b="1" dirty="0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vars</a:t>
            </a:r>
            <a:r>
              <a:rPr lang="en-US" sz="1400" b="1" dirty="0">
                <a:latin typeface="Arial"/>
                <a:ea typeface="Arial"/>
                <a:cs typeface="Arial"/>
                <a:sym typeface="Arial"/>
              </a:rPr>
              <a:t> section)</a:t>
            </a:r>
          </a:p>
          <a:p>
            <a:pPr lvl="0">
              <a:buClr>
                <a:schemeClr val="dk1"/>
              </a:buClr>
              <a:buSzPts val="1100"/>
            </a:pPr>
            <a:endParaRPr lang="en-US" sz="1400" b="1" dirty="0">
              <a:latin typeface="Arial"/>
              <a:ea typeface="Arial"/>
              <a:cs typeface="Arial"/>
              <a:sym typeface="Arial"/>
            </a:endParaRPr>
          </a:p>
          <a:p>
            <a:pPr lvl="0"/>
            <a:r>
              <a:rPr lang="en-US" sz="1400" b="1" dirty="0">
                <a:latin typeface="Arial"/>
                <a:ea typeface="Arial"/>
                <a:cs typeface="Arial"/>
                <a:sym typeface="Arial"/>
              </a:rPr>
              <a:t>Host variables (</a:t>
            </a:r>
            <a:r>
              <a:rPr lang="en-US" sz="1400" b="1" dirty="0" err="1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host_vars</a:t>
            </a:r>
            <a:r>
              <a:rPr lang="en-US" sz="1400" b="1" dirty="0">
                <a:latin typeface="Arial"/>
                <a:ea typeface="Arial"/>
                <a:cs typeface="Arial"/>
                <a:sym typeface="Arial"/>
              </a:rPr>
              <a:t>)</a:t>
            </a:r>
          </a:p>
          <a:p>
            <a:pPr lvl="0">
              <a:buClr>
                <a:schemeClr val="dk1"/>
              </a:buClr>
              <a:buSzPts val="1100"/>
            </a:pPr>
            <a:endParaRPr lang="en-US" sz="1400" b="1" dirty="0">
              <a:latin typeface="Arial"/>
              <a:ea typeface="Arial"/>
              <a:cs typeface="Arial"/>
              <a:sym typeface="Arial"/>
            </a:endParaRPr>
          </a:p>
          <a:p>
            <a:pPr lvl="0"/>
            <a:r>
              <a:rPr lang="en-US" sz="1400" b="1" dirty="0">
                <a:latin typeface="Arial"/>
                <a:ea typeface="Arial"/>
                <a:cs typeface="Arial"/>
                <a:sym typeface="Arial"/>
              </a:rPr>
              <a:t>Group variables (</a:t>
            </a:r>
            <a:r>
              <a:rPr lang="en-US" sz="1400" b="1" dirty="0" err="1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group_vars</a:t>
            </a:r>
            <a:r>
              <a:rPr lang="en-US" sz="1400" b="1" dirty="0">
                <a:latin typeface="Arial"/>
                <a:ea typeface="Arial"/>
                <a:cs typeface="Arial"/>
                <a:sym typeface="Arial"/>
              </a:rPr>
              <a:t>) // Best place to define the variables</a:t>
            </a:r>
          </a:p>
          <a:p>
            <a:pPr lvl="0">
              <a:buClr>
                <a:schemeClr val="dk1"/>
              </a:buClr>
              <a:buSzPts val="1100"/>
            </a:pPr>
            <a:endParaRPr lang="en-US" sz="1400" b="1" dirty="0">
              <a:latin typeface="Arial"/>
              <a:ea typeface="Arial"/>
              <a:cs typeface="Arial"/>
              <a:sym typeface="Arial"/>
            </a:endParaRPr>
          </a:p>
          <a:p>
            <a:pPr lvl="0"/>
            <a:r>
              <a:rPr lang="en-US" sz="1400" b="1" dirty="0">
                <a:latin typeface="Arial"/>
                <a:ea typeface="Arial"/>
                <a:cs typeface="Arial"/>
                <a:sym typeface="Arial"/>
              </a:rPr>
              <a:t>Role variables defined in </a:t>
            </a:r>
            <a:r>
              <a:rPr lang="en-US" sz="1400" b="1" dirty="0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vars/</a:t>
            </a:r>
            <a:r>
              <a:rPr lang="en-US" sz="1400" b="1" dirty="0" err="1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main.yml</a:t>
            </a:r>
            <a:r>
              <a:rPr lang="en-US" sz="1400" dirty="0">
                <a:latin typeface="Arial"/>
                <a:ea typeface="Arial"/>
                <a:cs typeface="Arial"/>
                <a:sym typeface="Arial"/>
              </a:rPr>
              <a:t> (if defined in the role) // </a:t>
            </a:r>
            <a:r>
              <a:rPr lang="en-US" sz="1400" dirty="0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  <a:t>Not the best place because we want to keep the role generic without any default or override variable</a:t>
            </a:r>
          </a:p>
          <a:p>
            <a:pPr lvl="0">
              <a:buClr>
                <a:schemeClr val="dk1"/>
              </a:buClr>
              <a:buSzPts val="1100"/>
            </a:pPr>
            <a:endParaRPr lang="en-US" sz="1400" dirty="0">
              <a:latin typeface="Arial"/>
              <a:ea typeface="Arial"/>
              <a:cs typeface="Arial"/>
              <a:sym typeface="Arial"/>
            </a:endParaRPr>
          </a:p>
          <a:p>
            <a:pPr lvl="0">
              <a:buClr>
                <a:schemeClr val="dk1"/>
              </a:buClr>
              <a:buSzPts val="1100"/>
            </a:pPr>
            <a:r>
              <a:rPr lang="en-US" sz="1400" b="1" dirty="0">
                <a:latin typeface="Arial"/>
                <a:ea typeface="Arial"/>
                <a:cs typeface="Arial"/>
                <a:sym typeface="Arial"/>
              </a:rPr>
              <a:t>Role defaults (</a:t>
            </a:r>
            <a:r>
              <a:rPr lang="en-US" sz="1400" b="1" dirty="0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defaults/</a:t>
            </a:r>
            <a:r>
              <a:rPr lang="en-US" sz="1400" b="1" dirty="0" err="1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main.yml</a:t>
            </a:r>
            <a:r>
              <a:rPr lang="en-US" sz="1400" b="1" dirty="0">
                <a:latin typeface="Arial"/>
                <a:ea typeface="Arial"/>
                <a:cs typeface="Arial"/>
                <a:sym typeface="Arial"/>
              </a:rPr>
              <a:t>)</a:t>
            </a:r>
            <a:r>
              <a:rPr lang="en-US" sz="1400" dirty="0">
                <a:latin typeface="Arial"/>
                <a:ea typeface="Arial"/>
                <a:cs typeface="Arial"/>
                <a:sym typeface="Arial"/>
              </a:rPr>
              <a:t> – Lowest precedence // </a:t>
            </a:r>
            <a:r>
              <a:rPr lang="en-US" sz="1400" dirty="0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  <a:t>Not the best place because we want to keep the role generic without any default or override variable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B255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77640" y="1287780"/>
            <a:ext cx="1188720" cy="118872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265938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Hands-On Labs</a:t>
            </a:r>
            <a:endParaRPr lang="en-US" sz="4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368</TotalTime>
  <Words>951</Words>
  <Application>Microsoft Office PowerPoint</Application>
  <PresentationFormat>On-screen Show (16:9)</PresentationFormat>
  <Paragraphs>183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9" baseType="lpstr">
      <vt:lpstr>Arial</vt:lpstr>
      <vt:lpstr>Consolas</vt:lpstr>
      <vt:lpstr>Roboto Mono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Aryan Mohan</cp:lastModifiedBy>
  <cp:revision>10</cp:revision>
  <dcterms:created xsi:type="dcterms:W3CDTF">2026-03-26T20:24:24Z</dcterms:created>
  <dcterms:modified xsi:type="dcterms:W3CDTF">2026-08-01T04:09:29Z</dcterms:modified>
</cp:coreProperties>
</file>