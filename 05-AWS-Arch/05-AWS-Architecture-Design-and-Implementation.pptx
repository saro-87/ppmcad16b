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740BB9F-4D48-439E-9B95-D4281B6E97D1}"/>
              </a:ext>
            </a:extLst>
          </p:cNvPr>
          <p:cNvSpPr>
            <a:spLocks noGrp="1"/>
          </p:cNvSpPr>
          <p:nvPr/>
        </p:nvSpPr>
        <p:spPr>
          <a:xfrm>
            <a:off x="3611880" y="457200"/>
            <a:ext cx="1920240" cy="1920240"/>
          </a:xfrm>
          <a:prstGeom prst="ellipse">
            <a:avLst/>
          </a:prstGeom>
          <a:ln w="31750">
            <a:solidFill>
              <a:srgbClr val="326CE5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8" name="Image 0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977640" y="685800"/>
            <a:ext cx="1188720" cy="118872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CA92972A-3897-492E-AA42-DDDBAD209724}"/>
              </a:ext>
            </a:extLst>
          </p:cNvPr>
          <p:cNvSpPr>
            <a:spLocks noGrp="1"/>
          </p:cNvSpPr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4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AWS Architecture
Design &amp; Implementation</a:t>
            </a:r>
            <a:endParaRPr sz="400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7BEF2DFF-8D5D-4C31-BB0B-4F42B92CBC55}"/>
              </a:ext>
            </a:extLst>
          </p:cNvPr>
          <p:cNvSpPr>
            <a:spLocks noGrp="1"/>
          </p:cNvSpPr>
          <p:nvPr/>
        </p:nvSpPr>
        <p:spPr>
          <a:xfrm>
            <a:off x="914400" y="3840480"/>
            <a:ext cx="73152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600" i="1">
                <a:solidFill>
                  <a:srgbClr val="00D4AA"/>
                </a:solidFill>
                <a:latin typeface="Arial"/>
                <a:ea typeface="Arial"/>
                <a:cs typeface="Arial"/>
              </a:rPr>
              <a:t>Build, deploy, optimize, design and migrate on AWS</a:t>
            </a:r>
            <a:endParaRPr sz="1600"/>
          </a:p>
        </p:txBody>
      </p:sp>
    </p:spTree>
    <p:extLst>
      <p:ext uri="{BB962C8B-B14F-4D97-AF65-F5344CB8AC3E}">
        <p14:creationId xmlns:p14="http://schemas.microsoft.com/office/powerpoint/2010/main" val="19749435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4A9926A-BBF5-4F03-81A1-E4F29E122C02}"/>
              </a:ext>
            </a:extLst>
          </p:cNvPr>
          <p:cNvSpPr>
            <a:spLocks noGrp="1"/>
          </p:cNvSpPr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6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One Architecture Journey</a:t>
            </a:r>
            <a:endParaRPr sz="36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4F138DC-44BD-463E-808A-8B8C6F0E10E4}"/>
              </a:ext>
            </a:extLst>
          </p:cNvPr>
          <p:cNvSpPr>
            <a:spLocks noGrp="1"/>
          </p:cNvSpPr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5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280160"/>
            <a:ext cx="365760" cy="365760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EE31CED3-420D-4749-99CA-48C2DDE7BB91}"/>
              </a:ext>
            </a:extLst>
          </p:cNvPr>
          <p:cNvSpPr>
            <a:spLocks noGrp="1"/>
          </p:cNvSpPr>
          <p:nvPr/>
        </p:nvSpPr>
        <p:spPr>
          <a:xfrm>
            <a:off x="1097280" y="1188720"/>
            <a:ext cx="7406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>
                <a:solidFill>
                  <a:srgbClr val="3A4668"/>
                </a:solidFill>
                <a:latin typeface="Arial"/>
                <a:ea typeface="Arial"/>
                <a:cs typeface="Arial"/>
              </a:rPr>
              <a:t>1  Secure, resilient AWS foundations</a:t>
            </a:r>
            <a:endParaRPr sz="140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D5D72294-37DC-46AF-8610-2291D07DA366}"/>
              </a:ext>
            </a:extLst>
          </p:cNvPr>
          <p:cNvSpPr>
            <a:spLocks noGrp="1"/>
          </p:cNvSpPr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solidFill>
            <a:srgbClr val="F4F7FC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8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920240"/>
            <a:ext cx="365760" cy="365760"/>
          </a:xfrm>
          <a:prstGeom prst="rect">
            <a:avLst/>
          </a:prstGeom>
        </p:spPr>
      </p:pic>
      <p:sp>
        <p:nvSpPr>
          <p:cNvPr id="8" name="Text 4">
            <a:extLst>
              <a:ext uri="{FF2B5EF4-FFF2-40B4-BE49-F238E27FC236}">
                <a16:creationId xmlns:a16="http://schemas.microsoft.com/office/drawing/2014/main" id="{73F732F5-85E7-44D0-A244-B772930CEC93}"/>
              </a:ext>
            </a:extLst>
          </p:cNvPr>
          <p:cNvSpPr>
            <a:spLocks noGrp="1"/>
          </p:cNvSpPr>
          <p:nvPr/>
        </p:nvSpPr>
        <p:spPr>
          <a:xfrm>
            <a:off x="1097280" y="1828800"/>
            <a:ext cx="7406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>
                <a:solidFill>
                  <a:srgbClr val="3A4668"/>
                </a:solidFill>
                <a:latin typeface="Arial"/>
                <a:ea typeface="Arial"/>
                <a:cs typeface="Arial"/>
              </a:rPr>
              <a:t>2  APIs, deployment, cache and streaming</a:t>
            </a:r>
            <a:endParaRPr sz="1400"/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BE6323E5-B6A1-47CA-BB18-7F2B0D471EFD}"/>
              </a:ext>
            </a:extLst>
          </p:cNvPr>
          <p:cNvSpPr>
            <a:spLocks noGrp="1"/>
          </p:cNvSpPr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1" name="Imag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2560320"/>
            <a:ext cx="365760" cy="365760"/>
          </a:xfrm>
          <a:prstGeom prst="rect">
            <a:avLst/>
          </a:prstGeom>
        </p:spPr>
      </p:pic>
      <p:sp>
        <p:nvSpPr>
          <p:cNvPr id="11" name="Text 6">
            <a:extLst>
              <a:ext uri="{FF2B5EF4-FFF2-40B4-BE49-F238E27FC236}">
                <a16:creationId xmlns:a16="http://schemas.microsoft.com/office/drawing/2014/main" id="{624E9D32-704D-4442-B9AF-2610AF107209}"/>
              </a:ext>
            </a:extLst>
          </p:cNvPr>
          <p:cNvSpPr>
            <a:spLocks noGrp="1"/>
          </p:cNvSpPr>
          <p:nvPr/>
        </p:nvSpPr>
        <p:spPr>
          <a:xfrm>
            <a:off x="1097280" y="2468880"/>
            <a:ext cx="7406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>
                <a:solidFill>
                  <a:srgbClr val="3A4668"/>
                </a:solidFill>
                <a:latin typeface="Arial"/>
                <a:ea typeface="Arial"/>
                <a:cs typeface="Arial"/>
              </a:rPr>
              <a:t>3  Cost, performance and recovery</a:t>
            </a:r>
            <a:endParaRPr sz="1400"/>
          </a:p>
        </p:txBody>
      </p:sp>
      <p:sp>
        <p:nvSpPr>
          <p:cNvPr id="12" name="Shape 7">
            <a:extLst>
              <a:ext uri="{FF2B5EF4-FFF2-40B4-BE49-F238E27FC236}">
                <a16:creationId xmlns:a16="http://schemas.microsoft.com/office/drawing/2014/main" id="{D4304CD8-9C43-444C-BB88-720FB33264A2}"/>
              </a:ext>
            </a:extLst>
          </p:cNvPr>
          <p:cNvSpPr>
            <a:spLocks noGrp="1"/>
          </p:cNvSpPr>
          <p:nvPr/>
        </p:nvSpPr>
        <p:spPr>
          <a:xfrm>
            <a:off x="457200" y="3108960"/>
            <a:ext cx="8229600" cy="548640"/>
          </a:xfrm>
          <a:prstGeom prst="rect">
            <a:avLst/>
          </a:prstGeom>
          <a:solidFill>
            <a:srgbClr val="F4F7FC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4" name="Imag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3200400"/>
            <a:ext cx="365760" cy="365760"/>
          </a:xfrm>
          <a:prstGeom prst="rect">
            <a:avLst/>
          </a:prstGeom>
        </p:spPr>
      </p:pic>
      <p:sp>
        <p:nvSpPr>
          <p:cNvPr id="14" name="Text 8">
            <a:extLst>
              <a:ext uri="{FF2B5EF4-FFF2-40B4-BE49-F238E27FC236}">
                <a16:creationId xmlns:a16="http://schemas.microsoft.com/office/drawing/2014/main" id="{3DF9D42A-CC85-445F-AE20-0060049C087F}"/>
              </a:ext>
            </a:extLst>
          </p:cNvPr>
          <p:cNvSpPr>
            <a:spLocks noGrp="1"/>
          </p:cNvSpPr>
          <p:nvPr/>
        </p:nvSpPr>
        <p:spPr>
          <a:xfrm>
            <a:off x="1097280" y="3108960"/>
            <a:ext cx="7406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>
                <a:solidFill>
                  <a:srgbClr val="3A4668"/>
                </a:solidFill>
                <a:latin typeface="Arial"/>
                <a:ea typeface="Arial"/>
                <a:cs typeface="Arial"/>
              </a:rPr>
              <a:t>4  Scalable and secure design patterns</a:t>
            </a:r>
            <a:endParaRPr sz="1400"/>
          </a:p>
        </p:txBody>
      </p:sp>
      <p:sp>
        <p:nvSpPr>
          <p:cNvPr id="15" name="Shape 9">
            <a:extLst>
              <a:ext uri="{FF2B5EF4-FFF2-40B4-BE49-F238E27FC236}">
                <a16:creationId xmlns:a16="http://schemas.microsoft.com/office/drawing/2014/main" id="{740CBF97-A85B-48D9-BF9E-58EAA0E37923}"/>
              </a:ext>
            </a:extLst>
          </p:cNvPr>
          <p:cNvSpPr>
            <a:spLocks noGrp="1"/>
          </p:cNvSpPr>
          <p:nvPr/>
        </p:nvSpPr>
        <p:spPr>
          <a:xfrm>
            <a:off x="457200" y="3749040"/>
            <a:ext cx="8229600" cy="54864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7" name="Image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" y="3840480"/>
            <a:ext cx="365760" cy="365760"/>
          </a:xfrm>
          <a:prstGeom prst="rect">
            <a:avLst/>
          </a:prstGeom>
        </p:spPr>
      </p:pic>
      <p:sp>
        <p:nvSpPr>
          <p:cNvPr id="17" name="Text 10">
            <a:extLst>
              <a:ext uri="{FF2B5EF4-FFF2-40B4-BE49-F238E27FC236}">
                <a16:creationId xmlns:a16="http://schemas.microsoft.com/office/drawing/2014/main" id="{09C0B66E-121E-4403-97E3-B975FEB07A14}"/>
              </a:ext>
            </a:extLst>
          </p:cNvPr>
          <p:cNvSpPr>
            <a:spLocks noGrp="1"/>
          </p:cNvSpPr>
          <p:nvPr/>
        </p:nvSpPr>
        <p:spPr>
          <a:xfrm>
            <a:off x="1097280" y="3749040"/>
            <a:ext cx="7406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>
                <a:solidFill>
                  <a:srgbClr val="3A4668"/>
                </a:solidFill>
                <a:latin typeface="Arial"/>
                <a:ea typeface="Arial"/>
                <a:cs typeface="Arial"/>
              </a:rPr>
              <a:t>5  Migration planning and execution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2499693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910047"/>
            <a:ext cx="1188720" cy="118872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1011CAA0-C8A6-4090-B09D-01F9D5A0FEC5}"/>
              </a:ext>
            </a:extLst>
          </p:cNvPr>
          <p:cNvSpPr>
            <a:spLocks noGrp="1"/>
          </p:cNvSpPr>
          <p:nvPr/>
        </p:nvSpPr>
        <p:spPr>
          <a:xfrm>
            <a:off x="457200" y="2281647"/>
            <a:ext cx="822960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000" b="1" i="0" u="none" cap="none" spc="0" dirty="0">
                <a:ln>
                  <a:noFill/>
                </a:ln>
                <a:solidFill>
                  <a:srgbClr val="FFFFFF"/>
                </a:solidFill>
                <a:latin typeface="Arial"/>
                <a:ea typeface="Arial"/>
                <a:cs typeface="Arial"/>
              </a:rPr>
              <a:t>1  AWS Architecture Foundations</a:t>
            </a:r>
            <a:endParaRPr sz="4000" b="0" i="0" u="none" kern="1200" cap="none" spc="0" baseline="0" dirty="0">
              <a:ln>
                <a:noFill/>
              </a:ln>
              <a:solidFill>
                <a:prstClr val="black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871029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B62B132-033B-42E3-923F-F70AA7DD3ADB}"/>
              </a:ext>
            </a:extLst>
          </p:cNvPr>
          <p:cNvSpPr>
            <a:spLocks noGrp="1"/>
          </p:cNvSpPr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600" b="1">
                <a:solidFill>
                  <a:srgbClr val="00D4AA"/>
                </a:solidFill>
                <a:latin typeface="Arial"/>
                <a:ea typeface="Arial"/>
                <a:cs typeface="Arial"/>
              </a:rPr>
              <a:t>A Request Crosses Several Services</a:t>
            </a:r>
            <a:endParaRPr sz="36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24E013A-0DE5-4569-8480-E5A15E53A037}"/>
              </a:ext>
            </a:extLst>
          </p:cNvPr>
          <p:cNvSpPr>
            <a:spLocks noGrp="1"/>
          </p:cNvSpPr>
          <p:nvPr/>
        </p:nvSpPr>
        <p:spPr>
          <a:xfrm>
            <a:off x="457200" y="1051560"/>
            <a:ext cx="8229600" cy="3200400"/>
          </a:xfrm>
          <a:prstGeom prst="rect">
            <a:avLst/>
          </a:prstGeom>
          <a:solidFill>
            <a:srgbClr val="2D3454"/>
          </a:solidFill>
        </p:spPr>
        <p:txBody>
          <a:bodyPr/>
          <a:lstStyle/>
          <a:p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B9A6128-E208-4157-8406-D0A5CB3DB2AF}"/>
              </a:ext>
            </a:extLst>
          </p:cNvPr>
          <p:cNvSpPr>
            <a:spLocks noGrp="1"/>
          </p:cNvSpPr>
          <p:nvPr/>
        </p:nvSpPr>
        <p:spPr>
          <a:xfrm>
            <a:off x="640080" y="1143000"/>
            <a:ext cx="7863840" cy="301752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  <a:defRPr sz="1300">
                <a:solidFill>
                  <a:srgbClr val="00D4AA"/>
                </a:solidFill>
                <a:latin typeface="Consolas"/>
                <a:ea typeface="Consolas"/>
                <a:cs typeface="Consolas"/>
              </a:defRPr>
            </a:pPr>
            <a:r>
              <a:rPr sz="1300">
                <a:solidFill>
                  <a:srgbClr val="00D4AA"/>
                </a:solidFill>
                <a:latin typeface="Consolas"/>
                <a:ea typeface="Consolas"/>
                <a:cs typeface="Consolas"/>
              </a:rPr>
              <a:t>REQUEST</a:t>
            </a:r>
            <a:endParaRPr sz="130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endParaRPr sz="1300"/>
          </a:p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  <a:defRPr sz="1300">
                <a:solidFill>
                  <a:srgbClr val="00D4AA"/>
                </a:solidFill>
                <a:latin typeface="Consolas"/>
                <a:ea typeface="Consolas"/>
                <a:cs typeface="Consolas"/>
              </a:defRPr>
            </a:pPr>
            <a:r>
              <a:rPr sz="1300">
                <a:solidFill>
                  <a:srgbClr val="00D4AA"/>
                </a:solidFill>
                <a:latin typeface="Consolas"/>
                <a:ea typeface="Consolas"/>
                <a:cs typeface="Consolas"/>
              </a:rPr>
              <a:t>User  ---&gt;  DNS / URL  ---&gt;  ALB  ---&gt;  EC2 app  ---&gt;  RDS</a:t>
            </a:r>
            <a:endParaRPr sz="1300"/>
          </a:p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  <a:defRPr sz="1300">
                <a:solidFill>
                  <a:srgbClr val="00D4AA"/>
                </a:solidFill>
                <a:latin typeface="Consolas"/>
                <a:ea typeface="Consolas"/>
                <a:cs typeface="Consolas"/>
              </a:defRPr>
            </a:pPr>
            <a:r>
              <a:rPr sz="1300">
                <a:solidFill>
                  <a:srgbClr val="00D4AA"/>
                </a:solidFill>
                <a:latin typeface="Consolas"/>
                <a:ea typeface="Consolas"/>
                <a:cs typeface="Consolas"/>
              </a:rPr>
              <a:t>                              routes       processes       stores</a:t>
            </a:r>
            <a:endParaRPr sz="130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endParaRPr sz="1300"/>
          </a:p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  <a:defRPr sz="1300">
                <a:solidFill>
                  <a:srgbClr val="00D4AA"/>
                </a:solidFill>
                <a:latin typeface="Consolas"/>
                <a:ea typeface="Consolas"/>
                <a:cs typeface="Consolas"/>
              </a:defRPr>
            </a:pPr>
            <a:r>
              <a:rPr sz="1300">
                <a:solidFill>
                  <a:srgbClr val="00D4AA"/>
                </a:solidFill>
                <a:latin typeface="Consolas"/>
                <a:ea typeface="Consolas"/>
                <a:cs typeface="Consolas"/>
              </a:rPr>
              <a:t>SUPPORT</a:t>
            </a:r>
            <a:endParaRPr sz="130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endParaRPr sz="1300"/>
          </a:p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  <a:defRPr sz="1300">
                <a:solidFill>
                  <a:srgbClr val="00D4AA"/>
                </a:solidFill>
                <a:latin typeface="Consolas"/>
                <a:ea typeface="Consolas"/>
                <a:cs typeface="Consolas"/>
              </a:defRPr>
            </a:pPr>
            <a:r>
              <a:rPr sz="1300">
                <a:solidFill>
                  <a:srgbClr val="00D4AA"/>
                </a:solidFill>
                <a:latin typeface="Consolas"/>
                <a:ea typeface="Consolas"/>
                <a:cs typeface="Consolas"/>
              </a:rPr>
              <a:t>S3  ---&gt;  static objects     IAM  ---&gt;  permissions</a:t>
            </a:r>
            <a:endParaRPr sz="1300"/>
          </a:p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  <a:defRPr sz="1300">
                <a:solidFill>
                  <a:srgbClr val="00D4AA"/>
                </a:solidFill>
                <a:latin typeface="Consolas"/>
                <a:ea typeface="Consolas"/>
                <a:cs typeface="Consolas"/>
              </a:defRPr>
            </a:pPr>
            <a:r>
              <a:rPr sz="1300">
                <a:solidFill>
                  <a:srgbClr val="00D4AA"/>
                </a:solidFill>
                <a:latin typeface="Consolas"/>
                <a:ea typeface="Consolas"/>
                <a:cs typeface="Consolas"/>
              </a:rPr>
              <a:t>CloudWatch  ---&gt;  metrics and logs     KMS  ---&gt;  encryption</a:t>
            </a:r>
            <a:endParaRPr sz="13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76DB299-7D43-4410-884A-5484BE8AE465}"/>
              </a:ext>
            </a:extLst>
          </p:cNvPr>
          <p:cNvSpPr>
            <a:spLocks noGrp="1"/>
          </p:cNvSpPr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solidFill>
            <a:srgbClr val="326CE5"/>
          </a:solidFill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8D87DB0-5923-440F-9AD0-12210356E233}"/>
              </a:ext>
            </a:extLst>
          </p:cNvPr>
          <p:cNvSpPr>
            <a:spLocks noGrp="1"/>
          </p:cNvSpPr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Route  •  Process  •  Store  •  Protect  •  Observe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8065466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4FC542E-283C-47A0-8F4A-72AC543E71F1}"/>
              </a:ext>
            </a:extLst>
          </p:cNvPr>
          <p:cNvSpPr>
            <a:spLocks noGrp="1"/>
          </p:cNvSpPr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6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Region, AZ and Subnet</a:t>
            </a:r>
            <a:endParaRPr sz="36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E6B5728-0373-4ED9-B86F-20C0E2E50882}"/>
              </a:ext>
            </a:extLst>
          </p:cNvPr>
          <p:cNvSpPr>
            <a:spLocks noGrp="1"/>
          </p:cNvSpPr>
          <p:nvPr/>
        </p:nvSpPr>
        <p:spPr>
          <a:xfrm>
            <a:off x="457200" y="1188720"/>
            <a:ext cx="8229600" cy="621792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7202F3A-E006-4DCD-A800-A1362C2DB38B}"/>
              </a:ext>
            </a:extLst>
          </p:cNvPr>
          <p:cNvSpPr>
            <a:spLocks noGrp="1"/>
          </p:cNvSpPr>
          <p:nvPr/>
        </p:nvSpPr>
        <p:spPr>
          <a:xfrm>
            <a:off x="594360" y="1298448"/>
            <a:ext cx="402336" cy="402336"/>
          </a:xfrm>
          <a:prstGeom prst="ellipse">
            <a:avLst/>
          </a:prstGeom>
          <a:solidFill>
            <a:srgbClr val="326CE5"/>
          </a:solidFill>
        </p:spPr>
        <p:txBody>
          <a:bodyPr/>
          <a:lstStyle/>
          <a:p>
            <a:endParaRPr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C7018D5-5858-4E53-81B5-EF107AA855DA}"/>
              </a:ext>
            </a:extLst>
          </p:cNvPr>
          <p:cNvSpPr>
            <a:spLocks noGrp="1"/>
          </p:cNvSpPr>
          <p:nvPr/>
        </p:nvSpPr>
        <p:spPr>
          <a:xfrm>
            <a:off x="594360" y="1298448"/>
            <a:ext cx="402336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sz="1400"/>
          </a:p>
        </p:txBody>
      </p:sp>
      <p:pic>
        <p:nvPicPr>
          <p:cNvPr id="37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335024"/>
            <a:ext cx="329184" cy="329184"/>
          </a:xfrm>
          <a:prstGeom prst="rect">
            <a:avLst/>
          </a:prstGeom>
        </p:spPr>
      </p:pic>
      <p:sp>
        <p:nvSpPr>
          <p:cNvPr id="7" name="Text 4">
            <a:extLst>
              <a:ext uri="{FF2B5EF4-FFF2-40B4-BE49-F238E27FC236}">
                <a16:creationId xmlns:a16="http://schemas.microsoft.com/office/drawing/2014/main" id="{89E8635B-D831-4F85-AC31-7396032DD2ED}"/>
              </a:ext>
            </a:extLst>
          </p:cNvPr>
          <p:cNvSpPr>
            <a:spLocks noGrp="1"/>
          </p:cNvSpPr>
          <p:nvPr/>
        </p:nvSpPr>
        <p:spPr>
          <a:xfrm>
            <a:off x="1600200" y="1188720"/>
            <a:ext cx="6858000" cy="62179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300">
                <a:solidFill>
                  <a:srgbClr val="3A4668"/>
                </a:solidFill>
                <a:latin typeface="Arial"/>
                <a:ea typeface="Arial"/>
                <a:cs typeface="Arial"/>
              </a:rPr>
              <a:t>Region — geographic deployment boundary</a:t>
            </a:r>
            <a:endParaRPr sz="130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EC245BCD-BB19-490D-A6EC-3519AF3773DD}"/>
              </a:ext>
            </a:extLst>
          </p:cNvPr>
          <p:cNvSpPr>
            <a:spLocks noGrp="1"/>
          </p:cNvSpPr>
          <p:nvPr/>
        </p:nvSpPr>
        <p:spPr>
          <a:xfrm>
            <a:off x="457200" y="1883664"/>
            <a:ext cx="8229600" cy="621792"/>
          </a:xfrm>
          <a:prstGeom prst="rect">
            <a:avLst/>
          </a:prstGeom>
          <a:solidFill>
            <a:srgbClr val="F4F7FC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A47E224A-68A3-4151-A57B-E6E788861AA4}"/>
              </a:ext>
            </a:extLst>
          </p:cNvPr>
          <p:cNvSpPr>
            <a:spLocks noGrp="1"/>
          </p:cNvSpPr>
          <p:nvPr/>
        </p:nvSpPr>
        <p:spPr>
          <a:xfrm>
            <a:off x="594360" y="1993392"/>
            <a:ext cx="402336" cy="402336"/>
          </a:xfrm>
          <a:prstGeom prst="ellipse">
            <a:avLst/>
          </a:prstGeom>
          <a:solidFill>
            <a:srgbClr val="326CE5"/>
          </a:solidFill>
        </p:spPr>
        <p:txBody>
          <a:bodyPr/>
          <a:lstStyle/>
          <a:p>
            <a:endParaRPr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BCE62FB5-125C-4DC2-ABFC-269940C82320}"/>
              </a:ext>
            </a:extLst>
          </p:cNvPr>
          <p:cNvSpPr>
            <a:spLocks noGrp="1"/>
          </p:cNvSpPr>
          <p:nvPr/>
        </p:nvSpPr>
        <p:spPr>
          <a:xfrm>
            <a:off x="594360" y="1993392"/>
            <a:ext cx="402336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1400"/>
          </a:p>
        </p:txBody>
      </p:sp>
      <p:pic>
        <p:nvPicPr>
          <p:cNvPr id="42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2029968"/>
            <a:ext cx="329184" cy="329184"/>
          </a:xfrm>
          <a:prstGeom prst="rect">
            <a:avLst/>
          </a:prstGeom>
        </p:spPr>
      </p:pic>
      <p:sp>
        <p:nvSpPr>
          <p:cNvPr id="12" name="Text 8">
            <a:extLst>
              <a:ext uri="{FF2B5EF4-FFF2-40B4-BE49-F238E27FC236}">
                <a16:creationId xmlns:a16="http://schemas.microsoft.com/office/drawing/2014/main" id="{3C18A028-3041-414C-97FA-2DB5874AC85D}"/>
              </a:ext>
            </a:extLst>
          </p:cNvPr>
          <p:cNvSpPr>
            <a:spLocks noGrp="1"/>
          </p:cNvSpPr>
          <p:nvPr/>
        </p:nvSpPr>
        <p:spPr>
          <a:xfrm>
            <a:off x="1600200" y="1883664"/>
            <a:ext cx="6858000" cy="62179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300">
                <a:solidFill>
                  <a:srgbClr val="3A4668"/>
                </a:solidFill>
                <a:latin typeface="Arial"/>
                <a:ea typeface="Arial"/>
                <a:cs typeface="Arial"/>
              </a:rPr>
              <a:t>Availability Zone — isolated location inside a Region</a:t>
            </a:r>
            <a:endParaRPr sz="1300"/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599E1308-2B14-4644-9D34-AD1F44CB6E95}"/>
              </a:ext>
            </a:extLst>
          </p:cNvPr>
          <p:cNvSpPr>
            <a:spLocks noGrp="1"/>
          </p:cNvSpPr>
          <p:nvPr/>
        </p:nvSpPr>
        <p:spPr>
          <a:xfrm>
            <a:off x="457200" y="2578608"/>
            <a:ext cx="8229600" cy="621792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483A3FA5-9F11-470A-9278-16C77E9E9BE7}"/>
              </a:ext>
            </a:extLst>
          </p:cNvPr>
          <p:cNvSpPr>
            <a:spLocks noGrp="1"/>
          </p:cNvSpPr>
          <p:nvPr/>
        </p:nvSpPr>
        <p:spPr>
          <a:xfrm>
            <a:off x="594360" y="2688336"/>
            <a:ext cx="402336" cy="402336"/>
          </a:xfrm>
          <a:prstGeom prst="ellipse">
            <a:avLst/>
          </a:prstGeom>
          <a:solidFill>
            <a:srgbClr val="326CE5"/>
          </a:solidFill>
        </p:spPr>
        <p:txBody>
          <a:bodyPr/>
          <a:lstStyle/>
          <a:p>
            <a:endParaRPr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778AB330-59B5-41F8-B637-DC50102FB89A}"/>
              </a:ext>
            </a:extLst>
          </p:cNvPr>
          <p:cNvSpPr>
            <a:spLocks noGrp="1"/>
          </p:cNvSpPr>
          <p:nvPr/>
        </p:nvSpPr>
        <p:spPr>
          <a:xfrm>
            <a:off x="594360" y="2688336"/>
            <a:ext cx="402336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1400"/>
          </a:p>
        </p:txBody>
      </p:sp>
      <p:pic>
        <p:nvPicPr>
          <p:cNvPr id="47" name="Imag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2724912"/>
            <a:ext cx="329184" cy="329184"/>
          </a:xfrm>
          <a:prstGeom prst="rect">
            <a:avLst/>
          </a:prstGeom>
        </p:spPr>
      </p:pic>
      <p:sp>
        <p:nvSpPr>
          <p:cNvPr id="17" name="Text 12">
            <a:extLst>
              <a:ext uri="{FF2B5EF4-FFF2-40B4-BE49-F238E27FC236}">
                <a16:creationId xmlns:a16="http://schemas.microsoft.com/office/drawing/2014/main" id="{0E7B86F5-0490-4913-9A79-465659D3FBC6}"/>
              </a:ext>
            </a:extLst>
          </p:cNvPr>
          <p:cNvSpPr>
            <a:spLocks noGrp="1"/>
          </p:cNvSpPr>
          <p:nvPr/>
        </p:nvSpPr>
        <p:spPr>
          <a:xfrm>
            <a:off x="1600200" y="2578608"/>
            <a:ext cx="6858000" cy="62179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300">
                <a:solidFill>
                  <a:srgbClr val="3A4668"/>
                </a:solidFill>
                <a:latin typeface="Arial"/>
                <a:ea typeface="Arial"/>
                <a:cs typeface="Arial"/>
              </a:rPr>
              <a:t>Subnet — belongs to exactly one Availability Zone</a:t>
            </a:r>
            <a:endParaRPr sz="1300"/>
          </a:p>
        </p:txBody>
      </p:sp>
      <p:sp>
        <p:nvSpPr>
          <p:cNvPr id="18" name="Shape 13">
            <a:extLst>
              <a:ext uri="{FF2B5EF4-FFF2-40B4-BE49-F238E27FC236}">
                <a16:creationId xmlns:a16="http://schemas.microsoft.com/office/drawing/2014/main" id="{82C673F4-AE84-4CCC-B54B-AF84B4F93A76}"/>
              </a:ext>
            </a:extLst>
          </p:cNvPr>
          <p:cNvSpPr>
            <a:spLocks noGrp="1"/>
          </p:cNvSpPr>
          <p:nvPr/>
        </p:nvSpPr>
        <p:spPr>
          <a:xfrm>
            <a:off x="457200" y="3273552"/>
            <a:ext cx="8229600" cy="621792"/>
          </a:xfrm>
          <a:prstGeom prst="rect">
            <a:avLst/>
          </a:prstGeom>
          <a:solidFill>
            <a:srgbClr val="F4F7FC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4">
            <a:extLst>
              <a:ext uri="{FF2B5EF4-FFF2-40B4-BE49-F238E27FC236}">
                <a16:creationId xmlns:a16="http://schemas.microsoft.com/office/drawing/2014/main" id="{26DC079D-45C7-495F-A921-6284CE47727C}"/>
              </a:ext>
            </a:extLst>
          </p:cNvPr>
          <p:cNvSpPr>
            <a:spLocks noGrp="1"/>
          </p:cNvSpPr>
          <p:nvPr/>
        </p:nvSpPr>
        <p:spPr>
          <a:xfrm>
            <a:off x="594360" y="3383280"/>
            <a:ext cx="402336" cy="402336"/>
          </a:xfrm>
          <a:prstGeom prst="ellipse">
            <a:avLst/>
          </a:prstGeom>
          <a:solidFill>
            <a:srgbClr val="326CE5"/>
          </a:solidFill>
        </p:spPr>
        <p:txBody>
          <a:bodyPr/>
          <a:lstStyle/>
          <a:p>
            <a:endParaRPr/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6E5E7755-59EF-406F-8255-200D297B7195}"/>
              </a:ext>
            </a:extLst>
          </p:cNvPr>
          <p:cNvSpPr>
            <a:spLocks noGrp="1"/>
          </p:cNvSpPr>
          <p:nvPr/>
        </p:nvSpPr>
        <p:spPr>
          <a:xfrm>
            <a:off x="594360" y="3383280"/>
            <a:ext cx="402336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1400"/>
          </a:p>
        </p:txBody>
      </p:sp>
      <p:pic>
        <p:nvPicPr>
          <p:cNvPr id="52" name="Imag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3419856"/>
            <a:ext cx="329184" cy="329184"/>
          </a:xfrm>
          <a:prstGeom prst="rect">
            <a:avLst/>
          </a:prstGeom>
        </p:spPr>
      </p:pic>
      <p:sp>
        <p:nvSpPr>
          <p:cNvPr id="22" name="Text 16">
            <a:extLst>
              <a:ext uri="{FF2B5EF4-FFF2-40B4-BE49-F238E27FC236}">
                <a16:creationId xmlns:a16="http://schemas.microsoft.com/office/drawing/2014/main" id="{792C3370-11EE-452A-A80E-71194B30C0BB}"/>
              </a:ext>
            </a:extLst>
          </p:cNvPr>
          <p:cNvSpPr>
            <a:spLocks noGrp="1"/>
          </p:cNvSpPr>
          <p:nvPr/>
        </p:nvSpPr>
        <p:spPr>
          <a:xfrm>
            <a:off x="1600200" y="3273552"/>
            <a:ext cx="6858000" cy="62179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300">
                <a:solidFill>
                  <a:srgbClr val="3A4668"/>
                </a:solidFill>
                <a:latin typeface="Arial"/>
                <a:ea typeface="Arial"/>
                <a:cs typeface="Arial"/>
              </a:rPr>
              <a:t>Multi-AZ — distribute workload capacity across AZs</a:t>
            </a:r>
            <a:endParaRPr sz="1300"/>
          </a:p>
        </p:txBody>
      </p:sp>
      <p:sp>
        <p:nvSpPr>
          <p:cNvPr id="23" name="Shape 17">
            <a:extLst>
              <a:ext uri="{FF2B5EF4-FFF2-40B4-BE49-F238E27FC236}">
                <a16:creationId xmlns:a16="http://schemas.microsoft.com/office/drawing/2014/main" id="{04082C8E-9F42-4404-95D2-54702699EB37}"/>
              </a:ext>
            </a:extLst>
          </p:cNvPr>
          <p:cNvSpPr>
            <a:spLocks noGrp="1"/>
          </p:cNvSpPr>
          <p:nvPr/>
        </p:nvSpPr>
        <p:spPr>
          <a:xfrm>
            <a:off x="457200" y="3968496"/>
            <a:ext cx="8229600" cy="621792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4" name="Shape 18">
            <a:extLst>
              <a:ext uri="{FF2B5EF4-FFF2-40B4-BE49-F238E27FC236}">
                <a16:creationId xmlns:a16="http://schemas.microsoft.com/office/drawing/2014/main" id="{BB5C4D43-B3F8-4E0D-A046-89CD8C4922CF}"/>
              </a:ext>
            </a:extLst>
          </p:cNvPr>
          <p:cNvSpPr>
            <a:spLocks noGrp="1"/>
          </p:cNvSpPr>
          <p:nvPr/>
        </p:nvSpPr>
        <p:spPr>
          <a:xfrm>
            <a:off x="594360" y="4078224"/>
            <a:ext cx="402336" cy="402336"/>
          </a:xfrm>
          <a:prstGeom prst="ellipse">
            <a:avLst/>
          </a:prstGeom>
          <a:solidFill>
            <a:srgbClr val="326CE5"/>
          </a:solidFill>
        </p:spPr>
        <p:txBody>
          <a:bodyPr/>
          <a:lstStyle/>
          <a:p>
            <a:endParaRPr/>
          </a:p>
        </p:txBody>
      </p:sp>
      <p:sp>
        <p:nvSpPr>
          <p:cNvPr id="25" name="Text 19">
            <a:extLst>
              <a:ext uri="{FF2B5EF4-FFF2-40B4-BE49-F238E27FC236}">
                <a16:creationId xmlns:a16="http://schemas.microsoft.com/office/drawing/2014/main" id="{3083BC84-227F-4B39-B769-FF87DB01F785}"/>
              </a:ext>
            </a:extLst>
          </p:cNvPr>
          <p:cNvSpPr>
            <a:spLocks noGrp="1"/>
          </p:cNvSpPr>
          <p:nvPr/>
        </p:nvSpPr>
        <p:spPr>
          <a:xfrm>
            <a:off x="594360" y="4078224"/>
            <a:ext cx="402336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  <a:endParaRPr sz="1400"/>
          </a:p>
        </p:txBody>
      </p:sp>
      <p:pic>
        <p:nvPicPr>
          <p:cNvPr id="57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4114800"/>
            <a:ext cx="329184" cy="329184"/>
          </a:xfrm>
          <a:prstGeom prst="rect">
            <a:avLst/>
          </a:prstGeom>
        </p:spPr>
      </p:pic>
      <p:sp>
        <p:nvSpPr>
          <p:cNvPr id="27" name="Text 20">
            <a:extLst>
              <a:ext uri="{FF2B5EF4-FFF2-40B4-BE49-F238E27FC236}">
                <a16:creationId xmlns:a16="http://schemas.microsoft.com/office/drawing/2014/main" id="{AB1D5C90-E157-4EF4-80C5-CCD53FC82AD6}"/>
              </a:ext>
            </a:extLst>
          </p:cNvPr>
          <p:cNvSpPr>
            <a:spLocks noGrp="1"/>
          </p:cNvSpPr>
          <p:nvPr/>
        </p:nvSpPr>
        <p:spPr>
          <a:xfrm>
            <a:off x="1600200" y="3968496"/>
            <a:ext cx="6858000" cy="62179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300">
                <a:solidFill>
                  <a:srgbClr val="3A4668"/>
                </a:solidFill>
                <a:latin typeface="Arial"/>
                <a:ea typeface="Arial"/>
                <a:cs typeface="Arial"/>
              </a:rPr>
              <a:t>Multi-Region — a separate disaster-recovery decision</a:t>
            </a:r>
            <a:endParaRPr sz="1300"/>
          </a:p>
        </p:txBody>
      </p:sp>
    </p:spTree>
    <p:extLst>
      <p:ext uri="{BB962C8B-B14F-4D97-AF65-F5344CB8AC3E}">
        <p14:creationId xmlns:p14="http://schemas.microsoft.com/office/powerpoint/2010/main" val="4614707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B62B132-033B-42E3-923F-F70AA7DD3ADB}"/>
              </a:ext>
            </a:extLst>
          </p:cNvPr>
          <p:cNvSpPr>
            <a:spLocks noGrp="1"/>
          </p:cNvSpPr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600" b="1">
                <a:solidFill>
                  <a:srgbClr val="00D4AA"/>
                </a:solidFill>
                <a:latin typeface="Arial"/>
                <a:ea typeface="Arial"/>
                <a:cs typeface="Arial"/>
              </a:rPr>
              <a:t>Public vs Private Is About Routing</a:t>
            </a:r>
            <a:endParaRPr sz="36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24E013A-0DE5-4569-8480-E5A15E53A037}"/>
              </a:ext>
            </a:extLst>
          </p:cNvPr>
          <p:cNvSpPr>
            <a:spLocks noGrp="1"/>
          </p:cNvSpPr>
          <p:nvPr/>
        </p:nvSpPr>
        <p:spPr>
          <a:xfrm>
            <a:off x="457200" y="1051560"/>
            <a:ext cx="8229600" cy="3200400"/>
          </a:xfrm>
          <a:prstGeom prst="rect">
            <a:avLst/>
          </a:prstGeom>
          <a:solidFill>
            <a:srgbClr val="2D3454"/>
          </a:solidFill>
        </p:spPr>
        <p:txBody>
          <a:bodyPr/>
          <a:lstStyle/>
          <a:p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B9A6128-E208-4157-8406-D0A5CB3DB2AF}"/>
              </a:ext>
            </a:extLst>
          </p:cNvPr>
          <p:cNvSpPr>
            <a:spLocks noGrp="1"/>
          </p:cNvSpPr>
          <p:nvPr/>
        </p:nvSpPr>
        <p:spPr>
          <a:xfrm>
            <a:off x="640080" y="1143000"/>
            <a:ext cx="7863840" cy="301752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  <a:defRPr sz="1300">
                <a:solidFill>
                  <a:srgbClr val="00D4AA"/>
                </a:solidFill>
                <a:latin typeface="Consolas"/>
                <a:ea typeface="Consolas"/>
                <a:cs typeface="Consolas"/>
              </a:defRPr>
            </a:pPr>
            <a:r>
              <a:rPr sz="1300">
                <a:solidFill>
                  <a:srgbClr val="00D4AA"/>
                </a:solidFill>
                <a:latin typeface="Consolas"/>
                <a:ea typeface="Consolas"/>
                <a:cs typeface="Consolas"/>
              </a:rPr>
              <a:t>PUBLIC ENTRY</a:t>
            </a:r>
            <a:endParaRPr sz="130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endParaRPr sz="1300"/>
          </a:p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  <a:defRPr sz="1300">
                <a:solidFill>
                  <a:srgbClr val="00D4AA"/>
                </a:solidFill>
                <a:latin typeface="Consolas"/>
                <a:ea typeface="Consolas"/>
                <a:cs typeface="Consolas"/>
              </a:defRPr>
            </a:pPr>
            <a:r>
              <a:rPr sz="1300">
                <a:solidFill>
                  <a:srgbClr val="00D4AA"/>
                </a:solidFill>
                <a:latin typeface="Consolas"/>
                <a:ea typeface="Consolas"/>
                <a:cs typeface="Consolas"/>
              </a:rPr>
              <a:t>Internet  ---&gt;  Internet Gateway  ---&gt;  public subnet  ---&gt;  ALB</a:t>
            </a:r>
            <a:endParaRPr sz="130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endParaRPr sz="1300"/>
          </a:p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  <a:defRPr sz="1300">
                <a:solidFill>
                  <a:srgbClr val="00D4AA"/>
                </a:solidFill>
                <a:latin typeface="Consolas"/>
                <a:ea typeface="Consolas"/>
                <a:cs typeface="Consolas"/>
              </a:defRPr>
            </a:pPr>
            <a:r>
              <a:rPr sz="1300">
                <a:solidFill>
                  <a:srgbClr val="00D4AA"/>
                </a:solidFill>
                <a:latin typeface="Consolas"/>
                <a:ea typeface="Consolas"/>
                <a:cs typeface="Consolas"/>
              </a:rPr>
              <a:t>PRIVATE TIERS</a:t>
            </a:r>
            <a:endParaRPr sz="130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endParaRPr sz="1300"/>
          </a:p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  <a:defRPr sz="1300">
                <a:solidFill>
                  <a:srgbClr val="00D4AA"/>
                </a:solidFill>
                <a:latin typeface="Consolas"/>
                <a:ea typeface="Consolas"/>
                <a:cs typeface="Consolas"/>
              </a:defRPr>
            </a:pPr>
            <a:r>
              <a:rPr sz="1300">
                <a:solidFill>
                  <a:srgbClr val="00D4AA"/>
                </a:solidFill>
                <a:latin typeface="Consolas"/>
                <a:ea typeface="Consolas"/>
                <a:cs typeface="Consolas"/>
              </a:rPr>
              <a:t>ALB  ---&gt;  app security group  ---&gt;  application tier</a:t>
            </a:r>
            <a:endParaRPr sz="1300"/>
          </a:p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  <a:defRPr sz="1300">
                <a:solidFill>
                  <a:srgbClr val="00D4AA"/>
                </a:solidFill>
                <a:latin typeface="Consolas"/>
                <a:ea typeface="Consolas"/>
                <a:cs typeface="Consolas"/>
              </a:defRPr>
            </a:pPr>
            <a:r>
              <a:rPr sz="1300">
                <a:solidFill>
                  <a:srgbClr val="00D4AA"/>
                </a:solidFill>
                <a:latin typeface="Consolas"/>
                <a:ea typeface="Consolas"/>
                <a:cs typeface="Consolas"/>
              </a:rPr>
              <a:t>App  ---&gt;  database security group  ---&gt;  database tier</a:t>
            </a:r>
            <a:endParaRPr sz="13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76DB299-7D43-4410-884A-5484BE8AE465}"/>
              </a:ext>
            </a:extLst>
          </p:cNvPr>
          <p:cNvSpPr>
            <a:spLocks noGrp="1"/>
          </p:cNvSpPr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solidFill>
            <a:srgbClr val="326CE5"/>
          </a:solidFill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8D87DB0-5923-440F-9AD0-12210356E233}"/>
              </a:ext>
            </a:extLst>
          </p:cNvPr>
          <p:cNvSpPr>
            <a:spLocks noGrp="1"/>
          </p:cNvSpPr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Expose only the entry point; restrict every downstream hop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8065466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93448BC-5496-4A40-974E-EC283AC9B16E}"/>
              </a:ext>
            </a:extLst>
          </p:cNvPr>
          <p:cNvSpPr>
            <a:spLocks noGrp="1"/>
          </p:cNvSpPr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6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Resilience Is Designed Per Tier</a:t>
            </a:r>
            <a:endParaRPr sz="36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297DE6D-5241-4BA1-B0A0-D44CF7D54548}"/>
              </a:ext>
            </a:extLst>
          </p:cNvPr>
          <p:cNvSpPr>
            <a:spLocks noGrp="1"/>
          </p:cNvSpPr>
          <p:nvPr/>
        </p:nvSpPr>
        <p:spPr>
          <a:xfrm>
            <a:off x="457200" y="1188720"/>
            <a:ext cx="3931920" cy="1645920"/>
          </a:xfrm>
          <a:prstGeom prst="rect">
            <a:avLst/>
          </a:prstGeom>
          <a:solidFill>
            <a:srgbClr val="E8EE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5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365760" cy="365760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2F3C7858-E454-4839-9043-F12B2134C42C}"/>
              </a:ext>
            </a:extLst>
          </p:cNvPr>
          <p:cNvSpPr>
            <a:spLocks noGrp="1"/>
          </p:cNvSpPr>
          <p:nvPr/>
        </p:nvSpPr>
        <p:spPr>
          <a:xfrm>
            <a:off x="1097280" y="1325880"/>
            <a:ext cx="301752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Compute</a:t>
            </a:r>
            <a:endParaRPr sz="140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453DFC80-4141-470B-91C3-8C3A95340D57}"/>
              </a:ext>
            </a:extLst>
          </p:cNvPr>
          <p:cNvSpPr>
            <a:spLocks noGrp="1"/>
          </p:cNvSpPr>
          <p:nvPr/>
        </p:nvSpPr>
        <p:spPr>
          <a:xfrm>
            <a:off x="640080" y="1737360"/>
            <a:ext cx="3566160" cy="9601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3A4668"/>
                </a:solidFill>
                <a:latin typeface="Arial"/>
                <a:ea typeface="Arial"/>
                <a:cs typeface="Arial"/>
              </a:rPr>
              <a:t>Two replaceable instances across AZs behind an ALB.</a:t>
            </a:r>
            <a:endParaRPr sz="120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7E32F17E-ED24-4EA0-B874-52944F4EA7DA}"/>
              </a:ext>
            </a:extLst>
          </p:cNvPr>
          <p:cNvSpPr>
            <a:spLocks noGrp="1"/>
          </p:cNvSpPr>
          <p:nvPr/>
        </p:nvSpPr>
        <p:spPr>
          <a:xfrm>
            <a:off x="4754880" y="1188720"/>
            <a:ext cx="3931920" cy="1645920"/>
          </a:xfrm>
          <a:prstGeom prst="rect">
            <a:avLst/>
          </a:prstGeom>
          <a:solidFill>
            <a:srgbClr val="E8F8F0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9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325880"/>
            <a:ext cx="365760" cy="365760"/>
          </a:xfrm>
          <a:prstGeom prst="rect">
            <a:avLst/>
          </a:prstGeom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D7719CF8-0D7D-4414-835C-668DF8346E54}"/>
              </a:ext>
            </a:extLst>
          </p:cNvPr>
          <p:cNvSpPr>
            <a:spLocks noGrp="1"/>
          </p:cNvSpPr>
          <p:nvPr/>
        </p:nvSpPr>
        <p:spPr>
          <a:xfrm>
            <a:off x="5394960" y="1325880"/>
            <a:ext cx="301752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Capacity</a:t>
            </a:r>
            <a:endParaRPr sz="140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F05DF557-9BBE-46E7-8B69-FD51F9C85CAC}"/>
              </a:ext>
            </a:extLst>
          </p:cNvPr>
          <p:cNvSpPr>
            <a:spLocks noGrp="1"/>
          </p:cNvSpPr>
          <p:nvPr/>
        </p:nvSpPr>
        <p:spPr>
          <a:xfrm>
            <a:off x="4937760" y="1737360"/>
            <a:ext cx="3566160" cy="9601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3A4668"/>
                </a:solidFill>
                <a:latin typeface="Arial"/>
                <a:ea typeface="Arial"/>
                <a:cs typeface="Arial"/>
              </a:rPr>
              <a:t>Auto Scaling restores health and adjusts capacity.</a:t>
            </a:r>
            <a:endParaRPr sz="1200"/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E0A07DE8-025F-47B0-9505-CFA6B2069DA9}"/>
              </a:ext>
            </a:extLst>
          </p:cNvPr>
          <p:cNvSpPr>
            <a:spLocks noGrp="1"/>
          </p:cNvSpPr>
          <p:nvPr/>
        </p:nvSpPr>
        <p:spPr>
          <a:xfrm>
            <a:off x="457200" y="3017520"/>
            <a:ext cx="3931920" cy="1645920"/>
          </a:xfrm>
          <a:prstGeom prst="rect">
            <a:avLst/>
          </a:prstGeom>
          <a:solidFill>
            <a:srgbClr val="FFF0E0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3" name="Imag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154680"/>
            <a:ext cx="365760" cy="365760"/>
          </a:xfrm>
          <a:prstGeom prst="rect">
            <a:avLst/>
          </a:prstGeom>
        </p:spPr>
      </p:pic>
      <p:sp>
        <p:nvSpPr>
          <p:cNvPr id="13" name="Text 8">
            <a:extLst>
              <a:ext uri="{FF2B5EF4-FFF2-40B4-BE49-F238E27FC236}">
                <a16:creationId xmlns:a16="http://schemas.microsoft.com/office/drawing/2014/main" id="{80C0BEB8-E2BE-4974-ABF1-4FD9A00B69EA}"/>
              </a:ext>
            </a:extLst>
          </p:cNvPr>
          <p:cNvSpPr>
            <a:spLocks noGrp="1"/>
          </p:cNvSpPr>
          <p:nvPr/>
        </p:nvSpPr>
        <p:spPr>
          <a:xfrm>
            <a:off x="1097280" y="3154680"/>
            <a:ext cx="301752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Database</a:t>
            </a:r>
            <a:endParaRPr sz="1400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FDAB976E-D5B3-4C98-B55B-67524596BF7E}"/>
              </a:ext>
            </a:extLst>
          </p:cNvPr>
          <p:cNvSpPr>
            <a:spLocks noGrp="1"/>
          </p:cNvSpPr>
          <p:nvPr/>
        </p:nvSpPr>
        <p:spPr>
          <a:xfrm>
            <a:off x="640080" y="3566160"/>
            <a:ext cx="3566160" cy="9601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3A4668"/>
                </a:solidFill>
                <a:latin typeface="Arial"/>
                <a:ea typeface="Arial"/>
                <a:cs typeface="Arial"/>
              </a:rPr>
              <a:t>RDS Multi-AZ maintains a standby for failover.</a:t>
            </a:r>
            <a:endParaRPr sz="1200"/>
          </a:p>
        </p:txBody>
      </p:sp>
      <p:sp>
        <p:nvSpPr>
          <p:cNvPr id="15" name="Shape 10">
            <a:extLst>
              <a:ext uri="{FF2B5EF4-FFF2-40B4-BE49-F238E27FC236}">
                <a16:creationId xmlns:a16="http://schemas.microsoft.com/office/drawing/2014/main" id="{0AA166E4-7FA6-45D1-8C0C-49A5772714D6}"/>
              </a:ext>
            </a:extLst>
          </p:cNvPr>
          <p:cNvSpPr>
            <a:spLocks noGrp="1"/>
          </p:cNvSpPr>
          <p:nvPr/>
        </p:nvSpPr>
        <p:spPr>
          <a:xfrm>
            <a:off x="4754880" y="3017520"/>
            <a:ext cx="3931920" cy="1645920"/>
          </a:xfrm>
          <a:prstGeom prst="rect">
            <a:avLst/>
          </a:prstGeom>
          <a:solidFill>
            <a:srgbClr val="F0E8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7" name="Imag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3154680"/>
            <a:ext cx="365760" cy="365760"/>
          </a:xfrm>
          <a:prstGeom prst="rect">
            <a:avLst/>
          </a:prstGeom>
        </p:spPr>
      </p:pic>
      <p:sp>
        <p:nvSpPr>
          <p:cNvPr id="17" name="Text 11">
            <a:extLst>
              <a:ext uri="{FF2B5EF4-FFF2-40B4-BE49-F238E27FC236}">
                <a16:creationId xmlns:a16="http://schemas.microsoft.com/office/drawing/2014/main" id="{46093F22-1708-40BB-9BAB-BE99CF62B8BC}"/>
              </a:ext>
            </a:extLst>
          </p:cNvPr>
          <p:cNvSpPr>
            <a:spLocks noGrp="1"/>
          </p:cNvSpPr>
          <p:nvPr/>
        </p:nvSpPr>
        <p:spPr>
          <a:xfrm>
            <a:off x="5394960" y="3154680"/>
            <a:ext cx="301752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State</a:t>
            </a:r>
            <a:endParaRPr sz="1400"/>
          </a:p>
        </p:txBody>
      </p:sp>
      <p:sp>
        <p:nvSpPr>
          <p:cNvPr id="18" name="Text 12">
            <a:extLst>
              <a:ext uri="{FF2B5EF4-FFF2-40B4-BE49-F238E27FC236}">
                <a16:creationId xmlns:a16="http://schemas.microsoft.com/office/drawing/2014/main" id="{78BBDE47-900A-4059-B793-D525709ED891}"/>
              </a:ext>
            </a:extLst>
          </p:cNvPr>
          <p:cNvSpPr>
            <a:spLocks noGrp="1"/>
          </p:cNvSpPr>
          <p:nvPr/>
        </p:nvSpPr>
        <p:spPr>
          <a:xfrm>
            <a:off x="4937760" y="3566160"/>
            <a:ext cx="3566160" cy="9601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3A4668"/>
                </a:solidFill>
                <a:latin typeface="Arial"/>
                <a:ea typeface="Arial"/>
                <a:cs typeface="Arial"/>
              </a:rPr>
              <a:t>S3, a database or cache keeps state outside instances.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7930971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5EB20F0-00C4-49C0-85D4-2C01611BB98A}"/>
              </a:ext>
            </a:extLst>
          </p:cNvPr>
          <p:cNvSpPr>
            <a:spLocks noGrp="1"/>
          </p:cNvSpPr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6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Three Different Design Decisions</a:t>
            </a:r>
            <a:endParaRPr sz="36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27ECBCD-1614-46EE-88B7-122BEC8F697B}"/>
              </a:ext>
            </a:extLst>
          </p:cNvPr>
          <p:cNvSpPr>
            <a:spLocks noGrp="1"/>
          </p:cNvSpPr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 i="1">
                <a:solidFill>
                  <a:srgbClr val="7A8BBE"/>
                </a:solidFill>
                <a:latin typeface="Arial"/>
                <a:ea typeface="Arial"/>
                <a:cs typeface="Arial"/>
              </a:rPr>
              <a:t>A resilient workload answers all three questions</a:t>
            </a:r>
            <a:endParaRPr sz="14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C056F5B-C464-4E31-82BC-FE24D6EACF81}"/>
              </a:ext>
            </a:extLst>
          </p:cNvPr>
          <p:cNvSpPr>
            <a:spLocks noGrp="1"/>
          </p:cNvSpPr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solidFill>
            <a:srgbClr val="E8EE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B9D1DB2-43BD-4226-A02E-0FC41EB89816}"/>
              </a:ext>
            </a:extLst>
          </p:cNvPr>
          <p:cNvSpPr>
            <a:spLocks noGrp="1"/>
          </p:cNvSpPr>
          <p:nvPr/>
        </p:nvSpPr>
        <p:spPr>
          <a:xfrm>
            <a:off x="640080" y="1691640"/>
            <a:ext cx="137160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AVAILABLE</a:t>
            </a:r>
            <a:endParaRPr sz="14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D9CD08B-E0B5-45B2-88E2-EDD23DE0242F}"/>
              </a:ext>
            </a:extLst>
          </p:cNvPr>
          <p:cNvSpPr>
            <a:spLocks noGrp="1"/>
          </p:cNvSpPr>
          <p:nvPr/>
        </p:nvSpPr>
        <p:spPr>
          <a:xfrm>
            <a:off x="2286000" y="1783080"/>
            <a:ext cx="621792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3A4668"/>
                </a:solidFill>
                <a:latin typeface="Arial"/>
                <a:ea typeface="Arial"/>
                <a:cs typeface="Arial"/>
              </a:rPr>
              <a:t>Can the service continue when a component or one AZ fails?</a:t>
            </a:r>
            <a:endParaRPr sz="12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948C01EA-8F98-46A6-9C09-76FA5D15233D}"/>
              </a:ext>
            </a:extLst>
          </p:cNvPr>
          <p:cNvSpPr>
            <a:spLocks noGrp="1"/>
          </p:cNvSpPr>
          <p:nvPr/>
        </p:nvSpPr>
        <p:spPr>
          <a:xfrm>
            <a:off x="457200" y="2697480"/>
            <a:ext cx="8229600" cy="914400"/>
          </a:xfrm>
          <a:prstGeom prst="rect">
            <a:avLst/>
          </a:prstGeom>
          <a:solidFill>
            <a:srgbClr val="E8F8F0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8AC26B81-FF97-4E53-B734-71757314DE86}"/>
              </a:ext>
            </a:extLst>
          </p:cNvPr>
          <p:cNvSpPr>
            <a:spLocks noGrp="1"/>
          </p:cNvSpPr>
          <p:nvPr/>
        </p:nvSpPr>
        <p:spPr>
          <a:xfrm>
            <a:off x="640080" y="2743200"/>
            <a:ext cx="137160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SCALABLE</a:t>
            </a:r>
            <a:endParaRPr sz="14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0818AD70-D8EA-4515-81C3-62C431E22499}"/>
              </a:ext>
            </a:extLst>
          </p:cNvPr>
          <p:cNvSpPr>
            <a:spLocks noGrp="1"/>
          </p:cNvSpPr>
          <p:nvPr/>
        </p:nvSpPr>
        <p:spPr>
          <a:xfrm>
            <a:off x="2286000" y="2834640"/>
            <a:ext cx="621792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3A4668"/>
                </a:solidFill>
                <a:latin typeface="Arial"/>
                <a:ea typeface="Arial"/>
                <a:cs typeface="Arial"/>
              </a:rPr>
              <a:t>Can capacity grow and shrink with demand?</a:t>
            </a:r>
            <a:endParaRPr sz="120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C7ADA2FA-2D9A-4F36-8C49-AA90E75E82B8}"/>
              </a:ext>
            </a:extLst>
          </p:cNvPr>
          <p:cNvSpPr>
            <a:spLocks noGrp="1"/>
          </p:cNvSpPr>
          <p:nvPr/>
        </p:nvSpPr>
        <p:spPr>
          <a:xfrm>
            <a:off x="457200" y="3749040"/>
            <a:ext cx="8229600" cy="914400"/>
          </a:xfrm>
          <a:prstGeom prst="rect">
            <a:avLst/>
          </a:prstGeom>
          <a:solidFill>
            <a:srgbClr val="FFF0E0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26B297D8-5E66-4E36-9606-1A4A933E890F}"/>
              </a:ext>
            </a:extLst>
          </p:cNvPr>
          <p:cNvSpPr>
            <a:spLocks noGrp="1"/>
          </p:cNvSpPr>
          <p:nvPr/>
        </p:nvSpPr>
        <p:spPr>
          <a:xfrm>
            <a:off x="640080" y="3794760"/>
            <a:ext cx="137160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RECOVERY</a:t>
            </a:r>
            <a:endParaRPr sz="14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77B44955-A14C-4459-A1A4-A63AE0990148}"/>
              </a:ext>
            </a:extLst>
          </p:cNvPr>
          <p:cNvSpPr>
            <a:spLocks noGrp="1"/>
          </p:cNvSpPr>
          <p:nvPr/>
        </p:nvSpPr>
        <p:spPr>
          <a:xfrm>
            <a:off x="2286000" y="3886200"/>
            <a:ext cx="621792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3A4668"/>
                </a:solidFill>
                <a:latin typeface="Arial"/>
                <a:ea typeface="Arial"/>
                <a:cs typeface="Arial"/>
              </a:rPr>
              <a:t>Can data and service be restored after a larger failure?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3523323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1014549"/>
            <a:ext cx="1188720" cy="118872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1011CAA0-C8A6-4090-B09D-01F9D5A0FEC5}"/>
              </a:ext>
            </a:extLst>
          </p:cNvPr>
          <p:cNvSpPr>
            <a:spLocks noGrp="1"/>
          </p:cNvSpPr>
          <p:nvPr/>
        </p:nvSpPr>
        <p:spPr>
          <a:xfrm>
            <a:off x="457200" y="2386149"/>
            <a:ext cx="822960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000" b="1" i="0" u="none" cap="none" spc="0" dirty="0">
                <a:ln>
                  <a:noFill/>
                </a:ln>
                <a:solidFill>
                  <a:srgbClr val="FFFFFF"/>
                </a:solidFill>
                <a:latin typeface="Arial"/>
                <a:ea typeface="Arial"/>
                <a:cs typeface="Arial"/>
              </a:rPr>
              <a:t>2  APIs &amp; Deployment Strategies</a:t>
            </a:r>
            <a:endParaRPr sz="4000" b="0" i="0" u="none" kern="1200" cap="none" spc="0" baseline="0" dirty="0">
              <a:ln>
                <a:noFill/>
              </a:ln>
              <a:solidFill>
                <a:prstClr val="black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871029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B62B132-033B-42E3-923F-F70AA7DD3ADB}"/>
              </a:ext>
            </a:extLst>
          </p:cNvPr>
          <p:cNvSpPr>
            <a:spLocks noGrp="1"/>
          </p:cNvSpPr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600" b="1">
                <a:solidFill>
                  <a:srgbClr val="00D4AA"/>
                </a:solidFill>
                <a:latin typeface="Arial"/>
                <a:ea typeface="Arial"/>
                <a:cs typeface="Arial"/>
              </a:rPr>
              <a:t>How a Serverless API Request Flows</a:t>
            </a:r>
            <a:endParaRPr sz="36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24E013A-0DE5-4569-8480-E5A15E53A037}"/>
              </a:ext>
            </a:extLst>
          </p:cNvPr>
          <p:cNvSpPr>
            <a:spLocks noGrp="1"/>
          </p:cNvSpPr>
          <p:nvPr/>
        </p:nvSpPr>
        <p:spPr>
          <a:xfrm>
            <a:off x="457200" y="1051560"/>
            <a:ext cx="8229600" cy="3200400"/>
          </a:xfrm>
          <a:prstGeom prst="rect">
            <a:avLst/>
          </a:prstGeom>
          <a:solidFill>
            <a:srgbClr val="2D3454"/>
          </a:solidFill>
        </p:spPr>
        <p:txBody>
          <a:bodyPr/>
          <a:lstStyle/>
          <a:p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B9A6128-E208-4157-8406-D0A5CB3DB2AF}"/>
              </a:ext>
            </a:extLst>
          </p:cNvPr>
          <p:cNvSpPr>
            <a:spLocks noGrp="1"/>
          </p:cNvSpPr>
          <p:nvPr/>
        </p:nvSpPr>
        <p:spPr>
          <a:xfrm>
            <a:off x="640080" y="1143000"/>
            <a:ext cx="7863840" cy="301752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  <a:defRPr sz="1300">
                <a:solidFill>
                  <a:srgbClr val="00D4AA"/>
                </a:solidFill>
                <a:latin typeface="Consolas"/>
                <a:ea typeface="Consolas"/>
                <a:cs typeface="Consolas"/>
              </a:defRPr>
            </a:pPr>
            <a:r>
              <a:rPr sz="1300">
                <a:solidFill>
                  <a:srgbClr val="00D4AA"/>
                </a:solidFill>
                <a:latin typeface="Consolas"/>
                <a:ea typeface="Consolas"/>
                <a:cs typeface="Consolas"/>
              </a:rPr>
              <a:t>REQUEST</a:t>
            </a:r>
            <a:endParaRPr sz="130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endParaRPr sz="1300"/>
          </a:p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  <a:defRPr sz="1300">
                <a:solidFill>
                  <a:srgbClr val="00D4AA"/>
                </a:solidFill>
                <a:latin typeface="Consolas"/>
                <a:ea typeface="Consolas"/>
                <a:cs typeface="Consolas"/>
              </a:defRPr>
            </a:pPr>
            <a:r>
              <a:rPr sz="1300">
                <a:solidFill>
                  <a:srgbClr val="00D4AA"/>
                </a:solidFill>
                <a:latin typeface="Consolas"/>
                <a:ea typeface="Consolas"/>
                <a:cs typeface="Consolas"/>
              </a:rPr>
              <a:t>Client  ---&gt;  API route  ---&gt;  auth / validation  ---&gt;  Lambda</a:t>
            </a:r>
            <a:endParaRPr sz="1300"/>
          </a:p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  <a:defRPr sz="1300">
                <a:solidFill>
                  <a:srgbClr val="00D4AA"/>
                </a:solidFill>
                <a:latin typeface="Consolas"/>
                <a:ea typeface="Consolas"/>
                <a:cs typeface="Consolas"/>
              </a:defRPr>
            </a:pPr>
            <a:r>
              <a:rPr sz="1300">
                <a:solidFill>
                  <a:srgbClr val="00D4AA"/>
                </a:solidFill>
                <a:latin typeface="Consolas"/>
                <a:ea typeface="Consolas"/>
                <a:cs typeface="Consolas"/>
              </a:rPr>
              <a:t>                                                    invokes code</a:t>
            </a:r>
            <a:endParaRPr sz="130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endParaRPr sz="1300"/>
          </a:p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  <a:defRPr sz="1300">
                <a:solidFill>
                  <a:srgbClr val="00D4AA"/>
                </a:solidFill>
                <a:latin typeface="Consolas"/>
                <a:ea typeface="Consolas"/>
                <a:cs typeface="Consolas"/>
              </a:defRPr>
            </a:pPr>
            <a:r>
              <a:rPr sz="1300">
                <a:solidFill>
                  <a:srgbClr val="00D4AA"/>
                </a:solidFill>
                <a:latin typeface="Consolas"/>
                <a:ea typeface="Consolas"/>
                <a:cs typeface="Consolas"/>
              </a:rPr>
              <a:t>DEPENDENCIES</a:t>
            </a:r>
            <a:endParaRPr sz="130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endParaRPr sz="1300"/>
          </a:p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  <a:defRPr sz="1300">
                <a:solidFill>
                  <a:srgbClr val="00D4AA"/>
                </a:solidFill>
                <a:latin typeface="Consolas"/>
                <a:ea typeface="Consolas"/>
                <a:cs typeface="Consolas"/>
              </a:defRPr>
            </a:pPr>
            <a:r>
              <a:rPr sz="1300">
                <a:solidFill>
                  <a:srgbClr val="00D4AA"/>
                </a:solidFill>
                <a:latin typeface="Consolas"/>
                <a:ea typeface="Consolas"/>
                <a:cs typeface="Consolas"/>
              </a:rPr>
              <a:t>Lambda  ---&gt;  database / queue / cache / service</a:t>
            </a:r>
            <a:endParaRPr sz="1300"/>
          </a:p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  <a:defRPr sz="1300">
                <a:solidFill>
                  <a:srgbClr val="00D4AA"/>
                </a:solidFill>
                <a:latin typeface="Consolas"/>
                <a:ea typeface="Consolas"/>
                <a:cs typeface="Consolas"/>
              </a:defRPr>
            </a:pPr>
            <a:r>
              <a:rPr sz="1300">
                <a:solidFill>
                  <a:srgbClr val="00D4AA"/>
                </a:solidFill>
                <a:latin typeface="Consolas"/>
                <a:ea typeface="Consolas"/>
                <a:cs typeface="Consolas"/>
              </a:rPr>
              <a:t>Lambda  ---&gt;  CloudWatch Logs  ---&gt;  response to client</a:t>
            </a:r>
            <a:endParaRPr sz="13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76DB299-7D43-4410-884A-5484BE8AE465}"/>
              </a:ext>
            </a:extLst>
          </p:cNvPr>
          <p:cNvSpPr>
            <a:spLocks noGrp="1"/>
          </p:cNvSpPr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solidFill>
            <a:srgbClr val="326CE5"/>
          </a:solidFill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8D87DB0-5923-440F-9AD0-12210356E233}"/>
              </a:ext>
            </a:extLst>
          </p:cNvPr>
          <p:cNvSpPr>
            <a:spLocks noGrp="1"/>
          </p:cNvSpPr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API Gateway manages the API; Lambda executes the code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8065466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93448BC-5496-4A40-974E-EC283AC9B16E}"/>
              </a:ext>
            </a:extLst>
          </p:cNvPr>
          <p:cNvSpPr>
            <a:spLocks noGrp="1"/>
          </p:cNvSpPr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6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Choose the API Type by Interaction</a:t>
            </a:r>
            <a:endParaRPr sz="36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297DE6D-5241-4BA1-B0A0-D44CF7D54548}"/>
              </a:ext>
            </a:extLst>
          </p:cNvPr>
          <p:cNvSpPr>
            <a:spLocks noGrp="1"/>
          </p:cNvSpPr>
          <p:nvPr/>
        </p:nvSpPr>
        <p:spPr>
          <a:xfrm>
            <a:off x="457200" y="1188720"/>
            <a:ext cx="3931920" cy="1645920"/>
          </a:xfrm>
          <a:prstGeom prst="rect">
            <a:avLst/>
          </a:prstGeom>
          <a:solidFill>
            <a:srgbClr val="E8EE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5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365760" cy="365760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2F3C7858-E454-4839-9043-F12B2134C42C}"/>
              </a:ext>
            </a:extLst>
          </p:cNvPr>
          <p:cNvSpPr>
            <a:spLocks noGrp="1"/>
          </p:cNvSpPr>
          <p:nvPr/>
        </p:nvSpPr>
        <p:spPr>
          <a:xfrm>
            <a:off x="1097280" y="1325880"/>
            <a:ext cx="301752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HTTP API</a:t>
            </a:r>
            <a:endParaRPr sz="140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453DFC80-4141-470B-91C3-8C3A95340D57}"/>
              </a:ext>
            </a:extLst>
          </p:cNvPr>
          <p:cNvSpPr>
            <a:spLocks noGrp="1"/>
          </p:cNvSpPr>
          <p:nvPr/>
        </p:nvSpPr>
        <p:spPr>
          <a:xfrm>
            <a:off x="640080" y="1737360"/>
            <a:ext cx="3566160" cy="9601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3A4668"/>
                </a:solidFill>
                <a:latin typeface="Arial"/>
                <a:ea typeface="Arial"/>
                <a:cs typeface="Arial"/>
              </a:rPr>
              <a:t>Simple, lower-cost HTTP endpoints and Lambda proxies.</a:t>
            </a:r>
            <a:endParaRPr sz="120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7E32F17E-ED24-4EA0-B874-52944F4EA7DA}"/>
              </a:ext>
            </a:extLst>
          </p:cNvPr>
          <p:cNvSpPr>
            <a:spLocks noGrp="1"/>
          </p:cNvSpPr>
          <p:nvPr/>
        </p:nvSpPr>
        <p:spPr>
          <a:xfrm>
            <a:off x="4754880" y="1188720"/>
            <a:ext cx="3931920" cy="1645920"/>
          </a:xfrm>
          <a:prstGeom prst="rect">
            <a:avLst/>
          </a:prstGeom>
          <a:solidFill>
            <a:srgbClr val="E8F8F0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9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325880"/>
            <a:ext cx="365760" cy="365760"/>
          </a:xfrm>
          <a:prstGeom prst="rect">
            <a:avLst/>
          </a:prstGeom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D7719CF8-0D7D-4414-835C-668DF8346E54}"/>
              </a:ext>
            </a:extLst>
          </p:cNvPr>
          <p:cNvSpPr>
            <a:spLocks noGrp="1"/>
          </p:cNvSpPr>
          <p:nvPr/>
        </p:nvSpPr>
        <p:spPr>
          <a:xfrm>
            <a:off x="5394960" y="1325880"/>
            <a:ext cx="301752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REST API</a:t>
            </a:r>
            <a:endParaRPr sz="140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F05DF557-9BBE-46E7-8B69-FD51F9C85CAC}"/>
              </a:ext>
            </a:extLst>
          </p:cNvPr>
          <p:cNvSpPr>
            <a:spLocks noGrp="1"/>
          </p:cNvSpPr>
          <p:nvPr/>
        </p:nvSpPr>
        <p:spPr>
          <a:xfrm>
            <a:off x="4937760" y="1737360"/>
            <a:ext cx="3566160" cy="9601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3A4668"/>
                </a:solidFill>
                <a:latin typeface="Arial"/>
                <a:ea typeface="Arial"/>
                <a:cs typeface="Arial"/>
              </a:rPr>
              <a:t>Broader API-management features when they are required.</a:t>
            </a:r>
            <a:endParaRPr sz="1200"/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E0A07DE8-025F-47B0-9505-CFA6B2069DA9}"/>
              </a:ext>
            </a:extLst>
          </p:cNvPr>
          <p:cNvSpPr>
            <a:spLocks noGrp="1"/>
          </p:cNvSpPr>
          <p:nvPr/>
        </p:nvSpPr>
        <p:spPr>
          <a:xfrm>
            <a:off x="457200" y="3017520"/>
            <a:ext cx="3931920" cy="1645920"/>
          </a:xfrm>
          <a:prstGeom prst="rect">
            <a:avLst/>
          </a:prstGeom>
          <a:solidFill>
            <a:srgbClr val="FFF0E0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3" name="Imag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154680"/>
            <a:ext cx="365760" cy="365760"/>
          </a:xfrm>
          <a:prstGeom prst="rect">
            <a:avLst/>
          </a:prstGeom>
        </p:spPr>
      </p:pic>
      <p:sp>
        <p:nvSpPr>
          <p:cNvPr id="13" name="Text 8">
            <a:extLst>
              <a:ext uri="{FF2B5EF4-FFF2-40B4-BE49-F238E27FC236}">
                <a16:creationId xmlns:a16="http://schemas.microsoft.com/office/drawing/2014/main" id="{80C0BEB8-E2BE-4974-ABF1-4FD9A00B69EA}"/>
              </a:ext>
            </a:extLst>
          </p:cNvPr>
          <p:cNvSpPr>
            <a:spLocks noGrp="1"/>
          </p:cNvSpPr>
          <p:nvPr/>
        </p:nvSpPr>
        <p:spPr>
          <a:xfrm>
            <a:off x="1097280" y="3154680"/>
            <a:ext cx="301752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WebSocket</a:t>
            </a:r>
            <a:endParaRPr sz="1400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FDAB976E-D5B3-4C98-B55B-67524596BF7E}"/>
              </a:ext>
            </a:extLst>
          </p:cNvPr>
          <p:cNvSpPr>
            <a:spLocks noGrp="1"/>
          </p:cNvSpPr>
          <p:nvPr/>
        </p:nvSpPr>
        <p:spPr>
          <a:xfrm>
            <a:off x="640080" y="3566160"/>
            <a:ext cx="3566160" cy="9601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3A4668"/>
                </a:solidFill>
                <a:latin typeface="Arial"/>
                <a:ea typeface="Arial"/>
                <a:cs typeface="Arial"/>
              </a:rPr>
              <a:t>Persistent two-way communication with connected clients.</a:t>
            </a:r>
            <a:endParaRPr sz="1200"/>
          </a:p>
        </p:txBody>
      </p:sp>
      <p:sp>
        <p:nvSpPr>
          <p:cNvPr id="15" name="Shape 10">
            <a:extLst>
              <a:ext uri="{FF2B5EF4-FFF2-40B4-BE49-F238E27FC236}">
                <a16:creationId xmlns:a16="http://schemas.microsoft.com/office/drawing/2014/main" id="{0AA166E4-7FA6-45D1-8C0C-49A5772714D6}"/>
              </a:ext>
            </a:extLst>
          </p:cNvPr>
          <p:cNvSpPr>
            <a:spLocks noGrp="1"/>
          </p:cNvSpPr>
          <p:nvPr/>
        </p:nvSpPr>
        <p:spPr>
          <a:xfrm>
            <a:off x="4754880" y="3017520"/>
            <a:ext cx="3931920" cy="1645920"/>
          </a:xfrm>
          <a:prstGeom prst="rect">
            <a:avLst/>
          </a:prstGeom>
          <a:solidFill>
            <a:srgbClr val="F0E8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7" name="Imag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3154680"/>
            <a:ext cx="365760" cy="365760"/>
          </a:xfrm>
          <a:prstGeom prst="rect">
            <a:avLst/>
          </a:prstGeom>
        </p:spPr>
      </p:pic>
      <p:sp>
        <p:nvSpPr>
          <p:cNvPr id="17" name="Text 11">
            <a:extLst>
              <a:ext uri="{FF2B5EF4-FFF2-40B4-BE49-F238E27FC236}">
                <a16:creationId xmlns:a16="http://schemas.microsoft.com/office/drawing/2014/main" id="{46093F22-1708-40BB-9BAB-BE99CF62B8BC}"/>
              </a:ext>
            </a:extLst>
          </p:cNvPr>
          <p:cNvSpPr>
            <a:spLocks noGrp="1"/>
          </p:cNvSpPr>
          <p:nvPr/>
        </p:nvSpPr>
        <p:spPr>
          <a:xfrm>
            <a:off x="5394960" y="3154680"/>
            <a:ext cx="301752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No API Gateway</a:t>
            </a:r>
            <a:endParaRPr sz="1400"/>
          </a:p>
        </p:txBody>
      </p:sp>
      <p:sp>
        <p:nvSpPr>
          <p:cNvPr id="18" name="Text 12">
            <a:extLst>
              <a:ext uri="{FF2B5EF4-FFF2-40B4-BE49-F238E27FC236}">
                <a16:creationId xmlns:a16="http://schemas.microsoft.com/office/drawing/2014/main" id="{78BBDE47-900A-4059-B793-D525709ED891}"/>
              </a:ext>
            </a:extLst>
          </p:cNvPr>
          <p:cNvSpPr>
            <a:spLocks noGrp="1"/>
          </p:cNvSpPr>
          <p:nvPr/>
        </p:nvSpPr>
        <p:spPr>
          <a:xfrm>
            <a:off x="4937760" y="3566160"/>
            <a:ext cx="3566160" cy="9601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3A4668"/>
                </a:solidFill>
                <a:latin typeface="Arial"/>
                <a:ea typeface="Arial"/>
                <a:cs typeface="Arial"/>
              </a:rPr>
              <a:t>Events and AWS services can invoke Lambda directly.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7930971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4A9926A-BBF5-4F03-81A1-E4F29E122C02}"/>
              </a:ext>
            </a:extLst>
          </p:cNvPr>
          <p:cNvSpPr>
            <a:spLocks noGrp="1"/>
          </p:cNvSpPr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6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Lambda Has Runtime Decisions</a:t>
            </a:r>
            <a:endParaRPr sz="36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4F138DC-44BD-463E-808A-8B8C6F0E10E4}"/>
              </a:ext>
            </a:extLst>
          </p:cNvPr>
          <p:cNvSpPr>
            <a:spLocks noGrp="1"/>
          </p:cNvSpPr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5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280160"/>
            <a:ext cx="365760" cy="365760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EE31CED3-420D-4749-99CA-48C2DDE7BB91}"/>
              </a:ext>
            </a:extLst>
          </p:cNvPr>
          <p:cNvSpPr>
            <a:spLocks noGrp="1"/>
          </p:cNvSpPr>
          <p:nvPr/>
        </p:nvSpPr>
        <p:spPr>
          <a:xfrm>
            <a:off x="1097280" y="1188720"/>
            <a:ext cx="7406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 dirty="0">
                <a:solidFill>
                  <a:srgbClr val="3A4668"/>
                </a:solidFill>
                <a:latin typeface="Arial"/>
                <a:ea typeface="Arial"/>
                <a:cs typeface="Arial"/>
              </a:rPr>
              <a:t>Handler </a:t>
            </a:r>
            <a:r>
              <a:rPr lang="en-IN" sz="1400" dirty="0">
                <a:solidFill>
                  <a:srgbClr val="3A4668"/>
                </a:solidFill>
                <a:latin typeface="Arial"/>
                <a:ea typeface="Arial"/>
                <a:cs typeface="Arial"/>
              </a:rPr>
              <a:t>-</a:t>
            </a:r>
            <a:r>
              <a:rPr sz="1400" dirty="0">
                <a:solidFill>
                  <a:srgbClr val="3A4668"/>
                </a:solidFill>
                <a:latin typeface="Arial"/>
                <a:ea typeface="Arial"/>
                <a:cs typeface="Arial"/>
              </a:rPr>
              <a:t> receives an event and returns a result</a:t>
            </a:r>
            <a:endParaRPr sz="1400" dirty="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D5D72294-37DC-46AF-8610-2291D07DA366}"/>
              </a:ext>
            </a:extLst>
          </p:cNvPr>
          <p:cNvSpPr>
            <a:spLocks noGrp="1"/>
          </p:cNvSpPr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solidFill>
            <a:srgbClr val="F4F7FC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8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920240"/>
            <a:ext cx="365760" cy="365760"/>
          </a:xfrm>
          <a:prstGeom prst="rect">
            <a:avLst/>
          </a:prstGeom>
        </p:spPr>
      </p:pic>
      <p:sp>
        <p:nvSpPr>
          <p:cNvPr id="8" name="Text 4">
            <a:extLst>
              <a:ext uri="{FF2B5EF4-FFF2-40B4-BE49-F238E27FC236}">
                <a16:creationId xmlns:a16="http://schemas.microsoft.com/office/drawing/2014/main" id="{73F732F5-85E7-44D0-A244-B772930CEC93}"/>
              </a:ext>
            </a:extLst>
          </p:cNvPr>
          <p:cNvSpPr>
            <a:spLocks noGrp="1"/>
          </p:cNvSpPr>
          <p:nvPr/>
        </p:nvSpPr>
        <p:spPr>
          <a:xfrm>
            <a:off x="1097280" y="1828800"/>
            <a:ext cx="7406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 dirty="0">
                <a:solidFill>
                  <a:srgbClr val="3A4668"/>
                </a:solidFill>
                <a:latin typeface="Arial"/>
                <a:ea typeface="Arial"/>
                <a:cs typeface="Arial"/>
              </a:rPr>
              <a:t>Execution role </a:t>
            </a:r>
            <a:r>
              <a:rPr lang="en-IN" sz="1400" dirty="0">
                <a:solidFill>
                  <a:srgbClr val="3A4668"/>
                </a:solidFill>
                <a:latin typeface="Arial"/>
                <a:ea typeface="Arial"/>
                <a:cs typeface="Arial"/>
              </a:rPr>
              <a:t>-</a:t>
            </a:r>
            <a:r>
              <a:rPr sz="1400" dirty="0">
                <a:solidFill>
                  <a:srgbClr val="3A4668"/>
                </a:solidFill>
                <a:latin typeface="Arial"/>
                <a:ea typeface="Arial"/>
                <a:cs typeface="Arial"/>
              </a:rPr>
              <a:t> grants access to required AWS services</a:t>
            </a:r>
            <a:endParaRPr sz="1400" dirty="0"/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BE6323E5-B6A1-47CA-BB18-7F2B0D471EFD}"/>
              </a:ext>
            </a:extLst>
          </p:cNvPr>
          <p:cNvSpPr>
            <a:spLocks noGrp="1"/>
          </p:cNvSpPr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1" name="Imag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2560320"/>
            <a:ext cx="365760" cy="365760"/>
          </a:xfrm>
          <a:prstGeom prst="rect">
            <a:avLst/>
          </a:prstGeom>
        </p:spPr>
      </p:pic>
      <p:sp>
        <p:nvSpPr>
          <p:cNvPr id="11" name="Text 6">
            <a:extLst>
              <a:ext uri="{FF2B5EF4-FFF2-40B4-BE49-F238E27FC236}">
                <a16:creationId xmlns:a16="http://schemas.microsoft.com/office/drawing/2014/main" id="{624E9D32-704D-4442-B9AF-2610AF107209}"/>
              </a:ext>
            </a:extLst>
          </p:cNvPr>
          <p:cNvSpPr>
            <a:spLocks noGrp="1"/>
          </p:cNvSpPr>
          <p:nvPr/>
        </p:nvSpPr>
        <p:spPr>
          <a:xfrm>
            <a:off x="1097280" y="2468880"/>
            <a:ext cx="7406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 dirty="0">
                <a:solidFill>
                  <a:srgbClr val="3A4668"/>
                </a:solidFill>
                <a:latin typeface="Arial"/>
                <a:ea typeface="Arial"/>
                <a:cs typeface="Arial"/>
              </a:rPr>
              <a:t>Memory and timeout </a:t>
            </a:r>
            <a:r>
              <a:rPr lang="en-IN" sz="1400" dirty="0">
                <a:solidFill>
                  <a:srgbClr val="3A4668"/>
                </a:solidFill>
                <a:latin typeface="Arial"/>
                <a:ea typeface="Arial"/>
                <a:cs typeface="Arial"/>
              </a:rPr>
              <a:t>-</a:t>
            </a:r>
            <a:r>
              <a:rPr sz="1400" dirty="0">
                <a:solidFill>
                  <a:srgbClr val="3A4668"/>
                </a:solidFill>
                <a:latin typeface="Arial"/>
                <a:ea typeface="Arial"/>
                <a:cs typeface="Arial"/>
              </a:rPr>
              <a:t> shape performance and cost</a:t>
            </a:r>
            <a:endParaRPr sz="1400" dirty="0"/>
          </a:p>
        </p:txBody>
      </p:sp>
      <p:sp>
        <p:nvSpPr>
          <p:cNvPr id="12" name="Shape 7">
            <a:extLst>
              <a:ext uri="{FF2B5EF4-FFF2-40B4-BE49-F238E27FC236}">
                <a16:creationId xmlns:a16="http://schemas.microsoft.com/office/drawing/2014/main" id="{D4304CD8-9C43-444C-BB88-720FB33264A2}"/>
              </a:ext>
            </a:extLst>
          </p:cNvPr>
          <p:cNvSpPr>
            <a:spLocks noGrp="1"/>
          </p:cNvSpPr>
          <p:nvPr/>
        </p:nvSpPr>
        <p:spPr>
          <a:xfrm>
            <a:off x="457200" y="3108960"/>
            <a:ext cx="8229600" cy="548640"/>
          </a:xfrm>
          <a:prstGeom prst="rect">
            <a:avLst/>
          </a:prstGeom>
          <a:solidFill>
            <a:srgbClr val="F4F7FC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4" name="Imag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3200400"/>
            <a:ext cx="365760" cy="365760"/>
          </a:xfrm>
          <a:prstGeom prst="rect">
            <a:avLst/>
          </a:prstGeom>
        </p:spPr>
      </p:pic>
      <p:sp>
        <p:nvSpPr>
          <p:cNvPr id="14" name="Text 8">
            <a:extLst>
              <a:ext uri="{FF2B5EF4-FFF2-40B4-BE49-F238E27FC236}">
                <a16:creationId xmlns:a16="http://schemas.microsoft.com/office/drawing/2014/main" id="{3DF9D42A-CC85-445F-AE20-0060049C087F}"/>
              </a:ext>
            </a:extLst>
          </p:cNvPr>
          <p:cNvSpPr>
            <a:spLocks noGrp="1"/>
          </p:cNvSpPr>
          <p:nvPr/>
        </p:nvSpPr>
        <p:spPr>
          <a:xfrm>
            <a:off x="1097280" y="3108960"/>
            <a:ext cx="7406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 dirty="0">
                <a:solidFill>
                  <a:srgbClr val="3A4668"/>
                </a:solidFill>
                <a:latin typeface="Arial"/>
                <a:ea typeface="Arial"/>
                <a:cs typeface="Arial"/>
              </a:rPr>
              <a:t>Concurrency </a:t>
            </a:r>
            <a:r>
              <a:rPr lang="en-IN" sz="1400" dirty="0">
                <a:solidFill>
                  <a:srgbClr val="3A4668"/>
                </a:solidFill>
                <a:latin typeface="Arial"/>
                <a:ea typeface="Arial"/>
                <a:cs typeface="Arial"/>
              </a:rPr>
              <a:t>-</a:t>
            </a:r>
            <a:r>
              <a:rPr sz="1400" dirty="0">
                <a:solidFill>
                  <a:srgbClr val="3A4668"/>
                </a:solidFill>
                <a:latin typeface="Arial"/>
                <a:ea typeface="Arial"/>
                <a:cs typeface="Arial"/>
              </a:rPr>
              <a:t> protects capacity and downstream systems</a:t>
            </a:r>
            <a:endParaRPr sz="1400" dirty="0"/>
          </a:p>
        </p:txBody>
      </p:sp>
      <p:sp>
        <p:nvSpPr>
          <p:cNvPr id="15" name="Shape 9">
            <a:extLst>
              <a:ext uri="{FF2B5EF4-FFF2-40B4-BE49-F238E27FC236}">
                <a16:creationId xmlns:a16="http://schemas.microsoft.com/office/drawing/2014/main" id="{740CBF97-A85B-48D9-BF9E-58EAA0E37923}"/>
              </a:ext>
            </a:extLst>
          </p:cNvPr>
          <p:cNvSpPr>
            <a:spLocks noGrp="1"/>
          </p:cNvSpPr>
          <p:nvPr/>
        </p:nvSpPr>
        <p:spPr>
          <a:xfrm>
            <a:off x="457200" y="3749040"/>
            <a:ext cx="8229600" cy="54864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7" name="Image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" y="3840480"/>
            <a:ext cx="365760" cy="365760"/>
          </a:xfrm>
          <a:prstGeom prst="rect">
            <a:avLst/>
          </a:prstGeom>
        </p:spPr>
      </p:pic>
      <p:sp>
        <p:nvSpPr>
          <p:cNvPr id="17" name="Text 10">
            <a:extLst>
              <a:ext uri="{FF2B5EF4-FFF2-40B4-BE49-F238E27FC236}">
                <a16:creationId xmlns:a16="http://schemas.microsoft.com/office/drawing/2014/main" id="{09C0B66E-121E-4403-97E3-B975FEB07A14}"/>
              </a:ext>
            </a:extLst>
          </p:cNvPr>
          <p:cNvSpPr>
            <a:spLocks noGrp="1"/>
          </p:cNvSpPr>
          <p:nvPr/>
        </p:nvSpPr>
        <p:spPr>
          <a:xfrm>
            <a:off x="1097280" y="3749040"/>
            <a:ext cx="7406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 dirty="0">
                <a:solidFill>
                  <a:srgbClr val="3A4668"/>
                </a:solidFill>
                <a:latin typeface="Arial"/>
                <a:ea typeface="Arial"/>
                <a:cs typeface="Arial"/>
              </a:rPr>
              <a:t>Logs and secrets </a:t>
            </a:r>
            <a:r>
              <a:rPr lang="en-IN" sz="1400" dirty="0">
                <a:solidFill>
                  <a:srgbClr val="3A4668"/>
                </a:solidFill>
                <a:latin typeface="Arial"/>
                <a:ea typeface="Arial"/>
                <a:cs typeface="Arial"/>
              </a:rPr>
              <a:t>-</a:t>
            </a:r>
            <a:r>
              <a:rPr sz="1400" dirty="0">
                <a:solidFill>
                  <a:srgbClr val="3A4668"/>
                </a:solidFill>
                <a:latin typeface="Arial"/>
                <a:ea typeface="Arial"/>
                <a:cs typeface="Arial"/>
              </a:rPr>
              <a:t> observe externally; store secrets safely</a:t>
            </a:r>
            <a:endParaRPr sz="1400" dirty="0"/>
          </a:p>
        </p:txBody>
      </p:sp>
    </p:spTree>
    <p:extLst>
      <p:ext uri="{BB962C8B-B14F-4D97-AF65-F5344CB8AC3E}">
        <p14:creationId xmlns:p14="http://schemas.microsoft.com/office/powerpoint/2010/main" val="2499693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93448BC-5496-4A40-974E-EC283AC9B16E}"/>
              </a:ext>
            </a:extLst>
          </p:cNvPr>
          <p:cNvSpPr>
            <a:spLocks noGrp="1"/>
          </p:cNvSpPr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6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Release Strategy Controls Risk</a:t>
            </a:r>
            <a:endParaRPr sz="36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297DE6D-5241-4BA1-B0A0-D44CF7D54548}"/>
              </a:ext>
            </a:extLst>
          </p:cNvPr>
          <p:cNvSpPr>
            <a:spLocks noGrp="1"/>
          </p:cNvSpPr>
          <p:nvPr/>
        </p:nvSpPr>
        <p:spPr>
          <a:xfrm>
            <a:off x="457200" y="1188720"/>
            <a:ext cx="3931920" cy="1645920"/>
          </a:xfrm>
          <a:prstGeom prst="rect">
            <a:avLst/>
          </a:prstGeom>
          <a:solidFill>
            <a:srgbClr val="E8EE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5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365760" cy="365760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2F3C7858-E454-4839-9043-F12B2134C42C}"/>
              </a:ext>
            </a:extLst>
          </p:cNvPr>
          <p:cNvSpPr>
            <a:spLocks noGrp="1"/>
          </p:cNvSpPr>
          <p:nvPr/>
        </p:nvSpPr>
        <p:spPr>
          <a:xfrm>
            <a:off x="1097280" y="1325880"/>
            <a:ext cx="301752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Rolling</a:t>
            </a:r>
            <a:endParaRPr sz="140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453DFC80-4141-470B-91C3-8C3A95340D57}"/>
              </a:ext>
            </a:extLst>
          </p:cNvPr>
          <p:cNvSpPr>
            <a:spLocks noGrp="1"/>
          </p:cNvSpPr>
          <p:nvPr/>
        </p:nvSpPr>
        <p:spPr>
          <a:xfrm>
            <a:off x="640080" y="1737360"/>
            <a:ext cx="3566160" cy="9601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3A4668"/>
                </a:solidFill>
                <a:latin typeface="Arial"/>
                <a:ea typeface="Arial"/>
                <a:cs typeface="Arial"/>
              </a:rPr>
              <a:t>Replace capacity in batches; old and new versions coexist.</a:t>
            </a:r>
            <a:endParaRPr sz="120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7E32F17E-ED24-4EA0-B874-52944F4EA7DA}"/>
              </a:ext>
            </a:extLst>
          </p:cNvPr>
          <p:cNvSpPr>
            <a:spLocks noGrp="1"/>
          </p:cNvSpPr>
          <p:nvPr/>
        </p:nvSpPr>
        <p:spPr>
          <a:xfrm>
            <a:off x="4754880" y="1188720"/>
            <a:ext cx="3931920" cy="1645920"/>
          </a:xfrm>
          <a:prstGeom prst="rect">
            <a:avLst/>
          </a:prstGeom>
          <a:solidFill>
            <a:srgbClr val="E8F8F0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9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325880"/>
            <a:ext cx="365760" cy="365760"/>
          </a:xfrm>
          <a:prstGeom prst="rect">
            <a:avLst/>
          </a:prstGeom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D7719CF8-0D7D-4414-835C-668DF8346E54}"/>
              </a:ext>
            </a:extLst>
          </p:cNvPr>
          <p:cNvSpPr>
            <a:spLocks noGrp="1"/>
          </p:cNvSpPr>
          <p:nvPr/>
        </p:nvSpPr>
        <p:spPr>
          <a:xfrm>
            <a:off x="5394960" y="1325880"/>
            <a:ext cx="301752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Blue/green</a:t>
            </a:r>
            <a:endParaRPr sz="140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F05DF557-9BBE-46E7-8B69-FD51F9C85CAC}"/>
              </a:ext>
            </a:extLst>
          </p:cNvPr>
          <p:cNvSpPr>
            <a:spLocks noGrp="1"/>
          </p:cNvSpPr>
          <p:nvPr/>
        </p:nvSpPr>
        <p:spPr>
          <a:xfrm>
            <a:off x="4937760" y="1737360"/>
            <a:ext cx="3566160" cy="9601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3A4668"/>
                </a:solidFill>
                <a:latin typeface="Arial"/>
                <a:ea typeface="Arial"/>
                <a:cs typeface="Arial"/>
              </a:rPr>
              <a:t>Switch environments for isolation and fast rollback.</a:t>
            </a:r>
            <a:endParaRPr sz="1200"/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E0A07DE8-025F-47B0-9505-CFA6B2069DA9}"/>
              </a:ext>
            </a:extLst>
          </p:cNvPr>
          <p:cNvSpPr>
            <a:spLocks noGrp="1"/>
          </p:cNvSpPr>
          <p:nvPr/>
        </p:nvSpPr>
        <p:spPr>
          <a:xfrm>
            <a:off x="457200" y="3017520"/>
            <a:ext cx="3931920" cy="1645920"/>
          </a:xfrm>
          <a:prstGeom prst="rect">
            <a:avLst/>
          </a:prstGeom>
          <a:solidFill>
            <a:srgbClr val="FFF0E0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3" name="Imag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154680"/>
            <a:ext cx="365760" cy="365760"/>
          </a:xfrm>
          <a:prstGeom prst="rect">
            <a:avLst/>
          </a:prstGeom>
        </p:spPr>
      </p:pic>
      <p:sp>
        <p:nvSpPr>
          <p:cNvPr id="13" name="Text 8">
            <a:extLst>
              <a:ext uri="{FF2B5EF4-FFF2-40B4-BE49-F238E27FC236}">
                <a16:creationId xmlns:a16="http://schemas.microsoft.com/office/drawing/2014/main" id="{80C0BEB8-E2BE-4974-ABF1-4FD9A00B69EA}"/>
              </a:ext>
            </a:extLst>
          </p:cNvPr>
          <p:cNvSpPr>
            <a:spLocks noGrp="1"/>
          </p:cNvSpPr>
          <p:nvPr/>
        </p:nvSpPr>
        <p:spPr>
          <a:xfrm>
            <a:off x="1097280" y="3154680"/>
            <a:ext cx="301752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Canary</a:t>
            </a:r>
            <a:endParaRPr sz="1400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FDAB976E-D5B3-4C98-B55B-67524596BF7E}"/>
              </a:ext>
            </a:extLst>
          </p:cNvPr>
          <p:cNvSpPr>
            <a:spLocks noGrp="1"/>
          </p:cNvSpPr>
          <p:nvPr/>
        </p:nvSpPr>
        <p:spPr>
          <a:xfrm>
            <a:off x="640080" y="3566160"/>
            <a:ext cx="3566160" cy="9601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3A4668"/>
                </a:solidFill>
                <a:latin typeface="Arial"/>
                <a:ea typeface="Arial"/>
                <a:cs typeface="Arial"/>
              </a:rPr>
              <a:t>Send limited traffic first and expand only on evidence.</a:t>
            </a:r>
            <a:endParaRPr sz="1200"/>
          </a:p>
        </p:txBody>
      </p:sp>
      <p:sp>
        <p:nvSpPr>
          <p:cNvPr id="15" name="Shape 10">
            <a:extLst>
              <a:ext uri="{FF2B5EF4-FFF2-40B4-BE49-F238E27FC236}">
                <a16:creationId xmlns:a16="http://schemas.microsoft.com/office/drawing/2014/main" id="{0AA166E4-7FA6-45D1-8C0C-49A5772714D6}"/>
              </a:ext>
            </a:extLst>
          </p:cNvPr>
          <p:cNvSpPr>
            <a:spLocks noGrp="1"/>
          </p:cNvSpPr>
          <p:nvPr/>
        </p:nvSpPr>
        <p:spPr>
          <a:xfrm>
            <a:off x="4754880" y="3017520"/>
            <a:ext cx="3931920" cy="1645920"/>
          </a:xfrm>
          <a:prstGeom prst="rect">
            <a:avLst/>
          </a:prstGeom>
          <a:solidFill>
            <a:srgbClr val="F0E8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7" name="Imag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3154680"/>
            <a:ext cx="365760" cy="365760"/>
          </a:xfrm>
          <a:prstGeom prst="rect">
            <a:avLst/>
          </a:prstGeom>
        </p:spPr>
      </p:pic>
      <p:sp>
        <p:nvSpPr>
          <p:cNvPr id="17" name="Text 11">
            <a:extLst>
              <a:ext uri="{FF2B5EF4-FFF2-40B4-BE49-F238E27FC236}">
                <a16:creationId xmlns:a16="http://schemas.microsoft.com/office/drawing/2014/main" id="{46093F22-1708-40BB-9BAB-BE99CF62B8BC}"/>
              </a:ext>
            </a:extLst>
          </p:cNvPr>
          <p:cNvSpPr>
            <a:spLocks noGrp="1"/>
          </p:cNvSpPr>
          <p:nvPr/>
        </p:nvSpPr>
        <p:spPr>
          <a:xfrm>
            <a:off x="5394960" y="3154680"/>
            <a:ext cx="301752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All-at-once</a:t>
            </a:r>
            <a:endParaRPr sz="1400"/>
          </a:p>
        </p:txBody>
      </p:sp>
      <p:sp>
        <p:nvSpPr>
          <p:cNvPr id="18" name="Text 12">
            <a:extLst>
              <a:ext uri="{FF2B5EF4-FFF2-40B4-BE49-F238E27FC236}">
                <a16:creationId xmlns:a16="http://schemas.microsoft.com/office/drawing/2014/main" id="{78BBDE47-900A-4059-B793-D525709ED891}"/>
              </a:ext>
            </a:extLst>
          </p:cNvPr>
          <p:cNvSpPr>
            <a:spLocks noGrp="1"/>
          </p:cNvSpPr>
          <p:nvPr/>
        </p:nvSpPr>
        <p:spPr>
          <a:xfrm>
            <a:off x="4937760" y="3566160"/>
            <a:ext cx="3566160" cy="9601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3A4668"/>
                </a:solidFill>
                <a:latin typeface="Arial"/>
                <a:ea typeface="Arial"/>
                <a:cs typeface="Arial"/>
              </a:rPr>
              <a:t>Fast and simple, with the largest blast radius.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7930971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4FC542E-283C-47A0-8F4A-72AC543E71F1}"/>
              </a:ext>
            </a:extLst>
          </p:cNvPr>
          <p:cNvSpPr>
            <a:spLocks noGrp="1"/>
          </p:cNvSpPr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6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A Safe Release Uses Evidence</a:t>
            </a:r>
            <a:endParaRPr sz="36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E6B5728-0373-4ED9-B86F-20C0E2E50882}"/>
              </a:ext>
            </a:extLst>
          </p:cNvPr>
          <p:cNvSpPr>
            <a:spLocks noGrp="1"/>
          </p:cNvSpPr>
          <p:nvPr/>
        </p:nvSpPr>
        <p:spPr>
          <a:xfrm>
            <a:off x="457200" y="1188720"/>
            <a:ext cx="8229600" cy="621792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7202F3A-E006-4DCD-A800-A1362C2DB38B}"/>
              </a:ext>
            </a:extLst>
          </p:cNvPr>
          <p:cNvSpPr>
            <a:spLocks noGrp="1"/>
          </p:cNvSpPr>
          <p:nvPr/>
        </p:nvSpPr>
        <p:spPr>
          <a:xfrm>
            <a:off x="594360" y="1298448"/>
            <a:ext cx="402336" cy="402336"/>
          </a:xfrm>
          <a:prstGeom prst="ellipse">
            <a:avLst/>
          </a:prstGeom>
          <a:solidFill>
            <a:srgbClr val="326CE5"/>
          </a:solidFill>
        </p:spPr>
        <p:txBody>
          <a:bodyPr/>
          <a:lstStyle/>
          <a:p>
            <a:endParaRPr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C7018D5-5858-4E53-81B5-EF107AA855DA}"/>
              </a:ext>
            </a:extLst>
          </p:cNvPr>
          <p:cNvSpPr>
            <a:spLocks noGrp="1"/>
          </p:cNvSpPr>
          <p:nvPr/>
        </p:nvSpPr>
        <p:spPr>
          <a:xfrm>
            <a:off x="594360" y="1298448"/>
            <a:ext cx="402336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sz="1400"/>
          </a:p>
        </p:txBody>
      </p:sp>
      <p:pic>
        <p:nvPicPr>
          <p:cNvPr id="37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335024"/>
            <a:ext cx="329184" cy="329184"/>
          </a:xfrm>
          <a:prstGeom prst="rect">
            <a:avLst/>
          </a:prstGeom>
        </p:spPr>
      </p:pic>
      <p:sp>
        <p:nvSpPr>
          <p:cNvPr id="7" name="Text 4">
            <a:extLst>
              <a:ext uri="{FF2B5EF4-FFF2-40B4-BE49-F238E27FC236}">
                <a16:creationId xmlns:a16="http://schemas.microsoft.com/office/drawing/2014/main" id="{89E8635B-D831-4F85-AC31-7396032DD2ED}"/>
              </a:ext>
            </a:extLst>
          </p:cNvPr>
          <p:cNvSpPr>
            <a:spLocks noGrp="1"/>
          </p:cNvSpPr>
          <p:nvPr/>
        </p:nvSpPr>
        <p:spPr>
          <a:xfrm>
            <a:off x="1600200" y="1188720"/>
            <a:ext cx="6858000" cy="62179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300">
                <a:solidFill>
                  <a:srgbClr val="3A4668"/>
                </a:solidFill>
                <a:latin typeface="Arial"/>
                <a:ea typeface="Arial"/>
                <a:cs typeface="Arial"/>
              </a:rPr>
              <a:t>Define success metrics and a rollback threshold</a:t>
            </a:r>
            <a:endParaRPr sz="130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EC245BCD-BB19-490D-A6EC-3519AF3773DD}"/>
              </a:ext>
            </a:extLst>
          </p:cNvPr>
          <p:cNvSpPr>
            <a:spLocks noGrp="1"/>
          </p:cNvSpPr>
          <p:nvPr/>
        </p:nvSpPr>
        <p:spPr>
          <a:xfrm>
            <a:off x="457200" y="1883664"/>
            <a:ext cx="8229600" cy="621792"/>
          </a:xfrm>
          <a:prstGeom prst="rect">
            <a:avLst/>
          </a:prstGeom>
          <a:solidFill>
            <a:srgbClr val="F4F7FC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A47E224A-68A3-4151-A57B-E6E788861AA4}"/>
              </a:ext>
            </a:extLst>
          </p:cNvPr>
          <p:cNvSpPr>
            <a:spLocks noGrp="1"/>
          </p:cNvSpPr>
          <p:nvPr/>
        </p:nvSpPr>
        <p:spPr>
          <a:xfrm>
            <a:off x="594360" y="1993392"/>
            <a:ext cx="402336" cy="402336"/>
          </a:xfrm>
          <a:prstGeom prst="ellipse">
            <a:avLst/>
          </a:prstGeom>
          <a:solidFill>
            <a:srgbClr val="326CE5"/>
          </a:solidFill>
        </p:spPr>
        <p:txBody>
          <a:bodyPr/>
          <a:lstStyle/>
          <a:p>
            <a:endParaRPr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BCE62FB5-125C-4DC2-ABFC-269940C82320}"/>
              </a:ext>
            </a:extLst>
          </p:cNvPr>
          <p:cNvSpPr>
            <a:spLocks noGrp="1"/>
          </p:cNvSpPr>
          <p:nvPr/>
        </p:nvSpPr>
        <p:spPr>
          <a:xfrm>
            <a:off x="594360" y="1993392"/>
            <a:ext cx="402336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1400"/>
          </a:p>
        </p:txBody>
      </p:sp>
      <p:pic>
        <p:nvPicPr>
          <p:cNvPr id="42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2029968"/>
            <a:ext cx="329184" cy="329184"/>
          </a:xfrm>
          <a:prstGeom prst="rect">
            <a:avLst/>
          </a:prstGeom>
        </p:spPr>
      </p:pic>
      <p:sp>
        <p:nvSpPr>
          <p:cNvPr id="12" name="Text 8">
            <a:extLst>
              <a:ext uri="{FF2B5EF4-FFF2-40B4-BE49-F238E27FC236}">
                <a16:creationId xmlns:a16="http://schemas.microsoft.com/office/drawing/2014/main" id="{3C18A028-3041-414C-97FA-2DB5874AC85D}"/>
              </a:ext>
            </a:extLst>
          </p:cNvPr>
          <p:cNvSpPr>
            <a:spLocks noGrp="1"/>
          </p:cNvSpPr>
          <p:nvPr/>
        </p:nvSpPr>
        <p:spPr>
          <a:xfrm>
            <a:off x="1600200" y="1883664"/>
            <a:ext cx="6858000" cy="62179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300">
                <a:solidFill>
                  <a:srgbClr val="3A4668"/>
                </a:solidFill>
                <a:latin typeface="Arial"/>
                <a:ea typeface="Arial"/>
                <a:cs typeface="Arial"/>
              </a:rPr>
              <a:t>Deploy the new version with backward-compatible changes</a:t>
            </a:r>
            <a:endParaRPr sz="1300"/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599E1308-2B14-4644-9D34-AD1F44CB6E95}"/>
              </a:ext>
            </a:extLst>
          </p:cNvPr>
          <p:cNvSpPr>
            <a:spLocks noGrp="1"/>
          </p:cNvSpPr>
          <p:nvPr/>
        </p:nvSpPr>
        <p:spPr>
          <a:xfrm>
            <a:off x="457200" y="2578608"/>
            <a:ext cx="8229600" cy="621792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483A3FA5-9F11-470A-9278-16C77E9E9BE7}"/>
              </a:ext>
            </a:extLst>
          </p:cNvPr>
          <p:cNvSpPr>
            <a:spLocks noGrp="1"/>
          </p:cNvSpPr>
          <p:nvPr/>
        </p:nvSpPr>
        <p:spPr>
          <a:xfrm>
            <a:off x="594360" y="2688336"/>
            <a:ext cx="402336" cy="402336"/>
          </a:xfrm>
          <a:prstGeom prst="ellipse">
            <a:avLst/>
          </a:prstGeom>
          <a:solidFill>
            <a:srgbClr val="326CE5"/>
          </a:solidFill>
        </p:spPr>
        <p:txBody>
          <a:bodyPr/>
          <a:lstStyle/>
          <a:p>
            <a:endParaRPr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778AB330-59B5-41F8-B637-DC50102FB89A}"/>
              </a:ext>
            </a:extLst>
          </p:cNvPr>
          <p:cNvSpPr>
            <a:spLocks noGrp="1"/>
          </p:cNvSpPr>
          <p:nvPr/>
        </p:nvSpPr>
        <p:spPr>
          <a:xfrm>
            <a:off x="594360" y="2688336"/>
            <a:ext cx="402336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1400"/>
          </a:p>
        </p:txBody>
      </p:sp>
      <p:pic>
        <p:nvPicPr>
          <p:cNvPr id="47" name="Imag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2724912"/>
            <a:ext cx="329184" cy="329184"/>
          </a:xfrm>
          <a:prstGeom prst="rect">
            <a:avLst/>
          </a:prstGeom>
        </p:spPr>
      </p:pic>
      <p:sp>
        <p:nvSpPr>
          <p:cNvPr id="17" name="Text 12">
            <a:extLst>
              <a:ext uri="{FF2B5EF4-FFF2-40B4-BE49-F238E27FC236}">
                <a16:creationId xmlns:a16="http://schemas.microsoft.com/office/drawing/2014/main" id="{0E7B86F5-0490-4913-9A79-465659D3FBC6}"/>
              </a:ext>
            </a:extLst>
          </p:cNvPr>
          <p:cNvSpPr>
            <a:spLocks noGrp="1"/>
          </p:cNvSpPr>
          <p:nvPr/>
        </p:nvSpPr>
        <p:spPr>
          <a:xfrm>
            <a:off x="1600200" y="2578608"/>
            <a:ext cx="6858000" cy="62179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300">
                <a:solidFill>
                  <a:srgbClr val="3A4668"/>
                </a:solidFill>
                <a:latin typeface="Arial"/>
                <a:ea typeface="Arial"/>
                <a:cs typeface="Arial"/>
              </a:rPr>
              <a:t>Send limited traffic to the new version</a:t>
            </a:r>
            <a:endParaRPr sz="1300"/>
          </a:p>
        </p:txBody>
      </p:sp>
      <p:sp>
        <p:nvSpPr>
          <p:cNvPr id="18" name="Shape 13">
            <a:extLst>
              <a:ext uri="{FF2B5EF4-FFF2-40B4-BE49-F238E27FC236}">
                <a16:creationId xmlns:a16="http://schemas.microsoft.com/office/drawing/2014/main" id="{82C673F4-AE84-4CCC-B54B-AF84B4F93A76}"/>
              </a:ext>
            </a:extLst>
          </p:cNvPr>
          <p:cNvSpPr>
            <a:spLocks noGrp="1"/>
          </p:cNvSpPr>
          <p:nvPr/>
        </p:nvSpPr>
        <p:spPr>
          <a:xfrm>
            <a:off x="457200" y="3273552"/>
            <a:ext cx="8229600" cy="621792"/>
          </a:xfrm>
          <a:prstGeom prst="rect">
            <a:avLst/>
          </a:prstGeom>
          <a:solidFill>
            <a:srgbClr val="F4F7FC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4">
            <a:extLst>
              <a:ext uri="{FF2B5EF4-FFF2-40B4-BE49-F238E27FC236}">
                <a16:creationId xmlns:a16="http://schemas.microsoft.com/office/drawing/2014/main" id="{26DC079D-45C7-495F-A921-6284CE47727C}"/>
              </a:ext>
            </a:extLst>
          </p:cNvPr>
          <p:cNvSpPr>
            <a:spLocks noGrp="1"/>
          </p:cNvSpPr>
          <p:nvPr/>
        </p:nvSpPr>
        <p:spPr>
          <a:xfrm>
            <a:off x="594360" y="3383280"/>
            <a:ext cx="402336" cy="402336"/>
          </a:xfrm>
          <a:prstGeom prst="ellipse">
            <a:avLst/>
          </a:prstGeom>
          <a:solidFill>
            <a:srgbClr val="326CE5"/>
          </a:solidFill>
        </p:spPr>
        <p:txBody>
          <a:bodyPr/>
          <a:lstStyle/>
          <a:p>
            <a:endParaRPr/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6E5E7755-59EF-406F-8255-200D297B7195}"/>
              </a:ext>
            </a:extLst>
          </p:cNvPr>
          <p:cNvSpPr>
            <a:spLocks noGrp="1"/>
          </p:cNvSpPr>
          <p:nvPr/>
        </p:nvSpPr>
        <p:spPr>
          <a:xfrm>
            <a:off x="594360" y="3383280"/>
            <a:ext cx="402336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1400"/>
          </a:p>
        </p:txBody>
      </p:sp>
      <p:pic>
        <p:nvPicPr>
          <p:cNvPr id="52" name="Imag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3419856"/>
            <a:ext cx="329184" cy="329184"/>
          </a:xfrm>
          <a:prstGeom prst="rect">
            <a:avLst/>
          </a:prstGeom>
        </p:spPr>
      </p:pic>
      <p:sp>
        <p:nvSpPr>
          <p:cNvPr id="22" name="Text 16">
            <a:extLst>
              <a:ext uri="{FF2B5EF4-FFF2-40B4-BE49-F238E27FC236}">
                <a16:creationId xmlns:a16="http://schemas.microsoft.com/office/drawing/2014/main" id="{792C3370-11EE-452A-A80E-71194B30C0BB}"/>
              </a:ext>
            </a:extLst>
          </p:cNvPr>
          <p:cNvSpPr>
            <a:spLocks noGrp="1"/>
          </p:cNvSpPr>
          <p:nvPr/>
        </p:nvSpPr>
        <p:spPr>
          <a:xfrm>
            <a:off x="1600200" y="3273552"/>
            <a:ext cx="6858000" cy="62179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300">
                <a:solidFill>
                  <a:srgbClr val="3A4668"/>
                </a:solidFill>
                <a:latin typeface="Arial"/>
                <a:ea typeface="Arial"/>
                <a:cs typeface="Arial"/>
              </a:rPr>
              <a:t>Observe errors, latency and business metrics</a:t>
            </a:r>
            <a:endParaRPr sz="1300"/>
          </a:p>
        </p:txBody>
      </p:sp>
      <p:sp>
        <p:nvSpPr>
          <p:cNvPr id="23" name="Shape 17">
            <a:extLst>
              <a:ext uri="{FF2B5EF4-FFF2-40B4-BE49-F238E27FC236}">
                <a16:creationId xmlns:a16="http://schemas.microsoft.com/office/drawing/2014/main" id="{04082C8E-9F42-4404-95D2-54702699EB37}"/>
              </a:ext>
            </a:extLst>
          </p:cNvPr>
          <p:cNvSpPr>
            <a:spLocks noGrp="1"/>
          </p:cNvSpPr>
          <p:nvPr/>
        </p:nvSpPr>
        <p:spPr>
          <a:xfrm>
            <a:off x="457200" y="3968496"/>
            <a:ext cx="8229600" cy="621792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4" name="Shape 18">
            <a:extLst>
              <a:ext uri="{FF2B5EF4-FFF2-40B4-BE49-F238E27FC236}">
                <a16:creationId xmlns:a16="http://schemas.microsoft.com/office/drawing/2014/main" id="{BB5C4D43-B3F8-4E0D-A046-89CD8C4922CF}"/>
              </a:ext>
            </a:extLst>
          </p:cNvPr>
          <p:cNvSpPr>
            <a:spLocks noGrp="1"/>
          </p:cNvSpPr>
          <p:nvPr/>
        </p:nvSpPr>
        <p:spPr>
          <a:xfrm>
            <a:off x="594360" y="4078224"/>
            <a:ext cx="402336" cy="402336"/>
          </a:xfrm>
          <a:prstGeom prst="ellipse">
            <a:avLst/>
          </a:prstGeom>
          <a:solidFill>
            <a:srgbClr val="326CE5"/>
          </a:solidFill>
        </p:spPr>
        <p:txBody>
          <a:bodyPr/>
          <a:lstStyle/>
          <a:p>
            <a:endParaRPr/>
          </a:p>
        </p:txBody>
      </p:sp>
      <p:sp>
        <p:nvSpPr>
          <p:cNvPr id="25" name="Text 19">
            <a:extLst>
              <a:ext uri="{FF2B5EF4-FFF2-40B4-BE49-F238E27FC236}">
                <a16:creationId xmlns:a16="http://schemas.microsoft.com/office/drawing/2014/main" id="{3083BC84-227F-4B39-B769-FF87DB01F785}"/>
              </a:ext>
            </a:extLst>
          </p:cNvPr>
          <p:cNvSpPr>
            <a:spLocks noGrp="1"/>
          </p:cNvSpPr>
          <p:nvPr/>
        </p:nvSpPr>
        <p:spPr>
          <a:xfrm>
            <a:off x="594360" y="4078224"/>
            <a:ext cx="402336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  <a:endParaRPr sz="1400"/>
          </a:p>
        </p:txBody>
      </p:sp>
      <p:pic>
        <p:nvPicPr>
          <p:cNvPr id="57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4114800"/>
            <a:ext cx="329184" cy="329184"/>
          </a:xfrm>
          <a:prstGeom prst="rect">
            <a:avLst/>
          </a:prstGeom>
        </p:spPr>
      </p:pic>
      <p:sp>
        <p:nvSpPr>
          <p:cNvPr id="27" name="Text 20">
            <a:extLst>
              <a:ext uri="{FF2B5EF4-FFF2-40B4-BE49-F238E27FC236}">
                <a16:creationId xmlns:a16="http://schemas.microsoft.com/office/drawing/2014/main" id="{AB1D5C90-E157-4EF4-80C5-CCD53FC82AD6}"/>
              </a:ext>
            </a:extLst>
          </p:cNvPr>
          <p:cNvSpPr>
            <a:spLocks noGrp="1"/>
          </p:cNvSpPr>
          <p:nvPr/>
        </p:nvSpPr>
        <p:spPr>
          <a:xfrm>
            <a:off x="1600200" y="3968496"/>
            <a:ext cx="6858000" cy="62179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300">
                <a:solidFill>
                  <a:srgbClr val="3A4668"/>
                </a:solidFill>
                <a:latin typeface="Arial"/>
                <a:ea typeface="Arial"/>
                <a:cs typeface="Arial"/>
              </a:rPr>
              <a:t>Promote while healthy—or roll back quickly</a:t>
            </a:r>
            <a:endParaRPr sz="1300"/>
          </a:p>
        </p:txBody>
      </p:sp>
    </p:spTree>
    <p:extLst>
      <p:ext uri="{BB962C8B-B14F-4D97-AF65-F5344CB8AC3E}">
        <p14:creationId xmlns:p14="http://schemas.microsoft.com/office/powerpoint/2010/main" val="4614707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910047"/>
            <a:ext cx="1188720" cy="118872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1011CAA0-C8A6-4090-B09D-01F9D5A0FEC5}"/>
              </a:ext>
            </a:extLst>
          </p:cNvPr>
          <p:cNvSpPr>
            <a:spLocks noGrp="1"/>
          </p:cNvSpPr>
          <p:nvPr/>
        </p:nvSpPr>
        <p:spPr>
          <a:xfrm>
            <a:off x="457200" y="2281647"/>
            <a:ext cx="822960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000" b="1" i="0" u="none" cap="none" spc="0" dirty="0">
                <a:ln>
                  <a:noFill/>
                </a:ln>
                <a:solidFill>
                  <a:srgbClr val="FFFFFF"/>
                </a:solidFill>
                <a:latin typeface="Arial"/>
                <a:ea typeface="Arial"/>
                <a:cs typeface="Arial"/>
              </a:rPr>
              <a:t>3  Optimization &amp; Recovery</a:t>
            </a:r>
            <a:endParaRPr sz="4000" b="0" i="0" u="none" kern="1200" cap="none" spc="0" baseline="0" dirty="0">
              <a:ln>
                <a:noFill/>
              </a:ln>
              <a:solidFill>
                <a:prstClr val="black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871029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93448BC-5496-4A40-974E-EC283AC9B16E}"/>
              </a:ext>
            </a:extLst>
          </p:cNvPr>
          <p:cNvSpPr>
            <a:spLocks noGrp="1"/>
          </p:cNvSpPr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6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Optimize Against Requirements</a:t>
            </a:r>
            <a:endParaRPr sz="36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297DE6D-5241-4BA1-B0A0-D44CF7D54548}"/>
              </a:ext>
            </a:extLst>
          </p:cNvPr>
          <p:cNvSpPr>
            <a:spLocks noGrp="1"/>
          </p:cNvSpPr>
          <p:nvPr/>
        </p:nvSpPr>
        <p:spPr>
          <a:xfrm>
            <a:off x="457200" y="1188720"/>
            <a:ext cx="3931920" cy="1645920"/>
          </a:xfrm>
          <a:prstGeom prst="rect">
            <a:avLst/>
          </a:prstGeom>
          <a:solidFill>
            <a:srgbClr val="E8EE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5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365760" cy="365760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2F3C7858-E454-4839-9043-F12B2134C42C}"/>
              </a:ext>
            </a:extLst>
          </p:cNvPr>
          <p:cNvSpPr>
            <a:spLocks noGrp="1"/>
          </p:cNvSpPr>
          <p:nvPr/>
        </p:nvSpPr>
        <p:spPr>
          <a:xfrm>
            <a:off x="1097280" y="1325880"/>
            <a:ext cx="301752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Latency</a:t>
            </a:r>
            <a:endParaRPr sz="140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453DFC80-4141-470B-91C3-8C3A95340D57}"/>
              </a:ext>
            </a:extLst>
          </p:cNvPr>
          <p:cNvSpPr>
            <a:spLocks noGrp="1"/>
          </p:cNvSpPr>
          <p:nvPr/>
        </p:nvSpPr>
        <p:spPr>
          <a:xfrm>
            <a:off x="640080" y="1737360"/>
            <a:ext cx="3566160" cy="9601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3A4668"/>
                </a:solidFill>
                <a:latin typeface="Arial"/>
                <a:ea typeface="Arial"/>
                <a:cs typeface="Arial"/>
              </a:rPr>
              <a:t>What response time and throughput do users require?</a:t>
            </a:r>
            <a:endParaRPr sz="120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7E32F17E-ED24-4EA0-B874-52944F4EA7DA}"/>
              </a:ext>
            </a:extLst>
          </p:cNvPr>
          <p:cNvSpPr>
            <a:spLocks noGrp="1"/>
          </p:cNvSpPr>
          <p:nvPr/>
        </p:nvSpPr>
        <p:spPr>
          <a:xfrm>
            <a:off x="4754880" y="1188720"/>
            <a:ext cx="3931920" cy="1645920"/>
          </a:xfrm>
          <a:prstGeom prst="rect">
            <a:avLst/>
          </a:prstGeom>
          <a:solidFill>
            <a:srgbClr val="E8F8F0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9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325880"/>
            <a:ext cx="365760" cy="365760"/>
          </a:xfrm>
          <a:prstGeom prst="rect">
            <a:avLst/>
          </a:prstGeom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D7719CF8-0D7D-4414-835C-668DF8346E54}"/>
              </a:ext>
            </a:extLst>
          </p:cNvPr>
          <p:cNvSpPr>
            <a:spLocks noGrp="1"/>
          </p:cNvSpPr>
          <p:nvPr/>
        </p:nvSpPr>
        <p:spPr>
          <a:xfrm>
            <a:off x="5394960" y="1325880"/>
            <a:ext cx="301752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Demand</a:t>
            </a:r>
            <a:endParaRPr sz="140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F05DF557-9BBE-46E7-8B69-FD51F9C85CAC}"/>
              </a:ext>
            </a:extLst>
          </p:cNvPr>
          <p:cNvSpPr>
            <a:spLocks noGrp="1"/>
          </p:cNvSpPr>
          <p:nvPr/>
        </p:nvSpPr>
        <p:spPr>
          <a:xfrm>
            <a:off x="4937760" y="1737360"/>
            <a:ext cx="3566160" cy="9601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3A4668"/>
                </a:solidFill>
                <a:latin typeface="Arial"/>
                <a:ea typeface="Arial"/>
                <a:cs typeface="Arial"/>
              </a:rPr>
              <a:t>Is traffic steady, predictable or sharply variable?</a:t>
            </a:r>
            <a:endParaRPr sz="1200"/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E0A07DE8-025F-47B0-9505-CFA6B2069DA9}"/>
              </a:ext>
            </a:extLst>
          </p:cNvPr>
          <p:cNvSpPr>
            <a:spLocks noGrp="1"/>
          </p:cNvSpPr>
          <p:nvPr/>
        </p:nvSpPr>
        <p:spPr>
          <a:xfrm>
            <a:off x="457200" y="3017520"/>
            <a:ext cx="3931920" cy="1645920"/>
          </a:xfrm>
          <a:prstGeom prst="rect">
            <a:avLst/>
          </a:prstGeom>
          <a:solidFill>
            <a:srgbClr val="FFF0E0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3" name="Imag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154680"/>
            <a:ext cx="365760" cy="365760"/>
          </a:xfrm>
          <a:prstGeom prst="rect">
            <a:avLst/>
          </a:prstGeom>
        </p:spPr>
      </p:pic>
      <p:sp>
        <p:nvSpPr>
          <p:cNvPr id="13" name="Text 8">
            <a:extLst>
              <a:ext uri="{FF2B5EF4-FFF2-40B4-BE49-F238E27FC236}">
                <a16:creationId xmlns:a16="http://schemas.microsoft.com/office/drawing/2014/main" id="{80C0BEB8-E2BE-4974-ABF1-4FD9A00B69EA}"/>
              </a:ext>
            </a:extLst>
          </p:cNvPr>
          <p:cNvSpPr>
            <a:spLocks noGrp="1"/>
          </p:cNvSpPr>
          <p:nvPr/>
        </p:nvSpPr>
        <p:spPr>
          <a:xfrm>
            <a:off x="1097280" y="3154680"/>
            <a:ext cx="301752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Recovery</a:t>
            </a:r>
            <a:endParaRPr sz="1400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FDAB976E-D5B3-4C98-B55B-67524596BF7E}"/>
              </a:ext>
            </a:extLst>
          </p:cNvPr>
          <p:cNvSpPr>
            <a:spLocks noGrp="1"/>
          </p:cNvSpPr>
          <p:nvPr/>
        </p:nvSpPr>
        <p:spPr>
          <a:xfrm>
            <a:off x="640080" y="3566160"/>
            <a:ext cx="3566160" cy="9601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3A4668"/>
                </a:solidFill>
                <a:latin typeface="Arial"/>
                <a:ea typeface="Arial"/>
                <a:cs typeface="Arial"/>
              </a:rPr>
              <a:t>How much data loss and downtime are acceptable?</a:t>
            </a:r>
            <a:endParaRPr sz="1200"/>
          </a:p>
        </p:txBody>
      </p:sp>
      <p:sp>
        <p:nvSpPr>
          <p:cNvPr id="15" name="Shape 10">
            <a:extLst>
              <a:ext uri="{FF2B5EF4-FFF2-40B4-BE49-F238E27FC236}">
                <a16:creationId xmlns:a16="http://schemas.microsoft.com/office/drawing/2014/main" id="{0AA166E4-7FA6-45D1-8C0C-49A5772714D6}"/>
              </a:ext>
            </a:extLst>
          </p:cNvPr>
          <p:cNvSpPr>
            <a:spLocks noGrp="1"/>
          </p:cNvSpPr>
          <p:nvPr/>
        </p:nvSpPr>
        <p:spPr>
          <a:xfrm>
            <a:off x="4754880" y="3017520"/>
            <a:ext cx="3931920" cy="1645920"/>
          </a:xfrm>
          <a:prstGeom prst="rect">
            <a:avLst/>
          </a:prstGeom>
          <a:solidFill>
            <a:srgbClr val="F0E8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7" name="Imag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3154680"/>
            <a:ext cx="365760" cy="365760"/>
          </a:xfrm>
          <a:prstGeom prst="rect">
            <a:avLst/>
          </a:prstGeom>
        </p:spPr>
      </p:pic>
      <p:sp>
        <p:nvSpPr>
          <p:cNvPr id="17" name="Text 11">
            <a:extLst>
              <a:ext uri="{FF2B5EF4-FFF2-40B4-BE49-F238E27FC236}">
                <a16:creationId xmlns:a16="http://schemas.microsoft.com/office/drawing/2014/main" id="{46093F22-1708-40BB-9BAB-BE99CF62B8BC}"/>
              </a:ext>
            </a:extLst>
          </p:cNvPr>
          <p:cNvSpPr>
            <a:spLocks noGrp="1"/>
          </p:cNvSpPr>
          <p:nvPr/>
        </p:nvSpPr>
        <p:spPr>
          <a:xfrm>
            <a:off x="5394960" y="3154680"/>
            <a:ext cx="301752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Cost</a:t>
            </a:r>
            <a:endParaRPr sz="1400"/>
          </a:p>
        </p:txBody>
      </p:sp>
      <p:sp>
        <p:nvSpPr>
          <p:cNvPr id="18" name="Text 12">
            <a:extLst>
              <a:ext uri="{FF2B5EF4-FFF2-40B4-BE49-F238E27FC236}">
                <a16:creationId xmlns:a16="http://schemas.microsoft.com/office/drawing/2014/main" id="{78BBDE47-900A-4059-B793-D525709ED891}"/>
              </a:ext>
            </a:extLst>
          </p:cNvPr>
          <p:cNvSpPr>
            <a:spLocks noGrp="1"/>
          </p:cNvSpPr>
          <p:nvPr/>
        </p:nvSpPr>
        <p:spPr>
          <a:xfrm>
            <a:off x="4937760" y="3566160"/>
            <a:ext cx="3566160" cy="9601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3A4668"/>
                </a:solidFill>
                <a:latin typeface="Arial"/>
                <a:ea typeface="Arial"/>
                <a:cs typeface="Arial"/>
              </a:rPr>
              <a:t>Which expense supports a requirement—and which does not?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7930971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B62B132-033B-42E3-923F-F70AA7DD3ADB}"/>
              </a:ext>
            </a:extLst>
          </p:cNvPr>
          <p:cNvSpPr>
            <a:spLocks noGrp="1"/>
          </p:cNvSpPr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600" b="1">
                <a:solidFill>
                  <a:srgbClr val="00D4AA"/>
                </a:solidFill>
                <a:latin typeface="Arial"/>
                <a:ea typeface="Arial"/>
                <a:cs typeface="Arial"/>
              </a:rPr>
              <a:t>Optimize Cost Continuously</a:t>
            </a:r>
            <a:endParaRPr sz="36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24E013A-0DE5-4569-8480-E5A15E53A037}"/>
              </a:ext>
            </a:extLst>
          </p:cNvPr>
          <p:cNvSpPr>
            <a:spLocks noGrp="1"/>
          </p:cNvSpPr>
          <p:nvPr/>
        </p:nvSpPr>
        <p:spPr>
          <a:xfrm>
            <a:off x="457200" y="1051560"/>
            <a:ext cx="8229600" cy="3200400"/>
          </a:xfrm>
          <a:prstGeom prst="rect">
            <a:avLst/>
          </a:prstGeom>
          <a:solidFill>
            <a:srgbClr val="2D3454"/>
          </a:solidFill>
        </p:spPr>
        <p:txBody>
          <a:bodyPr/>
          <a:lstStyle/>
          <a:p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B9A6128-E208-4157-8406-D0A5CB3DB2AF}"/>
              </a:ext>
            </a:extLst>
          </p:cNvPr>
          <p:cNvSpPr>
            <a:spLocks noGrp="1"/>
          </p:cNvSpPr>
          <p:nvPr/>
        </p:nvSpPr>
        <p:spPr>
          <a:xfrm>
            <a:off x="640080" y="1550126"/>
            <a:ext cx="7863840" cy="2610394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  <a:defRPr sz="1300">
                <a:solidFill>
                  <a:srgbClr val="00D4AA"/>
                </a:solidFill>
                <a:latin typeface="Consolas"/>
                <a:ea typeface="Consolas"/>
                <a:cs typeface="Consolas"/>
              </a:defRPr>
            </a:pPr>
            <a:r>
              <a:rPr sz="1300" dirty="0">
                <a:solidFill>
                  <a:srgbClr val="00D4AA"/>
                </a:solidFill>
                <a:latin typeface="Consolas"/>
                <a:ea typeface="Consolas"/>
                <a:cs typeface="Consolas"/>
              </a:rPr>
              <a:t>MEASURE  ---&gt;  ATTRIBUTE  ---&gt;  RECOMMEND</a:t>
            </a:r>
            <a:endParaRPr sz="1300" dirty="0"/>
          </a:p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  <a:defRPr sz="1300">
                <a:solidFill>
                  <a:srgbClr val="00D4AA"/>
                </a:solidFill>
                <a:latin typeface="Consolas"/>
                <a:ea typeface="Consolas"/>
                <a:cs typeface="Consolas"/>
              </a:defRPr>
            </a:pPr>
            <a:r>
              <a:rPr sz="1300" dirty="0">
                <a:solidFill>
                  <a:srgbClr val="00D4AA"/>
                </a:solidFill>
                <a:latin typeface="Consolas"/>
                <a:ea typeface="Consolas"/>
                <a:cs typeface="Consolas"/>
              </a:rPr>
              <a:t>Cost Explorer       tags / accounts       Optimizer / Advisor</a:t>
            </a:r>
            <a:endParaRPr sz="13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endParaRPr lang="en-IN" sz="13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endParaRPr lang="en-IN" sz="13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endParaRPr sz="1300" dirty="0"/>
          </a:p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  <a:defRPr sz="1300">
                <a:solidFill>
                  <a:srgbClr val="00D4AA"/>
                </a:solidFill>
                <a:latin typeface="Consolas"/>
                <a:ea typeface="Consolas"/>
                <a:cs typeface="Consolas"/>
              </a:defRPr>
            </a:pPr>
            <a:r>
              <a:rPr sz="1300" dirty="0">
                <a:solidFill>
                  <a:srgbClr val="00D4AA"/>
                </a:solidFill>
                <a:latin typeface="Consolas"/>
                <a:ea typeface="Consolas"/>
                <a:cs typeface="Consolas"/>
              </a:rPr>
              <a:t>VALIDATE  ---&gt;  CHANGE  ---&gt;  MEASURE AGAIN</a:t>
            </a:r>
            <a:endParaRPr sz="1300" dirty="0"/>
          </a:p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  <a:defRPr sz="1300">
                <a:solidFill>
                  <a:srgbClr val="00D4AA"/>
                </a:solidFill>
                <a:latin typeface="Consolas"/>
                <a:ea typeface="Consolas"/>
                <a:cs typeface="Consolas"/>
              </a:defRPr>
            </a:pPr>
            <a:r>
              <a:rPr sz="1300" dirty="0">
                <a:solidFill>
                  <a:srgbClr val="00D4AA"/>
                </a:solidFill>
                <a:latin typeface="Consolas"/>
                <a:ea typeface="Consolas"/>
                <a:cs typeface="Consolas"/>
              </a:rPr>
              <a:t>workload context       controlled action       confirm outcome</a:t>
            </a:r>
            <a:endParaRPr sz="13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76DB299-7D43-4410-884A-5484BE8AE465}"/>
              </a:ext>
            </a:extLst>
          </p:cNvPr>
          <p:cNvSpPr>
            <a:spLocks noGrp="1"/>
          </p:cNvSpPr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solidFill>
            <a:srgbClr val="326CE5"/>
          </a:solidFill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8D87DB0-5923-440F-9AD0-12210356E233}"/>
              </a:ext>
            </a:extLst>
          </p:cNvPr>
          <p:cNvSpPr>
            <a:spLocks noGrp="1"/>
          </p:cNvSpPr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1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 recommendation is evidence to review</a:t>
            </a:r>
            <a:r>
              <a:rPr lang="en-IN" sz="11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, </a:t>
            </a:r>
            <a:r>
              <a:rPr sz="11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not an automatic decision</a:t>
            </a:r>
            <a:endParaRPr sz="1100" dirty="0"/>
          </a:p>
        </p:txBody>
      </p:sp>
    </p:spTree>
    <p:extLst>
      <p:ext uri="{BB962C8B-B14F-4D97-AF65-F5344CB8AC3E}">
        <p14:creationId xmlns:p14="http://schemas.microsoft.com/office/powerpoint/2010/main" val="18065466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93448BC-5496-4A40-974E-EC283AC9B16E}"/>
              </a:ext>
            </a:extLst>
          </p:cNvPr>
          <p:cNvSpPr>
            <a:spLocks noGrp="1"/>
          </p:cNvSpPr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6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Match Pricing to Workload Behavior</a:t>
            </a:r>
            <a:endParaRPr sz="36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297DE6D-5241-4BA1-B0A0-D44CF7D54548}"/>
              </a:ext>
            </a:extLst>
          </p:cNvPr>
          <p:cNvSpPr>
            <a:spLocks noGrp="1"/>
          </p:cNvSpPr>
          <p:nvPr/>
        </p:nvSpPr>
        <p:spPr>
          <a:xfrm>
            <a:off x="457200" y="1188720"/>
            <a:ext cx="3931920" cy="1645920"/>
          </a:xfrm>
          <a:prstGeom prst="rect">
            <a:avLst/>
          </a:prstGeom>
          <a:solidFill>
            <a:srgbClr val="E8EE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5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365760" cy="365760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2F3C7858-E454-4839-9043-F12B2134C42C}"/>
              </a:ext>
            </a:extLst>
          </p:cNvPr>
          <p:cNvSpPr>
            <a:spLocks noGrp="1"/>
          </p:cNvSpPr>
          <p:nvPr/>
        </p:nvSpPr>
        <p:spPr>
          <a:xfrm>
            <a:off x="1097280" y="1325880"/>
            <a:ext cx="301752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On-Demand</a:t>
            </a:r>
            <a:endParaRPr sz="140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453DFC80-4141-470B-91C3-8C3A95340D57}"/>
              </a:ext>
            </a:extLst>
          </p:cNvPr>
          <p:cNvSpPr>
            <a:spLocks noGrp="1"/>
          </p:cNvSpPr>
          <p:nvPr/>
        </p:nvSpPr>
        <p:spPr>
          <a:xfrm>
            <a:off x="640080" y="1737360"/>
            <a:ext cx="3566160" cy="9601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3A4668"/>
                </a:solidFill>
                <a:latin typeface="Arial"/>
                <a:ea typeface="Arial"/>
                <a:cs typeface="Arial"/>
              </a:rPr>
              <a:t>New, variable or short-lived workloads without commitment.</a:t>
            </a:r>
            <a:endParaRPr sz="120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7E32F17E-ED24-4EA0-B874-52944F4EA7DA}"/>
              </a:ext>
            </a:extLst>
          </p:cNvPr>
          <p:cNvSpPr>
            <a:spLocks noGrp="1"/>
          </p:cNvSpPr>
          <p:nvPr/>
        </p:nvSpPr>
        <p:spPr>
          <a:xfrm>
            <a:off x="4754880" y="1188720"/>
            <a:ext cx="3931920" cy="1645920"/>
          </a:xfrm>
          <a:prstGeom prst="rect">
            <a:avLst/>
          </a:prstGeom>
          <a:solidFill>
            <a:srgbClr val="E8F8F0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9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325880"/>
            <a:ext cx="365760" cy="365760"/>
          </a:xfrm>
          <a:prstGeom prst="rect">
            <a:avLst/>
          </a:prstGeom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D7719CF8-0D7D-4414-835C-668DF8346E54}"/>
              </a:ext>
            </a:extLst>
          </p:cNvPr>
          <p:cNvSpPr>
            <a:spLocks noGrp="1"/>
          </p:cNvSpPr>
          <p:nvPr/>
        </p:nvSpPr>
        <p:spPr>
          <a:xfrm>
            <a:off x="5394960" y="1325880"/>
            <a:ext cx="301752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Savings Plans</a:t>
            </a:r>
            <a:endParaRPr sz="140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F05DF557-9BBE-46E7-8B69-FD51F9C85CAC}"/>
              </a:ext>
            </a:extLst>
          </p:cNvPr>
          <p:cNvSpPr>
            <a:spLocks noGrp="1"/>
          </p:cNvSpPr>
          <p:nvPr/>
        </p:nvSpPr>
        <p:spPr>
          <a:xfrm>
            <a:off x="4937760" y="1737360"/>
            <a:ext cx="3566160" cy="9601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3A4668"/>
                </a:solidFill>
                <a:latin typeface="Arial"/>
                <a:ea typeface="Arial"/>
                <a:cs typeface="Arial"/>
              </a:rPr>
              <a:t>Commit predictable compute usage with plan flexibility.</a:t>
            </a:r>
            <a:endParaRPr sz="1200"/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E0A07DE8-025F-47B0-9505-CFA6B2069DA9}"/>
              </a:ext>
            </a:extLst>
          </p:cNvPr>
          <p:cNvSpPr>
            <a:spLocks noGrp="1"/>
          </p:cNvSpPr>
          <p:nvPr/>
        </p:nvSpPr>
        <p:spPr>
          <a:xfrm>
            <a:off x="457200" y="3017520"/>
            <a:ext cx="3931920" cy="1645920"/>
          </a:xfrm>
          <a:prstGeom prst="rect">
            <a:avLst/>
          </a:prstGeom>
          <a:solidFill>
            <a:srgbClr val="FFF0E0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3" name="Imag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154680"/>
            <a:ext cx="365760" cy="365760"/>
          </a:xfrm>
          <a:prstGeom prst="rect">
            <a:avLst/>
          </a:prstGeom>
        </p:spPr>
      </p:pic>
      <p:sp>
        <p:nvSpPr>
          <p:cNvPr id="13" name="Text 8">
            <a:extLst>
              <a:ext uri="{FF2B5EF4-FFF2-40B4-BE49-F238E27FC236}">
                <a16:creationId xmlns:a16="http://schemas.microsoft.com/office/drawing/2014/main" id="{80C0BEB8-E2BE-4974-ABF1-4FD9A00B69EA}"/>
              </a:ext>
            </a:extLst>
          </p:cNvPr>
          <p:cNvSpPr>
            <a:spLocks noGrp="1"/>
          </p:cNvSpPr>
          <p:nvPr/>
        </p:nvSpPr>
        <p:spPr>
          <a:xfrm>
            <a:off x="1097280" y="3154680"/>
            <a:ext cx="301752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Reserved</a:t>
            </a:r>
            <a:endParaRPr sz="1400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FDAB976E-D5B3-4C98-B55B-67524596BF7E}"/>
              </a:ext>
            </a:extLst>
          </p:cNvPr>
          <p:cNvSpPr>
            <a:spLocks noGrp="1"/>
          </p:cNvSpPr>
          <p:nvPr/>
        </p:nvSpPr>
        <p:spPr>
          <a:xfrm>
            <a:off x="640080" y="3566160"/>
            <a:ext cx="3566160" cy="9601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3A4668"/>
                </a:solidFill>
                <a:latin typeface="Arial"/>
                <a:ea typeface="Arial"/>
                <a:cs typeface="Arial"/>
              </a:rPr>
              <a:t>Stable EC2 or RDS usage when attributes are understood.</a:t>
            </a:r>
            <a:endParaRPr sz="1200"/>
          </a:p>
        </p:txBody>
      </p:sp>
      <p:sp>
        <p:nvSpPr>
          <p:cNvPr id="15" name="Shape 10">
            <a:extLst>
              <a:ext uri="{FF2B5EF4-FFF2-40B4-BE49-F238E27FC236}">
                <a16:creationId xmlns:a16="http://schemas.microsoft.com/office/drawing/2014/main" id="{0AA166E4-7FA6-45D1-8C0C-49A5772714D6}"/>
              </a:ext>
            </a:extLst>
          </p:cNvPr>
          <p:cNvSpPr>
            <a:spLocks noGrp="1"/>
          </p:cNvSpPr>
          <p:nvPr/>
        </p:nvSpPr>
        <p:spPr>
          <a:xfrm>
            <a:off x="4754880" y="3017520"/>
            <a:ext cx="3931920" cy="1645920"/>
          </a:xfrm>
          <a:prstGeom prst="rect">
            <a:avLst/>
          </a:prstGeom>
          <a:solidFill>
            <a:srgbClr val="F0E8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7" name="Imag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3154680"/>
            <a:ext cx="365760" cy="365760"/>
          </a:xfrm>
          <a:prstGeom prst="rect">
            <a:avLst/>
          </a:prstGeom>
        </p:spPr>
      </p:pic>
      <p:sp>
        <p:nvSpPr>
          <p:cNvPr id="17" name="Text 11">
            <a:extLst>
              <a:ext uri="{FF2B5EF4-FFF2-40B4-BE49-F238E27FC236}">
                <a16:creationId xmlns:a16="http://schemas.microsoft.com/office/drawing/2014/main" id="{46093F22-1708-40BB-9BAB-BE99CF62B8BC}"/>
              </a:ext>
            </a:extLst>
          </p:cNvPr>
          <p:cNvSpPr>
            <a:spLocks noGrp="1"/>
          </p:cNvSpPr>
          <p:nvPr/>
        </p:nvSpPr>
        <p:spPr>
          <a:xfrm>
            <a:off x="5394960" y="3154680"/>
            <a:ext cx="301752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Spot</a:t>
            </a:r>
            <a:endParaRPr sz="1400"/>
          </a:p>
        </p:txBody>
      </p:sp>
      <p:sp>
        <p:nvSpPr>
          <p:cNvPr id="18" name="Text 12">
            <a:extLst>
              <a:ext uri="{FF2B5EF4-FFF2-40B4-BE49-F238E27FC236}">
                <a16:creationId xmlns:a16="http://schemas.microsoft.com/office/drawing/2014/main" id="{78BBDE47-900A-4059-B793-D525709ED891}"/>
              </a:ext>
            </a:extLst>
          </p:cNvPr>
          <p:cNvSpPr>
            <a:spLocks noGrp="1"/>
          </p:cNvSpPr>
          <p:nvPr/>
        </p:nvSpPr>
        <p:spPr>
          <a:xfrm>
            <a:off x="4937760" y="3566160"/>
            <a:ext cx="3566160" cy="9601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3A4668"/>
                </a:solidFill>
                <a:latin typeface="Arial"/>
                <a:ea typeface="Arial"/>
                <a:cs typeface="Arial"/>
              </a:rPr>
              <a:t>Interruptible, fault-tolerant work that can resume safely.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7930971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5EB20F0-00C4-49C0-85D4-2C01611BB98A}"/>
              </a:ext>
            </a:extLst>
          </p:cNvPr>
          <p:cNvSpPr>
            <a:spLocks noGrp="1"/>
          </p:cNvSpPr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6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Performance Has Three Main Levers</a:t>
            </a:r>
            <a:endParaRPr sz="36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27ECBCD-1614-46EE-88B7-122BEC8F697B}"/>
              </a:ext>
            </a:extLst>
          </p:cNvPr>
          <p:cNvSpPr>
            <a:spLocks noGrp="1"/>
          </p:cNvSpPr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 i="1">
                <a:solidFill>
                  <a:srgbClr val="7A8BBE"/>
                </a:solidFill>
                <a:latin typeface="Arial"/>
                <a:ea typeface="Arial"/>
                <a:cs typeface="Arial"/>
              </a:rPr>
              <a:t>Reduce repeated work, move work closer, and add capacity safely</a:t>
            </a:r>
            <a:endParaRPr sz="14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C056F5B-C464-4E31-82BC-FE24D6EACF81}"/>
              </a:ext>
            </a:extLst>
          </p:cNvPr>
          <p:cNvSpPr>
            <a:spLocks noGrp="1"/>
          </p:cNvSpPr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solidFill>
            <a:srgbClr val="E8EE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B9D1DB2-43BD-4226-A02E-0FC41EB89816}"/>
              </a:ext>
            </a:extLst>
          </p:cNvPr>
          <p:cNvSpPr>
            <a:spLocks noGrp="1"/>
          </p:cNvSpPr>
          <p:nvPr/>
        </p:nvSpPr>
        <p:spPr>
          <a:xfrm>
            <a:off x="640080" y="1691640"/>
            <a:ext cx="137160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EDGE CACHE</a:t>
            </a:r>
            <a:endParaRPr sz="14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D9CD08B-E0B5-45B2-88E2-EDD23DE0242F}"/>
              </a:ext>
            </a:extLst>
          </p:cNvPr>
          <p:cNvSpPr>
            <a:spLocks noGrp="1"/>
          </p:cNvSpPr>
          <p:nvPr/>
        </p:nvSpPr>
        <p:spPr>
          <a:xfrm>
            <a:off x="2286000" y="1783080"/>
            <a:ext cx="621792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3A4668"/>
                </a:solidFill>
                <a:latin typeface="Arial"/>
                <a:ea typeface="Arial"/>
                <a:cs typeface="Arial"/>
              </a:rPr>
              <a:t>CloudFront places cached content closer to users and reduces origin work.</a:t>
            </a:r>
            <a:endParaRPr sz="12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948C01EA-8F98-46A6-9C09-76FA5D15233D}"/>
              </a:ext>
            </a:extLst>
          </p:cNvPr>
          <p:cNvSpPr>
            <a:spLocks noGrp="1"/>
          </p:cNvSpPr>
          <p:nvPr/>
        </p:nvSpPr>
        <p:spPr>
          <a:xfrm>
            <a:off x="457200" y="2697480"/>
            <a:ext cx="8229600" cy="914400"/>
          </a:xfrm>
          <a:prstGeom prst="rect">
            <a:avLst/>
          </a:prstGeom>
          <a:solidFill>
            <a:srgbClr val="E8F8F0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8AC26B81-FF97-4E53-B734-71757314DE86}"/>
              </a:ext>
            </a:extLst>
          </p:cNvPr>
          <p:cNvSpPr>
            <a:spLocks noGrp="1"/>
          </p:cNvSpPr>
          <p:nvPr/>
        </p:nvSpPr>
        <p:spPr>
          <a:xfrm>
            <a:off x="640080" y="2743200"/>
            <a:ext cx="137160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DATA CACHE</a:t>
            </a:r>
            <a:endParaRPr sz="14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0818AD70-D8EA-4515-81C3-62C431E22499}"/>
              </a:ext>
            </a:extLst>
          </p:cNvPr>
          <p:cNvSpPr>
            <a:spLocks noGrp="1"/>
          </p:cNvSpPr>
          <p:nvPr/>
        </p:nvSpPr>
        <p:spPr>
          <a:xfrm>
            <a:off x="2286000" y="2834640"/>
            <a:ext cx="621792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3A4668"/>
                </a:solidFill>
                <a:latin typeface="Arial"/>
                <a:ea typeface="Arial"/>
                <a:cs typeface="Arial"/>
              </a:rPr>
              <a:t>ElastiCache reduces latency and repeated database reads; misses use the source.</a:t>
            </a:r>
            <a:endParaRPr sz="120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C7ADA2FA-2D9A-4F36-8C49-AA90E75E82B8}"/>
              </a:ext>
            </a:extLst>
          </p:cNvPr>
          <p:cNvSpPr>
            <a:spLocks noGrp="1"/>
          </p:cNvSpPr>
          <p:nvPr/>
        </p:nvSpPr>
        <p:spPr>
          <a:xfrm>
            <a:off x="457200" y="3749040"/>
            <a:ext cx="8229600" cy="914400"/>
          </a:xfrm>
          <a:prstGeom prst="rect">
            <a:avLst/>
          </a:prstGeom>
          <a:solidFill>
            <a:srgbClr val="FFF0E0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26B297D8-5E66-4E36-9606-1A4A933E890F}"/>
              </a:ext>
            </a:extLst>
          </p:cNvPr>
          <p:cNvSpPr>
            <a:spLocks noGrp="1"/>
          </p:cNvSpPr>
          <p:nvPr/>
        </p:nvSpPr>
        <p:spPr>
          <a:xfrm>
            <a:off x="640080" y="3941717"/>
            <a:ext cx="137160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 b="1" dirty="0">
                <a:solidFill>
                  <a:srgbClr val="1B2559"/>
                </a:solidFill>
                <a:latin typeface="Arial"/>
                <a:ea typeface="Arial"/>
                <a:cs typeface="Arial"/>
              </a:rPr>
              <a:t>COMPUTE SCALE</a:t>
            </a:r>
            <a:endParaRPr sz="14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77B44955-A14C-4459-A1A4-A63AE0990148}"/>
              </a:ext>
            </a:extLst>
          </p:cNvPr>
          <p:cNvSpPr>
            <a:spLocks noGrp="1"/>
          </p:cNvSpPr>
          <p:nvPr/>
        </p:nvSpPr>
        <p:spPr>
          <a:xfrm>
            <a:off x="2286000" y="3886200"/>
            <a:ext cx="621792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3A4668"/>
                </a:solidFill>
                <a:latin typeface="Arial"/>
                <a:ea typeface="Arial"/>
                <a:cs typeface="Arial"/>
              </a:rPr>
              <a:t>ASG or Lambda adds capacity, while downstream limits still apply.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3523323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93448BC-5496-4A40-974E-EC283AC9B16E}"/>
              </a:ext>
            </a:extLst>
          </p:cNvPr>
          <p:cNvSpPr>
            <a:spLocks noGrp="1"/>
          </p:cNvSpPr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6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Four Recovery Questions</a:t>
            </a:r>
            <a:endParaRPr sz="36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297DE6D-5241-4BA1-B0A0-D44CF7D54548}"/>
              </a:ext>
            </a:extLst>
          </p:cNvPr>
          <p:cNvSpPr>
            <a:spLocks noGrp="1"/>
          </p:cNvSpPr>
          <p:nvPr/>
        </p:nvSpPr>
        <p:spPr>
          <a:xfrm>
            <a:off x="457200" y="1188720"/>
            <a:ext cx="3931920" cy="1645920"/>
          </a:xfrm>
          <a:prstGeom prst="rect">
            <a:avLst/>
          </a:prstGeom>
          <a:solidFill>
            <a:srgbClr val="E8EE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5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365760" cy="365760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2F3C7858-E454-4839-9043-F12B2134C42C}"/>
              </a:ext>
            </a:extLst>
          </p:cNvPr>
          <p:cNvSpPr>
            <a:spLocks noGrp="1"/>
          </p:cNvSpPr>
          <p:nvPr/>
        </p:nvSpPr>
        <p:spPr>
          <a:xfrm>
            <a:off x="1097280" y="1325880"/>
            <a:ext cx="301752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RPO</a:t>
            </a:r>
            <a:endParaRPr sz="140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453DFC80-4141-470B-91C3-8C3A95340D57}"/>
              </a:ext>
            </a:extLst>
          </p:cNvPr>
          <p:cNvSpPr>
            <a:spLocks noGrp="1"/>
          </p:cNvSpPr>
          <p:nvPr/>
        </p:nvSpPr>
        <p:spPr>
          <a:xfrm>
            <a:off x="640080" y="1737360"/>
            <a:ext cx="3566160" cy="9601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3A4668"/>
                </a:solidFill>
                <a:latin typeface="Arial"/>
                <a:ea typeface="Arial"/>
                <a:cs typeface="Arial"/>
              </a:rPr>
              <a:t>How much data loss, measured in time, is acceptable?</a:t>
            </a:r>
            <a:endParaRPr sz="120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7E32F17E-ED24-4EA0-B874-52944F4EA7DA}"/>
              </a:ext>
            </a:extLst>
          </p:cNvPr>
          <p:cNvSpPr>
            <a:spLocks noGrp="1"/>
          </p:cNvSpPr>
          <p:nvPr/>
        </p:nvSpPr>
        <p:spPr>
          <a:xfrm>
            <a:off x="4754880" y="1188720"/>
            <a:ext cx="3931920" cy="1645920"/>
          </a:xfrm>
          <a:prstGeom prst="rect">
            <a:avLst/>
          </a:prstGeom>
          <a:solidFill>
            <a:srgbClr val="E8F8F0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9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325880"/>
            <a:ext cx="365760" cy="365760"/>
          </a:xfrm>
          <a:prstGeom prst="rect">
            <a:avLst/>
          </a:prstGeom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D7719CF8-0D7D-4414-835C-668DF8346E54}"/>
              </a:ext>
            </a:extLst>
          </p:cNvPr>
          <p:cNvSpPr>
            <a:spLocks noGrp="1"/>
          </p:cNvSpPr>
          <p:nvPr/>
        </p:nvSpPr>
        <p:spPr>
          <a:xfrm>
            <a:off x="5394960" y="1325880"/>
            <a:ext cx="301752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RTO</a:t>
            </a:r>
            <a:endParaRPr sz="140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F05DF557-9BBE-46E7-8B69-FD51F9C85CAC}"/>
              </a:ext>
            </a:extLst>
          </p:cNvPr>
          <p:cNvSpPr>
            <a:spLocks noGrp="1"/>
          </p:cNvSpPr>
          <p:nvPr/>
        </p:nvSpPr>
        <p:spPr>
          <a:xfrm>
            <a:off x="4937760" y="1737360"/>
            <a:ext cx="3566160" cy="9601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3A4668"/>
                </a:solidFill>
                <a:latin typeface="Arial"/>
                <a:ea typeface="Arial"/>
                <a:cs typeface="Arial"/>
              </a:rPr>
              <a:t>How long may the workload remain unavailable?</a:t>
            </a:r>
            <a:endParaRPr sz="1200"/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E0A07DE8-025F-47B0-9505-CFA6B2069DA9}"/>
              </a:ext>
            </a:extLst>
          </p:cNvPr>
          <p:cNvSpPr>
            <a:spLocks noGrp="1"/>
          </p:cNvSpPr>
          <p:nvPr/>
        </p:nvSpPr>
        <p:spPr>
          <a:xfrm>
            <a:off x="457200" y="3017520"/>
            <a:ext cx="3931920" cy="1645920"/>
          </a:xfrm>
          <a:prstGeom prst="rect">
            <a:avLst/>
          </a:prstGeom>
          <a:solidFill>
            <a:srgbClr val="FFF0E0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3" name="Imag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154680"/>
            <a:ext cx="365760" cy="365760"/>
          </a:xfrm>
          <a:prstGeom prst="rect">
            <a:avLst/>
          </a:prstGeom>
        </p:spPr>
      </p:pic>
      <p:sp>
        <p:nvSpPr>
          <p:cNvPr id="13" name="Text 8">
            <a:extLst>
              <a:ext uri="{FF2B5EF4-FFF2-40B4-BE49-F238E27FC236}">
                <a16:creationId xmlns:a16="http://schemas.microsoft.com/office/drawing/2014/main" id="{80C0BEB8-E2BE-4974-ABF1-4FD9A00B69EA}"/>
              </a:ext>
            </a:extLst>
          </p:cNvPr>
          <p:cNvSpPr>
            <a:spLocks noGrp="1"/>
          </p:cNvSpPr>
          <p:nvPr/>
        </p:nvSpPr>
        <p:spPr>
          <a:xfrm>
            <a:off x="1097280" y="3154680"/>
            <a:ext cx="301752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Backup</a:t>
            </a:r>
            <a:endParaRPr sz="1400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FDAB976E-D5B3-4C98-B55B-67524596BF7E}"/>
              </a:ext>
            </a:extLst>
          </p:cNvPr>
          <p:cNvSpPr>
            <a:spLocks noGrp="1"/>
          </p:cNvSpPr>
          <p:nvPr/>
        </p:nvSpPr>
        <p:spPr>
          <a:xfrm>
            <a:off x="640080" y="3566160"/>
            <a:ext cx="3566160" cy="9601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3A4668"/>
                </a:solidFill>
                <a:latin typeface="Arial"/>
                <a:ea typeface="Arial"/>
                <a:cs typeface="Arial"/>
              </a:rPr>
              <a:t>Is there a retained recovery point separate from active data?</a:t>
            </a:r>
            <a:endParaRPr sz="1200"/>
          </a:p>
        </p:txBody>
      </p:sp>
      <p:sp>
        <p:nvSpPr>
          <p:cNvPr id="15" name="Shape 10">
            <a:extLst>
              <a:ext uri="{FF2B5EF4-FFF2-40B4-BE49-F238E27FC236}">
                <a16:creationId xmlns:a16="http://schemas.microsoft.com/office/drawing/2014/main" id="{0AA166E4-7FA6-45D1-8C0C-49A5772714D6}"/>
              </a:ext>
            </a:extLst>
          </p:cNvPr>
          <p:cNvSpPr>
            <a:spLocks noGrp="1"/>
          </p:cNvSpPr>
          <p:nvPr/>
        </p:nvSpPr>
        <p:spPr>
          <a:xfrm>
            <a:off x="4754880" y="3017520"/>
            <a:ext cx="3931920" cy="1645920"/>
          </a:xfrm>
          <a:prstGeom prst="rect">
            <a:avLst/>
          </a:prstGeom>
          <a:solidFill>
            <a:srgbClr val="F0E8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7" name="Imag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3154680"/>
            <a:ext cx="365760" cy="365760"/>
          </a:xfrm>
          <a:prstGeom prst="rect">
            <a:avLst/>
          </a:prstGeom>
        </p:spPr>
      </p:pic>
      <p:sp>
        <p:nvSpPr>
          <p:cNvPr id="17" name="Text 11">
            <a:extLst>
              <a:ext uri="{FF2B5EF4-FFF2-40B4-BE49-F238E27FC236}">
                <a16:creationId xmlns:a16="http://schemas.microsoft.com/office/drawing/2014/main" id="{46093F22-1708-40BB-9BAB-BE99CF62B8BC}"/>
              </a:ext>
            </a:extLst>
          </p:cNvPr>
          <p:cNvSpPr>
            <a:spLocks noGrp="1"/>
          </p:cNvSpPr>
          <p:nvPr/>
        </p:nvSpPr>
        <p:spPr>
          <a:xfrm>
            <a:off x="5394960" y="3154680"/>
            <a:ext cx="301752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High availability</a:t>
            </a:r>
            <a:endParaRPr sz="1400"/>
          </a:p>
        </p:txBody>
      </p:sp>
      <p:sp>
        <p:nvSpPr>
          <p:cNvPr id="18" name="Text 12">
            <a:extLst>
              <a:ext uri="{FF2B5EF4-FFF2-40B4-BE49-F238E27FC236}">
                <a16:creationId xmlns:a16="http://schemas.microsoft.com/office/drawing/2014/main" id="{78BBDE47-900A-4059-B793-D525709ED891}"/>
              </a:ext>
            </a:extLst>
          </p:cNvPr>
          <p:cNvSpPr>
            <a:spLocks noGrp="1"/>
          </p:cNvSpPr>
          <p:nvPr/>
        </p:nvSpPr>
        <p:spPr>
          <a:xfrm>
            <a:off x="4937760" y="3566160"/>
            <a:ext cx="3566160" cy="9601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3A4668"/>
                </a:solidFill>
                <a:latin typeface="Arial"/>
                <a:ea typeface="Arial"/>
                <a:cs typeface="Arial"/>
              </a:rPr>
              <a:t>Can service continue through expected component failures?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7930971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4A9926A-BBF5-4F03-81A1-E4F29E122C02}"/>
              </a:ext>
            </a:extLst>
          </p:cNvPr>
          <p:cNvSpPr>
            <a:spLocks noGrp="1"/>
          </p:cNvSpPr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6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Recovery Controls Must Be Tested</a:t>
            </a:r>
            <a:endParaRPr sz="36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4F138DC-44BD-463E-808A-8B8C6F0E10E4}"/>
              </a:ext>
            </a:extLst>
          </p:cNvPr>
          <p:cNvSpPr>
            <a:spLocks noGrp="1"/>
          </p:cNvSpPr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5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280160"/>
            <a:ext cx="365760" cy="365760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EE31CED3-420D-4749-99CA-48C2DDE7BB91}"/>
              </a:ext>
            </a:extLst>
          </p:cNvPr>
          <p:cNvSpPr>
            <a:spLocks noGrp="1"/>
          </p:cNvSpPr>
          <p:nvPr/>
        </p:nvSpPr>
        <p:spPr>
          <a:xfrm>
            <a:off x="1097280" y="1188720"/>
            <a:ext cx="7406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>
                <a:solidFill>
                  <a:srgbClr val="3A4668"/>
                </a:solidFill>
                <a:latin typeface="Arial"/>
                <a:ea typeface="Arial"/>
                <a:cs typeface="Arial"/>
              </a:rPr>
              <a:t>EBS snapshot / AMI — point-in-time storage or launch image</a:t>
            </a:r>
            <a:endParaRPr sz="140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D5D72294-37DC-46AF-8610-2291D07DA366}"/>
              </a:ext>
            </a:extLst>
          </p:cNvPr>
          <p:cNvSpPr>
            <a:spLocks noGrp="1"/>
          </p:cNvSpPr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solidFill>
            <a:srgbClr val="F4F7FC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8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920240"/>
            <a:ext cx="365760" cy="365760"/>
          </a:xfrm>
          <a:prstGeom prst="rect">
            <a:avLst/>
          </a:prstGeom>
        </p:spPr>
      </p:pic>
      <p:sp>
        <p:nvSpPr>
          <p:cNvPr id="8" name="Text 4">
            <a:extLst>
              <a:ext uri="{FF2B5EF4-FFF2-40B4-BE49-F238E27FC236}">
                <a16:creationId xmlns:a16="http://schemas.microsoft.com/office/drawing/2014/main" id="{73F732F5-85E7-44D0-A244-B772930CEC93}"/>
              </a:ext>
            </a:extLst>
          </p:cNvPr>
          <p:cNvSpPr>
            <a:spLocks noGrp="1"/>
          </p:cNvSpPr>
          <p:nvPr/>
        </p:nvSpPr>
        <p:spPr>
          <a:xfrm>
            <a:off x="1097280" y="1828800"/>
            <a:ext cx="7406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>
                <a:solidFill>
                  <a:srgbClr val="3A4668"/>
                </a:solidFill>
                <a:latin typeface="Arial"/>
                <a:ea typeface="Arial"/>
                <a:cs typeface="Arial"/>
              </a:rPr>
              <a:t>RDS backup — point-in-time restore to a new database</a:t>
            </a:r>
            <a:endParaRPr sz="1400"/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BE6323E5-B6A1-47CA-BB18-7F2B0D471EFD}"/>
              </a:ext>
            </a:extLst>
          </p:cNvPr>
          <p:cNvSpPr>
            <a:spLocks noGrp="1"/>
          </p:cNvSpPr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1" name="Imag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2560320"/>
            <a:ext cx="365760" cy="365760"/>
          </a:xfrm>
          <a:prstGeom prst="rect">
            <a:avLst/>
          </a:prstGeom>
        </p:spPr>
      </p:pic>
      <p:sp>
        <p:nvSpPr>
          <p:cNvPr id="11" name="Text 6">
            <a:extLst>
              <a:ext uri="{FF2B5EF4-FFF2-40B4-BE49-F238E27FC236}">
                <a16:creationId xmlns:a16="http://schemas.microsoft.com/office/drawing/2014/main" id="{624E9D32-704D-4442-B9AF-2610AF107209}"/>
              </a:ext>
            </a:extLst>
          </p:cNvPr>
          <p:cNvSpPr>
            <a:spLocks noGrp="1"/>
          </p:cNvSpPr>
          <p:nvPr/>
        </p:nvSpPr>
        <p:spPr>
          <a:xfrm>
            <a:off x="1097280" y="2468880"/>
            <a:ext cx="7406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>
                <a:solidFill>
                  <a:srgbClr val="3A4668"/>
                </a:solidFill>
                <a:latin typeface="Arial"/>
                <a:ea typeface="Arial"/>
                <a:cs typeface="Arial"/>
              </a:rPr>
              <a:t>S3 versioning — recover previous object versions</a:t>
            </a:r>
            <a:endParaRPr sz="1400"/>
          </a:p>
        </p:txBody>
      </p:sp>
      <p:sp>
        <p:nvSpPr>
          <p:cNvPr id="12" name="Shape 7">
            <a:extLst>
              <a:ext uri="{FF2B5EF4-FFF2-40B4-BE49-F238E27FC236}">
                <a16:creationId xmlns:a16="http://schemas.microsoft.com/office/drawing/2014/main" id="{D4304CD8-9C43-444C-BB88-720FB33264A2}"/>
              </a:ext>
            </a:extLst>
          </p:cNvPr>
          <p:cNvSpPr>
            <a:spLocks noGrp="1"/>
          </p:cNvSpPr>
          <p:nvPr/>
        </p:nvSpPr>
        <p:spPr>
          <a:xfrm>
            <a:off x="457200" y="3108960"/>
            <a:ext cx="8229600" cy="548640"/>
          </a:xfrm>
          <a:prstGeom prst="rect">
            <a:avLst/>
          </a:prstGeom>
          <a:solidFill>
            <a:srgbClr val="F4F7FC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4" name="Imag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3200400"/>
            <a:ext cx="365760" cy="365760"/>
          </a:xfrm>
          <a:prstGeom prst="rect">
            <a:avLst/>
          </a:prstGeom>
        </p:spPr>
      </p:pic>
      <p:sp>
        <p:nvSpPr>
          <p:cNvPr id="14" name="Text 8">
            <a:extLst>
              <a:ext uri="{FF2B5EF4-FFF2-40B4-BE49-F238E27FC236}">
                <a16:creationId xmlns:a16="http://schemas.microsoft.com/office/drawing/2014/main" id="{3DF9D42A-CC85-445F-AE20-0060049C087F}"/>
              </a:ext>
            </a:extLst>
          </p:cNvPr>
          <p:cNvSpPr>
            <a:spLocks noGrp="1"/>
          </p:cNvSpPr>
          <p:nvPr/>
        </p:nvSpPr>
        <p:spPr>
          <a:xfrm>
            <a:off x="1097280" y="3108960"/>
            <a:ext cx="7406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>
                <a:solidFill>
                  <a:srgbClr val="3A4668"/>
                </a:solidFill>
                <a:latin typeface="Arial"/>
                <a:ea typeface="Arial"/>
                <a:cs typeface="Arial"/>
              </a:rPr>
              <a:t>Cross-Region copy — maintain a separate regional recovery copy</a:t>
            </a:r>
            <a:endParaRPr sz="1400"/>
          </a:p>
        </p:txBody>
      </p:sp>
      <p:sp>
        <p:nvSpPr>
          <p:cNvPr id="15" name="Shape 9">
            <a:extLst>
              <a:ext uri="{FF2B5EF4-FFF2-40B4-BE49-F238E27FC236}">
                <a16:creationId xmlns:a16="http://schemas.microsoft.com/office/drawing/2014/main" id="{740CBF97-A85B-48D9-BF9E-58EAA0E37923}"/>
              </a:ext>
            </a:extLst>
          </p:cNvPr>
          <p:cNvSpPr>
            <a:spLocks noGrp="1"/>
          </p:cNvSpPr>
          <p:nvPr/>
        </p:nvSpPr>
        <p:spPr>
          <a:xfrm>
            <a:off x="457200" y="3749040"/>
            <a:ext cx="8229600" cy="54864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7" name="Image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" y="3840480"/>
            <a:ext cx="365760" cy="365760"/>
          </a:xfrm>
          <a:prstGeom prst="rect">
            <a:avLst/>
          </a:prstGeom>
        </p:spPr>
      </p:pic>
      <p:sp>
        <p:nvSpPr>
          <p:cNvPr id="17" name="Text 10">
            <a:extLst>
              <a:ext uri="{FF2B5EF4-FFF2-40B4-BE49-F238E27FC236}">
                <a16:creationId xmlns:a16="http://schemas.microsoft.com/office/drawing/2014/main" id="{09C0B66E-121E-4403-97E3-B975FEB07A14}"/>
              </a:ext>
            </a:extLst>
          </p:cNvPr>
          <p:cNvSpPr>
            <a:spLocks noGrp="1"/>
          </p:cNvSpPr>
          <p:nvPr/>
        </p:nvSpPr>
        <p:spPr>
          <a:xfrm>
            <a:off x="1097280" y="3749040"/>
            <a:ext cx="7406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>
                <a:solidFill>
                  <a:srgbClr val="3A4668"/>
                </a:solidFill>
                <a:latin typeface="Arial"/>
                <a:ea typeface="Arial"/>
                <a:cs typeface="Arial"/>
              </a:rPr>
              <a:t>AWS Backup — policy, vault, copy and restore testing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2499693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962298"/>
            <a:ext cx="1188720" cy="118872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1011CAA0-C8A6-4090-B09D-01F9D5A0FEC5}"/>
              </a:ext>
            </a:extLst>
          </p:cNvPr>
          <p:cNvSpPr>
            <a:spLocks noGrp="1"/>
          </p:cNvSpPr>
          <p:nvPr/>
        </p:nvSpPr>
        <p:spPr>
          <a:xfrm>
            <a:off x="457200" y="2333898"/>
            <a:ext cx="822960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000" b="1" i="0" u="none" cap="none" spc="0" dirty="0">
                <a:ln>
                  <a:noFill/>
                </a:ln>
                <a:solidFill>
                  <a:srgbClr val="FFFFFF"/>
                </a:solidFill>
                <a:latin typeface="Arial"/>
                <a:ea typeface="Arial"/>
                <a:cs typeface="Arial"/>
              </a:rPr>
              <a:t>4  Designing AWS Architecture</a:t>
            </a:r>
            <a:endParaRPr sz="4000" b="0" i="0" u="none" kern="1200" cap="none" spc="0" baseline="0" dirty="0">
              <a:ln>
                <a:noFill/>
              </a:ln>
              <a:solidFill>
                <a:prstClr val="black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871029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4A9926A-BBF5-4F03-81A1-E4F29E122C02}"/>
              </a:ext>
            </a:extLst>
          </p:cNvPr>
          <p:cNvSpPr>
            <a:spLocks noGrp="1"/>
          </p:cNvSpPr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6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Requirements Before Services</a:t>
            </a:r>
            <a:endParaRPr sz="36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4F138DC-44BD-463E-808A-8B8C6F0E10E4}"/>
              </a:ext>
            </a:extLst>
          </p:cNvPr>
          <p:cNvSpPr>
            <a:spLocks noGrp="1"/>
          </p:cNvSpPr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5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280160"/>
            <a:ext cx="365760" cy="365760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EE31CED3-420D-4749-99CA-48C2DDE7BB91}"/>
              </a:ext>
            </a:extLst>
          </p:cNvPr>
          <p:cNvSpPr>
            <a:spLocks noGrp="1"/>
          </p:cNvSpPr>
          <p:nvPr/>
        </p:nvSpPr>
        <p:spPr>
          <a:xfrm>
            <a:off x="1097280" y="1188720"/>
            <a:ext cx="7406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>
                <a:solidFill>
                  <a:srgbClr val="3A4668"/>
                </a:solidFill>
                <a:latin typeface="Arial"/>
                <a:ea typeface="Arial"/>
                <a:cs typeface="Arial"/>
              </a:rPr>
              <a:t>Users — locations, access channels and latency</a:t>
            </a:r>
            <a:endParaRPr sz="140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D5D72294-37DC-46AF-8610-2291D07DA366}"/>
              </a:ext>
            </a:extLst>
          </p:cNvPr>
          <p:cNvSpPr>
            <a:spLocks noGrp="1"/>
          </p:cNvSpPr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solidFill>
            <a:srgbClr val="F4F7FC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8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920240"/>
            <a:ext cx="365760" cy="365760"/>
          </a:xfrm>
          <a:prstGeom prst="rect">
            <a:avLst/>
          </a:prstGeom>
        </p:spPr>
      </p:pic>
      <p:sp>
        <p:nvSpPr>
          <p:cNvPr id="8" name="Text 4">
            <a:extLst>
              <a:ext uri="{FF2B5EF4-FFF2-40B4-BE49-F238E27FC236}">
                <a16:creationId xmlns:a16="http://schemas.microsoft.com/office/drawing/2014/main" id="{73F732F5-85E7-44D0-A244-B772930CEC93}"/>
              </a:ext>
            </a:extLst>
          </p:cNvPr>
          <p:cNvSpPr>
            <a:spLocks noGrp="1"/>
          </p:cNvSpPr>
          <p:nvPr/>
        </p:nvSpPr>
        <p:spPr>
          <a:xfrm>
            <a:off x="1097280" y="1828800"/>
            <a:ext cx="7406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>
                <a:solidFill>
                  <a:srgbClr val="3A4668"/>
                </a:solidFill>
                <a:latin typeface="Arial"/>
                <a:ea typeface="Arial"/>
                <a:cs typeface="Arial"/>
              </a:rPr>
              <a:t>Load — normal demand, peak demand and expected growth</a:t>
            </a:r>
            <a:endParaRPr sz="1400"/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BE6323E5-B6A1-47CA-BB18-7F2B0D471EFD}"/>
              </a:ext>
            </a:extLst>
          </p:cNvPr>
          <p:cNvSpPr>
            <a:spLocks noGrp="1"/>
          </p:cNvSpPr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1" name="Imag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2560320"/>
            <a:ext cx="365760" cy="365760"/>
          </a:xfrm>
          <a:prstGeom prst="rect">
            <a:avLst/>
          </a:prstGeom>
        </p:spPr>
      </p:pic>
      <p:sp>
        <p:nvSpPr>
          <p:cNvPr id="11" name="Text 6">
            <a:extLst>
              <a:ext uri="{FF2B5EF4-FFF2-40B4-BE49-F238E27FC236}">
                <a16:creationId xmlns:a16="http://schemas.microsoft.com/office/drawing/2014/main" id="{624E9D32-704D-4442-B9AF-2610AF107209}"/>
              </a:ext>
            </a:extLst>
          </p:cNvPr>
          <p:cNvSpPr>
            <a:spLocks noGrp="1"/>
          </p:cNvSpPr>
          <p:nvPr/>
        </p:nvSpPr>
        <p:spPr>
          <a:xfrm>
            <a:off x="1097280" y="2468880"/>
            <a:ext cx="7406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>
                <a:solidFill>
                  <a:srgbClr val="3A4668"/>
                </a:solidFill>
                <a:latin typeface="Arial"/>
                <a:ea typeface="Arial"/>
                <a:cs typeface="Arial"/>
              </a:rPr>
              <a:t>Availability — target, failure scope, RPO and RTO</a:t>
            </a:r>
            <a:endParaRPr sz="1400"/>
          </a:p>
        </p:txBody>
      </p:sp>
      <p:sp>
        <p:nvSpPr>
          <p:cNvPr id="12" name="Shape 7">
            <a:extLst>
              <a:ext uri="{FF2B5EF4-FFF2-40B4-BE49-F238E27FC236}">
                <a16:creationId xmlns:a16="http://schemas.microsoft.com/office/drawing/2014/main" id="{D4304CD8-9C43-444C-BB88-720FB33264A2}"/>
              </a:ext>
            </a:extLst>
          </p:cNvPr>
          <p:cNvSpPr>
            <a:spLocks noGrp="1"/>
          </p:cNvSpPr>
          <p:nvPr/>
        </p:nvSpPr>
        <p:spPr>
          <a:xfrm>
            <a:off x="457200" y="3108960"/>
            <a:ext cx="8229600" cy="548640"/>
          </a:xfrm>
          <a:prstGeom prst="rect">
            <a:avLst/>
          </a:prstGeom>
          <a:solidFill>
            <a:srgbClr val="F4F7FC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4" name="Imag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3200400"/>
            <a:ext cx="365760" cy="365760"/>
          </a:xfrm>
          <a:prstGeom prst="rect">
            <a:avLst/>
          </a:prstGeom>
        </p:spPr>
      </p:pic>
      <p:sp>
        <p:nvSpPr>
          <p:cNvPr id="14" name="Text 8">
            <a:extLst>
              <a:ext uri="{FF2B5EF4-FFF2-40B4-BE49-F238E27FC236}">
                <a16:creationId xmlns:a16="http://schemas.microsoft.com/office/drawing/2014/main" id="{3DF9D42A-CC85-445F-AE20-0060049C087F}"/>
              </a:ext>
            </a:extLst>
          </p:cNvPr>
          <p:cNvSpPr>
            <a:spLocks noGrp="1"/>
          </p:cNvSpPr>
          <p:nvPr/>
        </p:nvSpPr>
        <p:spPr>
          <a:xfrm>
            <a:off x="1097280" y="3108960"/>
            <a:ext cx="7406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>
                <a:solidFill>
                  <a:srgbClr val="3A4668"/>
                </a:solidFill>
                <a:latin typeface="Arial"/>
                <a:ea typeface="Arial"/>
                <a:cs typeface="Arial"/>
              </a:rPr>
              <a:t>Data — consistency, retention, sensitivity and compliance</a:t>
            </a:r>
            <a:endParaRPr sz="1400"/>
          </a:p>
        </p:txBody>
      </p:sp>
      <p:sp>
        <p:nvSpPr>
          <p:cNvPr id="15" name="Shape 9">
            <a:extLst>
              <a:ext uri="{FF2B5EF4-FFF2-40B4-BE49-F238E27FC236}">
                <a16:creationId xmlns:a16="http://schemas.microsoft.com/office/drawing/2014/main" id="{740CBF97-A85B-48D9-BF9E-58EAA0E37923}"/>
              </a:ext>
            </a:extLst>
          </p:cNvPr>
          <p:cNvSpPr>
            <a:spLocks noGrp="1"/>
          </p:cNvSpPr>
          <p:nvPr/>
        </p:nvSpPr>
        <p:spPr>
          <a:xfrm>
            <a:off x="457200" y="3749040"/>
            <a:ext cx="8229600" cy="54864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7" name="Image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" y="3840480"/>
            <a:ext cx="365760" cy="365760"/>
          </a:xfrm>
          <a:prstGeom prst="rect">
            <a:avLst/>
          </a:prstGeom>
        </p:spPr>
      </p:pic>
      <p:sp>
        <p:nvSpPr>
          <p:cNvPr id="17" name="Text 10">
            <a:extLst>
              <a:ext uri="{FF2B5EF4-FFF2-40B4-BE49-F238E27FC236}">
                <a16:creationId xmlns:a16="http://schemas.microsoft.com/office/drawing/2014/main" id="{09C0B66E-121E-4403-97E3-B975FEB07A14}"/>
              </a:ext>
            </a:extLst>
          </p:cNvPr>
          <p:cNvSpPr>
            <a:spLocks noGrp="1"/>
          </p:cNvSpPr>
          <p:nvPr/>
        </p:nvSpPr>
        <p:spPr>
          <a:xfrm>
            <a:off x="1097280" y="3749040"/>
            <a:ext cx="7406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>
                <a:solidFill>
                  <a:srgbClr val="3A4668"/>
                </a:solidFill>
                <a:latin typeface="Arial"/>
                <a:ea typeface="Arial"/>
                <a:cs typeface="Arial"/>
              </a:rPr>
              <a:t>Constraints — team skills, delivery speed and cost boundary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2499693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93448BC-5496-4A40-974E-EC283AC9B16E}"/>
              </a:ext>
            </a:extLst>
          </p:cNvPr>
          <p:cNvSpPr>
            <a:spLocks noGrp="1"/>
          </p:cNvSpPr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6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Four Principles Enable Change</a:t>
            </a:r>
            <a:endParaRPr sz="36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297DE6D-5241-4BA1-B0A0-D44CF7D54548}"/>
              </a:ext>
            </a:extLst>
          </p:cNvPr>
          <p:cNvSpPr>
            <a:spLocks noGrp="1"/>
          </p:cNvSpPr>
          <p:nvPr/>
        </p:nvSpPr>
        <p:spPr>
          <a:xfrm>
            <a:off x="457200" y="1188720"/>
            <a:ext cx="3931920" cy="1645920"/>
          </a:xfrm>
          <a:prstGeom prst="rect">
            <a:avLst/>
          </a:prstGeom>
          <a:solidFill>
            <a:srgbClr val="E8EE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5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365760" cy="365760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2F3C7858-E454-4839-9043-F12B2134C42C}"/>
              </a:ext>
            </a:extLst>
          </p:cNvPr>
          <p:cNvSpPr>
            <a:spLocks noGrp="1"/>
          </p:cNvSpPr>
          <p:nvPr/>
        </p:nvSpPr>
        <p:spPr>
          <a:xfrm>
            <a:off x="1097280" y="1325880"/>
            <a:ext cx="301752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Stateless</a:t>
            </a:r>
            <a:endParaRPr sz="140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453DFC80-4141-470B-91C3-8C3A95340D57}"/>
              </a:ext>
            </a:extLst>
          </p:cNvPr>
          <p:cNvSpPr>
            <a:spLocks noGrp="1"/>
          </p:cNvSpPr>
          <p:nvPr/>
        </p:nvSpPr>
        <p:spPr>
          <a:xfrm>
            <a:off x="640080" y="1737360"/>
            <a:ext cx="3566160" cy="9601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3A4668"/>
                </a:solidFill>
                <a:latin typeface="Arial"/>
                <a:ea typeface="Arial"/>
                <a:cs typeface="Arial"/>
              </a:rPr>
              <a:t>Keep durable state outside replaceable compute instances.</a:t>
            </a:r>
            <a:endParaRPr sz="120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7E32F17E-ED24-4EA0-B874-52944F4EA7DA}"/>
              </a:ext>
            </a:extLst>
          </p:cNvPr>
          <p:cNvSpPr>
            <a:spLocks noGrp="1"/>
          </p:cNvSpPr>
          <p:nvPr/>
        </p:nvSpPr>
        <p:spPr>
          <a:xfrm>
            <a:off x="4754880" y="1188720"/>
            <a:ext cx="3931920" cy="1645920"/>
          </a:xfrm>
          <a:prstGeom prst="rect">
            <a:avLst/>
          </a:prstGeom>
          <a:solidFill>
            <a:srgbClr val="E8F8F0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9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325880"/>
            <a:ext cx="365760" cy="365760"/>
          </a:xfrm>
          <a:prstGeom prst="rect">
            <a:avLst/>
          </a:prstGeom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D7719CF8-0D7D-4414-835C-668DF8346E54}"/>
              </a:ext>
            </a:extLst>
          </p:cNvPr>
          <p:cNvSpPr>
            <a:spLocks noGrp="1"/>
          </p:cNvSpPr>
          <p:nvPr/>
        </p:nvSpPr>
        <p:spPr>
          <a:xfrm>
            <a:off x="5394960" y="1325880"/>
            <a:ext cx="301752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Loosely coupled</a:t>
            </a:r>
            <a:endParaRPr sz="140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F05DF557-9BBE-46E7-8B69-FD51F9C85CAC}"/>
              </a:ext>
            </a:extLst>
          </p:cNvPr>
          <p:cNvSpPr>
            <a:spLocks noGrp="1"/>
          </p:cNvSpPr>
          <p:nvPr/>
        </p:nvSpPr>
        <p:spPr>
          <a:xfrm>
            <a:off x="4937760" y="1737360"/>
            <a:ext cx="3566160" cy="9601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3A4668"/>
                </a:solidFill>
                <a:latin typeface="Arial"/>
                <a:ea typeface="Arial"/>
                <a:cs typeface="Arial"/>
              </a:rPr>
              <a:t>Use queues or events to isolate temporary failures.</a:t>
            </a:r>
            <a:endParaRPr sz="1200"/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E0A07DE8-025F-47B0-9505-CFA6B2069DA9}"/>
              </a:ext>
            </a:extLst>
          </p:cNvPr>
          <p:cNvSpPr>
            <a:spLocks noGrp="1"/>
          </p:cNvSpPr>
          <p:nvPr/>
        </p:nvSpPr>
        <p:spPr>
          <a:xfrm>
            <a:off x="457200" y="3017520"/>
            <a:ext cx="3931920" cy="1645920"/>
          </a:xfrm>
          <a:prstGeom prst="rect">
            <a:avLst/>
          </a:prstGeom>
          <a:solidFill>
            <a:srgbClr val="FFF0E0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3" name="Imag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154680"/>
            <a:ext cx="365760" cy="365760"/>
          </a:xfrm>
          <a:prstGeom prst="rect">
            <a:avLst/>
          </a:prstGeom>
        </p:spPr>
      </p:pic>
      <p:sp>
        <p:nvSpPr>
          <p:cNvPr id="13" name="Text 8">
            <a:extLst>
              <a:ext uri="{FF2B5EF4-FFF2-40B4-BE49-F238E27FC236}">
                <a16:creationId xmlns:a16="http://schemas.microsoft.com/office/drawing/2014/main" id="{80C0BEB8-E2BE-4974-ABF1-4FD9A00B69EA}"/>
              </a:ext>
            </a:extLst>
          </p:cNvPr>
          <p:cNvSpPr>
            <a:spLocks noGrp="1"/>
          </p:cNvSpPr>
          <p:nvPr/>
        </p:nvSpPr>
        <p:spPr>
          <a:xfrm>
            <a:off x="1097280" y="3154680"/>
            <a:ext cx="301752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Horizontal scale</a:t>
            </a:r>
            <a:endParaRPr sz="1400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FDAB976E-D5B3-4C98-B55B-67524596BF7E}"/>
              </a:ext>
            </a:extLst>
          </p:cNvPr>
          <p:cNvSpPr>
            <a:spLocks noGrp="1"/>
          </p:cNvSpPr>
          <p:nvPr/>
        </p:nvSpPr>
        <p:spPr>
          <a:xfrm>
            <a:off x="640080" y="3566160"/>
            <a:ext cx="3566160" cy="9601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3A4668"/>
                </a:solidFill>
                <a:latin typeface="Arial"/>
                <a:ea typeface="Arial"/>
                <a:cs typeface="Arial"/>
              </a:rPr>
              <a:t>Add replaceable workers and watch the next bottleneck.</a:t>
            </a:r>
            <a:endParaRPr sz="1200"/>
          </a:p>
        </p:txBody>
      </p:sp>
      <p:sp>
        <p:nvSpPr>
          <p:cNvPr id="15" name="Shape 10">
            <a:extLst>
              <a:ext uri="{FF2B5EF4-FFF2-40B4-BE49-F238E27FC236}">
                <a16:creationId xmlns:a16="http://schemas.microsoft.com/office/drawing/2014/main" id="{0AA166E4-7FA6-45D1-8C0C-49A5772714D6}"/>
              </a:ext>
            </a:extLst>
          </p:cNvPr>
          <p:cNvSpPr>
            <a:spLocks noGrp="1"/>
          </p:cNvSpPr>
          <p:nvPr/>
        </p:nvSpPr>
        <p:spPr>
          <a:xfrm>
            <a:off x="4754880" y="3017520"/>
            <a:ext cx="3931920" cy="1645920"/>
          </a:xfrm>
          <a:prstGeom prst="rect">
            <a:avLst/>
          </a:prstGeom>
          <a:solidFill>
            <a:srgbClr val="F0E8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7" name="Imag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3154680"/>
            <a:ext cx="365760" cy="365760"/>
          </a:xfrm>
          <a:prstGeom prst="rect">
            <a:avLst/>
          </a:prstGeom>
        </p:spPr>
      </p:pic>
      <p:sp>
        <p:nvSpPr>
          <p:cNvPr id="17" name="Text 11">
            <a:extLst>
              <a:ext uri="{FF2B5EF4-FFF2-40B4-BE49-F238E27FC236}">
                <a16:creationId xmlns:a16="http://schemas.microsoft.com/office/drawing/2014/main" id="{46093F22-1708-40BB-9BAB-BE99CF62B8BC}"/>
              </a:ext>
            </a:extLst>
          </p:cNvPr>
          <p:cNvSpPr>
            <a:spLocks noGrp="1"/>
          </p:cNvSpPr>
          <p:nvPr/>
        </p:nvSpPr>
        <p:spPr>
          <a:xfrm>
            <a:off x="5394960" y="3154680"/>
            <a:ext cx="301752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Managed deliberately</a:t>
            </a:r>
            <a:endParaRPr sz="1400"/>
          </a:p>
        </p:txBody>
      </p:sp>
      <p:sp>
        <p:nvSpPr>
          <p:cNvPr id="18" name="Text 12">
            <a:extLst>
              <a:ext uri="{FF2B5EF4-FFF2-40B4-BE49-F238E27FC236}">
                <a16:creationId xmlns:a16="http://schemas.microsoft.com/office/drawing/2014/main" id="{78BBDE47-900A-4059-B793-D525709ED891}"/>
              </a:ext>
            </a:extLst>
          </p:cNvPr>
          <p:cNvSpPr>
            <a:spLocks noGrp="1"/>
          </p:cNvSpPr>
          <p:nvPr/>
        </p:nvSpPr>
        <p:spPr>
          <a:xfrm>
            <a:off x="4937760" y="3566160"/>
            <a:ext cx="3566160" cy="9601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3A4668"/>
                </a:solidFill>
                <a:latin typeface="Arial"/>
                <a:ea typeface="Arial"/>
                <a:cs typeface="Arial"/>
              </a:rPr>
              <a:t>Reduce infrastructure work without ignoring design duties.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7930971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4A9926A-BBF5-4F03-81A1-E4F29E122C02}"/>
              </a:ext>
            </a:extLst>
          </p:cNvPr>
          <p:cNvSpPr>
            <a:spLocks noGrp="1"/>
          </p:cNvSpPr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6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Security Works in Layers</a:t>
            </a:r>
            <a:endParaRPr sz="36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4F138DC-44BD-463E-808A-8B8C6F0E10E4}"/>
              </a:ext>
            </a:extLst>
          </p:cNvPr>
          <p:cNvSpPr>
            <a:spLocks noGrp="1"/>
          </p:cNvSpPr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5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280160"/>
            <a:ext cx="365760" cy="365760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EE31CED3-420D-4749-99CA-48C2DDE7BB91}"/>
              </a:ext>
            </a:extLst>
          </p:cNvPr>
          <p:cNvSpPr>
            <a:spLocks noGrp="1"/>
          </p:cNvSpPr>
          <p:nvPr/>
        </p:nvSpPr>
        <p:spPr>
          <a:xfrm>
            <a:off x="1097280" y="1188720"/>
            <a:ext cx="7406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>
                <a:solidFill>
                  <a:srgbClr val="3A4668"/>
                </a:solidFill>
                <a:latin typeface="Arial"/>
                <a:ea typeface="Arial"/>
                <a:cs typeface="Arial"/>
              </a:rPr>
              <a:t>Identity — IAM roles and least-privilege policies</a:t>
            </a:r>
            <a:endParaRPr sz="140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D5D72294-37DC-46AF-8610-2291D07DA366}"/>
              </a:ext>
            </a:extLst>
          </p:cNvPr>
          <p:cNvSpPr>
            <a:spLocks noGrp="1"/>
          </p:cNvSpPr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solidFill>
            <a:srgbClr val="F4F7FC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8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920240"/>
            <a:ext cx="365760" cy="365760"/>
          </a:xfrm>
          <a:prstGeom prst="rect">
            <a:avLst/>
          </a:prstGeom>
        </p:spPr>
      </p:pic>
      <p:sp>
        <p:nvSpPr>
          <p:cNvPr id="8" name="Text 4">
            <a:extLst>
              <a:ext uri="{FF2B5EF4-FFF2-40B4-BE49-F238E27FC236}">
                <a16:creationId xmlns:a16="http://schemas.microsoft.com/office/drawing/2014/main" id="{73F732F5-85E7-44D0-A244-B772930CEC93}"/>
              </a:ext>
            </a:extLst>
          </p:cNvPr>
          <p:cNvSpPr>
            <a:spLocks noGrp="1"/>
          </p:cNvSpPr>
          <p:nvPr/>
        </p:nvSpPr>
        <p:spPr>
          <a:xfrm>
            <a:off x="1097280" y="1828800"/>
            <a:ext cx="7406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>
                <a:solidFill>
                  <a:srgbClr val="3A4668"/>
                </a:solidFill>
                <a:latin typeface="Arial"/>
                <a:ea typeface="Arial"/>
                <a:cs typeface="Arial"/>
              </a:rPr>
              <a:t>Network — VPC, subnets, security groups and endpoints</a:t>
            </a:r>
            <a:endParaRPr sz="1400"/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BE6323E5-B6A1-47CA-BB18-7F2B0D471EFD}"/>
              </a:ext>
            </a:extLst>
          </p:cNvPr>
          <p:cNvSpPr>
            <a:spLocks noGrp="1"/>
          </p:cNvSpPr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1" name="Imag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2560320"/>
            <a:ext cx="365760" cy="365760"/>
          </a:xfrm>
          <a:prstGeom prst="rect">
            <a:avLst/>
          </a:prstGeom>
        </p:spPr>
      </p:pic>
      <p:sp>
        <p:nvSpPr>
          <p:cNvPr id="11" name="Text 6">
            <a:extLst>
              <a:ext uri="{FF2B5EF4-FFF2-40B4-BE49-F238E27FC236}">
                <a16:creationId xmlns:a16="http://schemas.microsoft.com/office/drawing/2014/main" id="{624E9D32-704D-4442-B9AF-2610AF107209}"/>
              </a:ext>
            </a:extLst>
          </p:cNvPr>
          <p:cNvSpPr>
            <a:spLocks noGrp="1"/>
          </p:cNvSpPr>
          <p:nvPr/>
        </p:nvSpPr>
        <p:spPr>
          <a:xfrm>
            <a:off x="1097280" y="2468880"/>
            <a:ext cx="7406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>
                <a:solidFill>
                  <a:srgbClr val="3A4668"/>
                </a:solidFill>
                <a:latin typeface="Arial"/>
                <a:ea typeface="Arial"/>
                <a:cs typeface="Arial"/>
              </a:rPr>
              <a:t>Data — KMS-backed encryption and TLS</a:t>
            </a:r>
            <a:endParaRPr sz="1400"/>
          </a:p>
        </p:txBody>
      </p:sp>
      <p:sp>
        <p:nvSpPr>
          <p:cNvPr id="12" name="Shape 7">
            <a:extLst>
              <a:ext uri="{FF2B5EF4-FFF2-40B4-BE49-F238E27FC236}">
                <a16:creationId xmlns:a16="http://schemas.microsoft.com/office/drawing/2014/main" id="{D4304CD8-9C43-444C-BB88-720FB33264A2}"/>
              </a:ext>
            </a:extLst>
          </p:cNvPr>
          <p:cNvSpPr>
            <a:spLocks noGrp="1"/>
          </p:cNvSpPr>
          <p:nvPr/>
        </p:nvSpPr>
        <p:spPr>
          <a:xfrm>
            <a:off x="457200" y="3108960"/>
            <a:ext cx="8229600" cy="548640"/>
          </a:xfrm>
          <a:prstGeom prst="rect">
            <a:avLst/>
          </a:prstGeom>
          <a:solidFill>
            <a:srgbClr val="F4F7FC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4" name="Imag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3200400"/>
            <a:ext cx="365760" cy="365760"/>
          </a:xfrm>
          <a:prstGeom prst="rect">
            <a:avLst/>
          </a:prstGeom>
        </p:spPr>
      </p:pic>
      <p:sp>
        <p:nvSpPr>
          <p:cNvPr id="14" name="Text 8">
            <a:extLst>
              <a:ext uri="{FF2B5EF4-FFF2-40B4-BE49-F238E27FC236}">
                <a16:creationId xmlns:a16="http://schemas.microsoft.com/office/drawing/2014/main" id="{3DF9D42A-CC85-445F-AE20-0060049C087F}"/>
              </a:ext>
            </a:extLst>
          </p:cNvPr>
          <p:cNvSpPr>
            <a:spLocks noGrp="1"/>
          </p:cNvSpPr>
          <p:nvPr/>
        </p:nvSpPr>
        <p:spPr>
          <a:xfrm>
            <a:off x="1097280" y="3108960"/>
            <a:ext cx="7406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>
                <a:solidFill>
                  <a:srgbClr val="3A4668"/>
                </a:solidFill>
                <a:latin typeface="Arial"/>
                <a:ea typeface="Arial"/>
                <a:cs typeface="Arial"/>
              </a:rPr>
              <a:t>Secrets — Secrets Manager or Parameter Store</a:t>
            </a:r>
            <a:endParaRPr sz="1400"/>
          </a:p>
        </p:txBody>
      </p:sp>
      <p:sp>
        <p:nvSpPr>
          <p:cNvPr id="15" name="Shape 9">
            <a:extLst>
              <a:ext uri="{FF2B5EF4-FFF2-40B4-BE49-F238E27FC236}">
                <a16:creationId xmlns:a16="http://schemas.microsoft.com/office/drawing/2014/main" id="{740CBF97-A85B-48D9-BF9E-58EAA0E37923}"/>
              </a:ext>
            </a:extLst>
          </p:cNvPr>
          <p:cNvSpPr>
            <a:spLocks noGrp="1"/>
          </p:cNvSpPr>
          <p:nvPr/>
        </p:nvSpPr>
        <p:spPr>
          <a:xfrm>
            <a:off x="457200" y="3749040"/>
            <a:ext cx="8229600" cy="54864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7" name="Image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" y="3840480"/>
            <a:ext cx="365760" cy="365760"/>
          </a:xfrm>
          <a:prstGeom prst="rect">
            <a:avLst/>
          </a:prstGeom>
        </p:spPr>
      </p:pic>
      <p:sp>
        <p:nvSpPr>
          <p:cNvPr id="17" name="Text 10">
            <a:extLst>
              <a:ext uri="{FF2B5EF4-FFF2-40B4-BE49-F238E27FC236}">
                <a16:creationId xmlns:a16="http://schemas.microsoft.com/office/drawing/2014/main" id="{09C0B66E-121E-4403-97E3-B975FEB07A14}"/>
              </a:ext>
            </a:extLst>
          </p:cNvPr>
          <p:cNvSpPr>
            <a:spLocks noGrp="1"/>
          </p:cNvSpPr>
          <p:nvPr/>
        </p:nvSpPr>
        <p:spPr>
          <a:xfrm>
            <a:off x="1097280" y="3749040"/>
            <a:ext cx="7406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>
                <a:solidFill>
                  <a:srgbClr val="3A4668"/>
                </a:solidFill>
                <a:latin typeface="Arial"/>
                <a:ea typeface="Arial"/>
                <a:cs typeface="Arial"/>
              </a:rPr>
              <a:t>Detection — CloudTrail, CloudWatch and security services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2499693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93448BC-5496-4A40-974E-EC283AC9B16E}"/>
              </a:ext>
            </a:extLst>
          </p:cNvPr>
          <p:cNvSpPr>
            <a:spLocks noGrp="1"/>
          </p:cNvSpPr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6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Patterns Fit Different Constraints</a:t>
            </a:r>
            <a:endParaRPr sz="36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297DE6D-5241-4BA1-B0A0-D44CF7D54548}"/>
              </a:ext>
            </a:extLst>
          </p:cNvPr>
          <p:cNvSpPr>
            <a:spLocks noGrp="1"/>
          </p:cNvSpPr>
          <p:nvPr/>
        </p:nvSpPr>
        <p:spPr>
          <a:xfrm>
            <a:off x="457200" y="1188720"/>
            <a:ext cx="3931920" cy="1645920"/>
          </a:xfrm>
          <a:prstGeom prst="rect">
            <a:avLst/>
          </a:prstGeom>
          <a:solidFill>
            <a:srgbClr val="E8EE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5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365760" cy="365760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2F3C7858-E454-4839-9043-F12B2134C42C}"/>
              </a:ext>
            </a:extLst>
          </p:cNvPr>
          <p:cNvSpPr>
            <a:spLocks noGrp="1"/>
          </p:cNvSpPr>
          <p:nvPr/>
        </p:nvSpPr>
        <p:spPr>
          <a:xfrm>
            <a:off x="1097280" y="1325880"/>
            <a:ext cx="301752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Serverless</a:t>
            </a:r>
            <a:endParaRPr sz="140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453DFC80-4141-470B-91C3-8C3A95340D57}"/>
              </a:ext>
            </a:extLst>
          </p:cNvPr>
          <p:cNvSpPr>
            <a:spLocks noGrp="1"/>
          </p:cNvSpPr>
          <p:nvPr/>
        </p:nvSpPr>
        <p:spPr>
          <a:xfrm>
            <a:off x="640080" y="1737360"/>
            <a:ext cx="3566160" cy="9601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3A4668"/>
                </a:solidFill>
                <a:latin typeface="Arial"/>
                <a:ea typeface="Arial"/>
                <a:cs typeface="Arial"/>
              </a:rPr>
              <a:t>CloudFront, API Gateway, Lambda and managed data services.</a:t>
            </a:r>
            <a:endParaRPr sz="120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7E32F17E-ED24-4EA0-B874-52944F4EA7DA}"/>
              </a:ext>
            </a:extLst>
          </p:cNvPr>
          <p:cNvSpPr>
            <a:spLocks noGrp="1"/>
          </p:cNvSpPr>
          <p:nvPr/>
        </p:nvSpPr>
        <p:spPr>
          <a:xfrm>
            <a:off x="4754880" y="1188720"/>
            <a:ext cx="3931920" cy="1645920"/>
          </a:xfrm>
          <a:prstGeom prst="rect">
            <a:avLst/>
          </a:prstGeom>
          <a:solidFill>
            <a:srgbClr val="E8F8F0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9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325880"/>
            <a:ext cx="365760" cy="365760"/>
          </a:xfrm>
          <a:prstGeom prst="rect">
            <a:avLst/>
          </a:prstGeom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D7719CF8-0D7D-4414-835C-668DF8346E54}"/>
              </a:ext>
            </a:extLst>
          </p:cNvPr>
          <p:cNvSpPr>
            <a:spLocks noGrp="1"/>
          </p:cNvSpPr>
          <p:nvPr/>
        </p:nvSpPr>
        <p:spPr>
          <a:xfrm>
            <a:off x="5394960" y="1325880"/>
            <a:ext cx="301752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Three-tier</a:t>
            </a:r>
            <a:endParaRPr sz="140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F05DF557-9BBE-46E7-8B69-FD51F9C85CAC}"/>
              </a:ext>
            </a:extLst>
          </p:cNvPr>
          <p:cNvSpPr>
            <a:spLocks noGrp="1"/>
          </p:cNvSpPr>
          <p:nvPr/>
        </p:nvSpPr>
        <p:spPr>
          <a:xfrm>
            <a:off x="4937760" y="1737360"/>
            <a:ext cx="3566160" cy="9601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3A4668"/>
                </a:solidFill>
                <a:latin typeface="Arial"/>
                <a:ea typeface="Arial"/>
                <a:cs typeface="Arial"/>
              </a:rPr>
              <a:t>ALB, scalable compute and RDS Multi-AZ across two AZs.</a:t>
            </a:r>
            <a:endParaRPr sz="1200"/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E0A07DE8-025F-47B0-9505-CFA6B2069DA9}"/>
              </a:ext>
            </a:extLst>
          </p:cNvPr>
          <p:cNvSpPr>
            <a:spLocks noGrp="1"/>
          </p:cNvSpPr>
          <p:nvPr/>
        </p:nvSpPr>
        <p:spPr>
          <a:xfrm>
            <a:off x="457200" y="3017520"/>
            <a:ext cx="3931920" cy="1645920"/>
          </a:xfrm>
          <a:prstGeom prst="rect">
            <a:avLst/>
          </a:prstGeom>
          <a:solidFill>
            <a:srgbClr val="FFF0E0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3" name="Imag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154680"/>
            <a:ext cx="365760" cy="365760"/>
          </a:xfrm>
          <a:prstGeom prst="rect">
            <a:avLst/>
          </a:prstGeom>
        </p:spPr>
      </p:pic>
      <p:sp>
        <p:nvSpPr>
          <p:cNvPr id="13" name="Text 8">
            <a:extLst>
              <a:ext uri="{FF2B5EF4-FFF2-40B4-BE49-F238E27FC236}">
                <a16:creationId xmlns:a16="http://schemas.microsoft.com/office/drawing/2014/main" id="{80C0BEB8-E2BE-4974-ABF1-4FD9A00B69EA}"/>
              </a:ext>
            </a:extLst>
          </p:cNvPr>
          <p:cNvSpPr>
            <a:spLocks noGrp="1"/>
          </p:cNvSpPr>
          <p:nvPr/>
        </p:nvSpPr>
        <p:spPr>
          <a:xfrm>
            <a:off x="1097280" y="3154680"/>
            <a:ext cx="301752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Event-driven</a:t>
            </a:r>
            <a:endParaRPr sz="1400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FDAB976E-D5B3-4C98-B55B-67524596BF7E}"/>
              </a:ext>
            </a:extLst>
          </p:cNvPr>
          <p:cNvSpPr>
            <a:spLocks noGrp="1"/>
          </p:cNvSpPr>
          <p:nvPr/>
        </p:nvSpPr>
        <p:spPr>
          <a:xfrm>
            <a:off x="640080" y="3566160"/>
            <a:ext cx="3566160" cy="9601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3A4668"/>
                </a:solidFill>
                <a:latin typeface="Arial"/>
                <a:ea typeface="Arial"/>
                <a:cs typeface="Arial"/>
              </a:rPr>
              <a:t>Independent consumers connected through queues or events.</a:t>
            </a:r>
            <a:endParaRPr sz="1200"/>
          </a:p>
        </p:txBody>
      </p:sp>
      <p:sp>
        <p:nvSpPr>
          <p:cNvPr id="15" name="Shape 10">
            <a:extLst>
              <a:ext uri="{FF2B5EF4-FFF2-40B4-BE49-F238E27FC236}">
                <a16:creationId xmlns:a16="http://schemas.microsoft.com/office/drawing/2014/main" id="{0AA166E4-7FA6-45D1-8C0C-49A5772714D6}"/>
              </a:ext>
            </a:extLst>
          </p:cNvPr>
          <p:cNvSpPr>
            <a:spLocks noGrp="1"/>
          </p:cNvSpPr>
          <p:nvPr/>
        </p:nvSpPr>
        <p:spPr>
          <a:xfrm>
            <a:off x="4754880" y="3017520"/>
            <a:ext cx="3931920" cy="1645920"/>
          </a:xfrm>
          <a:prstGeom prst="rect">
            <a:avLst/>
          </a:prstGeom>
          <a:solidFill>
            <a:srgbClr val="F0E8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7" name="Imag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3154680"/>
            <a:ext cx="365760" cy="365760"/>
          </a:xfrm>
          <a:prstGeom prst="rect">
            <a:avLst/>
          </a:prstGeom>
        </p:spPr>
      </p:pic>
      <p:sp>
        <p:nvSpPr>
          <p:cNvPr id="17" name="Text 11">
            <a:extLst>
              <a:ext uri="{FF2B5EF4-FFF2-40B4-BE49-F238E27FC236}">
                <a16:creationId xmlns:a16="http://schemas.microsoft.com/office/drawing/2014/main" id="{46093F22-1708-40BB-9BAB-BE99CF62B8BC}"/>
              </a:ext>
            </a:extLst>
          </p:cNvPr>
          <p:cNvSpPr>
            <a:spLocks noGrp="1"/>
          </p:cNvSpPr>
          <p:nvPr/>
        </p:nvSpPr>
        <p:spPr>
          <a:xfrm>
            <a:off x="5394960" y="3154680"/>
            <a:ext cx="301752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Hybrid</a:t>
            </a:r>
            <a:endParaRPr sz="1400"/>
          </a:p>
        </p:txBody>
      </p:sp>
      <p:sp>
        <p:nvSpPr>
          <p:cNvPr id="18" name="Text 12">
            <a:extLst>
              <a:ext uri="{FF2B5EF4-FFF2-40B4-BE49-F238E27FC236}">
                <a16:creationId xmlns:a16="http://schemas.microsoft.com/office/drawing/2014/main" id="{78BBDE47-900A-4059-B793-D525709ED891}"/>
              </a:ext>
            </a:extLst>
          </p:cNvPr>
          <p:cNvSpPr>
            <a:spLocks noGrp="1"/>
          </p:cNvSpPr>
          <p:nvPr/>
        </p:nvSpPr>
        <p:spPr>
          <a:xfrm>
            <a:off x="4937760" y="3566160"/>
            <a:ext cx="3566160" cy="9601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3A4668"/>
                </a:solidFill>
                <a:latin typeface="Arial"/>
                <a:ea typeface="Arial"/>
                <a:cs typeface="Arial"/>
              </a:rPr>
              <a:t>On-premises systems connected to AWS during phased change.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7930971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967C80B-65B3-4ED1-93DD-6E0CEE774D7B}"/>
              </a:ext>
            </a:extLst>
          </p:cNvPr>
          <p:cNvSpPr>
            <a:spLocks noGrp="1"/>
          </p:cNvSpPr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6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Challenge the Design, Then Review It</a:t>
            </a:r>
            <a:endParaRPr sz="36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28EA48F-A975-4484-9123-309A4EEFEB7E}"/>
              </a:ext>
            </a:extLst>
          </p:cNvPr>
          <p:cNvSpPr>
            <a:spLocks noGrp="1"/>
          </p:cNvSpPr>
          <p:nvPr/>
        </p:nvSpPr>
        <p:spPr>
          <a:xfrm>
            <a:off x="457200" y="1417320"/>
            <a:ext cx="3931920" cy="333756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F2CAFA1-1C0F-4276-86A9-8166630BCA85}"/>
              </a:ext>
            </a:extLst>
          </p:cNvPr>
          <p:cNvSpPr>
            <a:spLocks noGrp="1"/>
          </p:cNvSpPr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solidFill>
            <a:srgbClr val="326CE5"/>
          </a:solidFill>
        </p:spPr>
        <p:txBody>
          <a:bodyPr/>
          <a:lstStyle/>
          <a:p>
            <a:endParaRPr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D2F1FDA-ABD7-4444-8190-01A68DB49DCB}"/>
              </a:ext>
            </a:extLst>
          </p:cNvPr>
          <p:cNvSpPr>
            <a:spLocks noGrp="1"/>
          </p:cNvSpPr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Failure &amp; Scale</a:t>
            </a:r>
            <a:endParaRPr sz="14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937D63E-3E8D-439C-AFC9-349B2C1C914D}"/>
              </a:ext>
            </a:extLst>
          </p:cNvPr>
          <p:cNvSpPr>
            <a:spLocks noGrp="1"/>
          </p:cNvSpPr>
          <p:nvPr/>
        </p:nvSpPr>
        <p:spPr>
          <a:xfrm>
            <a:off x="640080" y="1965960"/>
            <a:ext cx="3566160" cy="2606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300">
                <a:solidFill>
                  <a:srgbClr val="3A4668"/>
                </a:solidFill>
                <a:latin typeface="Arial"/>
                <a:ea typeface="Arial"/>
                <a:cs typeface="Arial"/>
              </a:rPr>
              <a:t>What fails with one AZ?</a:t>
            </a:r>
            <a:endParaRPr sz="13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300">
                <a:solidFill>
                  <a:srgbClr val="3A4668"/>
                </a:solidFill>
                <a:latin typeface="Arial"/>
                <a:ea typeface="Arial"/>
                <a:cs typeface="Arial"/>
              </a:rPr>
              <a:t>Where is state stored?</a:t>
            </a:r>
            <a:endParaRPr sz="13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300">
                <a:solidFill>
                  <a:srgbClr val="3A4668"/>
                </a:solidFill>
                <a:latin typeface="Arial"/>
                <a:ea typeface="Arial"/>
                <a:cs typeface="Arial"/>
              </a:rPr>
              <a:t>What becomes the next bottleneck?</a:t>
            </a:r>
            <a:endParaRPr sz="13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88683419-885E-4C8A-BEE0-09FA77BF4D42}"/>
              </a:ext>
            </a:extLst>
          </p:cNvPr>
          <p:cNvSpPr>
            <a:spLocks noGrp="1"/>
          </p:cNvSpPr>
          <p:nvPr/>
        </p:nvSpPr>
        <p:spPr>
          <a:xfrm>
            <a:off x="4754880" y="1417320"/>
            <a:ext cx="3931920" cy="333756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E590AFF7-7138-4DDF-B66B-A6F92E14E791}"/>
              </a:ext>
            </a:extLst>
          </p:cNvPr>
          <p:cNvSpPr>
            <a:spLocks noGrp="1"/>
          </p:cNvSpPr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solidFill>
            <a:srgbClr val="FF9900"/>
          </a:solidFill>
        </p:spPr>
        <p:txBody>
          <a:bodyPr/>
          <a:lstStyle/>
          <a:p>
            <a:endParaRPr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A4B9A6C9-5DBC-4804-811D-851343207CCE}"/>
              </a:ext>
            </a:extLst>
          </p:cNvPr>
          <p:cNvSpPr>
            <a:spLocks noGrp="1"/>
          </p:cNvSpPr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Security &amp; Operations</a:t>
            </a:r>
            <a:endParaRPr sz="14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ED56A9AD-36A7-49A5-B723-F429A57D5A97}"/>
              </a:ext>
            </a:extLst>
          </p:cNvPr>
          <p:cNvSpPr>
            <a:spLocks noGrp="1"/>
          </p:cNvSpPr>
          <p:nvPr/>
        </p:nvSpPr>
        <p:spPr>
          <a:xfrm>
            <a:off x="4937760" y="1965960"/>
            <a:ext cx="3566160" cy="2606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300">
                <a:solidFill>
                  <a:srgbClr val="3A4668"/>
                </a:solidFill>
                <a:latin typeface="Arial"/>
                <a:ea typeface="Arial"/>
                <a:cs typeface="Arial"/>
              </a:rPr>
              <a:t>Which identity can access each resource?</a:t>
            </a:r>
            <a:endParaRPr sz="13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300">
                <a:solidFill>
                  <a:srgbClr val="3A4668"/>
                </a:solidFill>
                <a:latin typeface="Arial"/>
                <a:ea typeface="Arial"/>
                <a:cs typeface="Arial"/>
              </a:rPr>
              <a:t>How is deleted data restored?</a:t>
            </a:r>
            <a:endParaRPr sz="13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300">
                <a:solidFill>
                  <a:srgbClr val="3A4668"/>
                </a:solidFill>
                <a:latin typeface="Arial"/>
                <a:ea typeface="Arial"/>
                <a:cs typeface="Arial"/>
              </a:rPr>
              <a:t>Which Well-Architected pillar needs work?</a:t>
            </a:r>
            <a:endParaRPr sz="1300"/>
          </a:p>
        </p:txBody>
      </p:sp>
    </p:spTree>
    <p:extLst>
      <p:ext uri="{BB962C8B-B14F-4D97-AF65-F5344CB8AC3E}">
        <p14:creationId xmlns:p14="http://schemas.microsoft.com/office/powerpoint/2010/main" val="17604657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857796"/>
            <a:ext cx="1188720" cy="118872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1011CAA0-C8A6-4090-B09D-01F9D5A0FEC5}"/>
              </a:ext>
            </a:extLst>
          </p:cNvPr>
          <p:cNvSpPr>
            <a:spLocks noGrp="1"/>
          </p:cNvSpPr>
          <p:nvPr/>
        </p:nvSpPr>
        <p:spPr>
          <a:xfrm>
            <a:off x="457200" y="2229396"/>
            <a:ext cx="822960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000" b="1" i="0" u="none" cap="none" spc="0" dirty="0">
                <a:ln>
                  <a:noFill/>
                </a:ln>
                <a:solidFill>
                  <a:srgbClr val="FFFFFF"/>
                </a:solidFill>
                <a:latin typeface="Arial"/>
                <a:ea typeface="Arial"/>
                <a:cs typeface="Arial"/>
              </a:rPr>
              <a:t>5  Migration</a:t>
            </a:r>
            <a:endParaRPr sz="4000" b="0" i="0" u="none" kern="1200" cap="none" spc="0" baseline="0" dirty="0">
              <a:ln>
                <a:noFill/>
              </a:ln>
              <a:solidFill>
                <a:prstClr val="black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871029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B62B132-033B-42E3-923F-F70AA7DD3ADB}"/>
              </a:ext>
            </a:extLst>
          </p:cNvPr>
          <p:cNvSpPr>
            <a:spLocks noGrp="1"/>
          </p:cNvSpPr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600" b="1">
                <a:solidFill>
                  <a:srgbClr val="00D4AA"/>
                </a:solidFill>
                <a:latin typeface="Arial"/>
                <a:ea typeface="Arial"/>
                <a:cs typeface="Arial"/>
              </a:rPr>
              <a:t>Migration Is a Lifecycle, Not a Copy</a:t>
            </a:r>
            <a:endParaRPr sz="36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24E013A-0DE5-4569-8480-E5A15E53A037}"/>
              </a:ext>
            </a:extLst>
          </p:cNvPr>
          <p:cNvSpPr>
            <a:spLocks noGrp="1"/>
          </p:cNvSpPr>
          <p:nvPr/>
        </p:nvSpPr>
        <p:spPr>
          <a:xfrm>
            <a:off x="457200" y="1051560"/>
            <a:ext cx="8229600" cy="3200400"/>
          </a:xfrm>
          <a:prstGeom prst="rect">
            <a:avLst/>
          </a:prstGeom>
          <a:solidFill>
            <a:srgbClr val="2D3454"/>
          </a:solidFill>
        </p:spPr>
        <p:txBody>
          <a:bodyPr/>
          <a:lstStyle/>
          <a:p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B9A6128-E208-4157-8406-D0A5CB3DB2AF}"/>
              </a:ext>
            </a:extLst>
          </p:cNvPr>
          <p:cNvSpPr>
            <a:spLocks noGrp="1"/>
          </p:cNvSpPr>
          <p:nvPr/>
        </p:nvSpPr>
        <p:spPr>
          <a:xfrm>
            <a:off x="640080" y="1143000"/>
            <a:ext cx="7863840" cy="301752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  <a:defRPr sz="1300">
                <a:solidFill>
                  <a:srgbClr val="00D4AA"/>
                </a:solidFill>
                <a:latin typeface="Consolas"/>
                <a:ea typeface="Consolas"/>
                <a:cs typeface="Consolas"/>
              </a:defRPr>
            </a:pPr>
            <a:r>
              <a:rPr sz="1300">
                <a:solidFill>
                  <a:srgbClr val="00D4AA"/>
                </a:solidFill>
                <a:latin typeface="Consolas"/>
                <a:ea typeface="Consolas"/>
                <a:cs typeface="Consolas"/>
              </a:rPr>
              <a:t>ASSESS  ---&gt;  MOBILIZE  ---&gt;  MIGRATE &amp; MODERNIZE</a:t>
            </a:r>
            <a:endParaRPr sz="1300"/>
          </a:p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  <a:defRPr sz="1300">
                <a:solidFill>
                  <a:srgbClr val="00D4AA"/>
                </a:solidFill>
                <a:latin typeface="Consolas"/>
                <a:ea typeface="Consolas"/>
                <a:cs typeface="Consolas"/>
              </a:defRPr>
            </a:pPr>
            <a:r>
              <a:rPr sz="1300">
                <a:solidFill>
                  <a:srgbClr val="00D4AA"/>
                </a:solidFill>
                <a:latin typeface="Consolas"/>
                <a:ea typeface="Consolas"/>
                <a:cs typeface="Consolas"/>
              </a:rPr>
              <a:t>inventory          landing zone          execute waves</a:t>
            </a:r>
            <a:endParaRPr sz="1300"/>
          </a:p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  <a:defRPr sz="1300">
                <a:solidFill>
                  <a:srgbClr val="00D4AA"/>
                </a:solidFill>
                <a:latin typeface="Consolas"/>
                <a:ea typeface="Consolas"/>
                <a:cs typeface="Consolas"/>
              </a:defRPr>
            </a:pPr>
            <a:r>
              <a:rPr sz="1300">
                <a:solidFill>
                  <a:srgbClr val="00D4AA"/>
                </a:solidFill>
                <a:latin typeface="Consolas"/>
                <a:ea typeface="Consolas"/>
                <a:cs typeface="Consolas"/>
              </a:rPr>
              <a:t>dependencies       security / network    test and cut over</a:t>
            </a:r>
            <a:endParaRPr sz="130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endParaRPr sz="1300"/>
          </a:p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  <a:defRPr sz="1300">
                <a:solidFill>
                  <a:srgbClr val="00D4AA"/>
                </a:solidFill>
                <a:latin typeface="Consolas"/>
                <a:ea typeface="Consolas"/>
                <a:cs typeface="Consolas"/>
              </a:defRPr>
            </a:pPr>
            <a:r>
              <a:rPr sz="1300">
                <a:solidFill>
                  <a:srgbClr val="00D4AA"/>
                </a:solidFill>
                <a:latin typeface="Consolas"/>
                <a:ea typeface="Consolas"/>
                <a:cs typeface="Consolas"/>
              </a:rPr>
              <a:t>OPERATE &amp; OPTIMIZE</a:t>
            </a:r>
            <a:endParaRPr sz="1300"/>
          </a:p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  <a:defRPr sz="1300">
                <a:solidFill>
                  <a:srgbClr val="00D4AA"/>
                </a:solidFill>
                <a:latin typeface="Consolas"/>
                <a:ea typeface="Consolas"/>
                <a:cs typeface="Consolas"/>
              </a:defRPr>
            </a:pPr>
            <a:r>
              <a:rPr sz="1300">
                <a:solidFill>
                  <a:srgbClr val="00D4AA"/>
                </a:solidFill>
                <a:latin typeface="Consolas"/>
                <a:ea typeface="Consolas"/>
                <a:cs typeface="Consolas"/>
              </a:rPr>
              <a:t>monitor  ---&gt;  right-size  ---&gt;  modernize further</a:t>
            </a:r>
            <a:endParaRPr sz="13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76DB299-7D43-4410-884A-5484BE8AE465}"/>
              </a:ext>
            </a:extLst>
          </p:cNvPr>
          <p:cNvSpPr>
            <a:spLocks noGrp="1"/>
          </p:cNvSpPr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solidFill>
            <a:srgbClr val="326CE5"/>
          </a:solidFill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8D87DB0-5923-440F-9AD0-12210356E233}"/>
              </a:ext>
            </a:extLst>
          </p:cNvPr>
          <p:cNvSpPr>
            <a:spLocks noGrp="1"/>
          </p:cNvSpPr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Server replication is one task inside a business migration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80654665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5573339-A5CF-4231-9559-49511B704C71}"/>
              </a:ext>
            </a:extLst>
          </p:cNvPr>
          <p:cNvSpPr>
            <a:spLocks noGrp="1"/>
          </p:cNvSpPr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6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The 7 Rs Express Different Outcomes</a:t>
            </a:r>
            <a:endParaRPr sz="36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6A9B5ED-E865-4FB9-8CB3-942B9EB65D78}"/>
              </a:ext>
            </a:extLst>
          </p:cNvPr>
          <p:cNvSpPr>
            <a:spLocks noGrp="1"/>
          </p:cNvSpPr>
          <p:nvPr/>
        </p:nvSpPr>
        <p:spPr>
          <a:xfrm>
            <a:off x="457200" y="1417320"/>
            <a:ext cx="3931920" cy="333756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0FC9DF2-041A-47D5-A2AD-5B9C14E82EAF}"/>
              </a:ext>
            </a:extLst>
          </p:cNvPr>
          <p:cNvSpPr>
            <a:spLocks noGrp="1"/>
          </p:cNvSpPr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solidFill>
            <a:srgbClr val="326CE5"/>
          </a:solidFill>
        </p:spPr>
        <p:txBody>
          <a:bodyPr/>
          <a:lstStyle/>
          <a:p>
            <a:endParaRPr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0B2D206-A17A-4D84-A6E0-2C9ED60B21A0}"/>
              </a:ext>
            </a:extLst>
          </p:cNvPr>
          <p:cNvSpPr>
            <a:spLocks noGrp="1"/>
          </p:cNvSpPr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Remove or Move</a:t>
            </a:r>
            <a:endParaRPr sz="14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18291B7-1854-44F3-B234-1948F53858AF}"/>
              </a:ext>
            </a:extLst>
          </p:cNvPr>
          <p:cNvSpPr>
            <a:spLocks noGrp="1"/>
          </p:cNvSpPr>
          <p:nvPr/>
        </p:nvSpPr>
        <p:spPr>
          <a:xfrm>
            <a:off x="640080" y="1965960"/>
            <a:ext cx="3566160" cy="2606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300">
                <a:solidFill>
                  <a:srgbClr val="3A4668"/>
                </a:solidFill>
                <a:latin typeface="Arial"/>
                <a:ea typeface="Arial"/>
                <a:cs typeface="Arial"/>
              </a:rPr>
              <a:t>Retire — remove</a:t>
            </a:r>
            <a:endParaRPr sz="13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300">
                <a:solidFill>
                  <a:srgbClr val="3A4668"/>
                </a:solidFill>
                <a:latin typeface="Arial"/>
                <a:ea typeface="Arial"/>
                <a:cs typeface="Arial"/>
              </a:rPr>
              <a:t>Retain — keep for now</a:t>
            </a:r>
            <a:endParaRPr sz="13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300">
                <a:solidFill>
                  <a:srgbClr val="3A4668"/>
                </a:solidFill>
                <a:latin typeface="Arial"/>
                <a:ea typeface="Arial"/>
                <a:cs typeface="Arial"/>
              </a:rPr>
              <a:t>Rehost — move with minimal change</a:t>
            </a:r>
            <a:endParaRPr sz="13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300">
                <a:solidFill>
                  <a:srgbClr val="3A4668"/>
                </a:solidFill>
                <a:latin typeface="Arial"/>
                <a:ea typeface="Arial"/>
                <a:cs typeface="Arial"/>
              </a:rPr>
              <a:t>Relocate — move the platform</a:t>
            </a:r>
            <a:endParaRPr sz="13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A360082B-EC9A-4D71-BADF-B886E8E8F2ED}"/>
              </a:ext>
            </a:extLst>
          </p:cNvPr>
          <p:cNvSpPr>
            <a:spLocks noGrp="1"/>
          </p:cNvSpPr>
          <p:nvPr/>
        </p:nvSpPr>
        <p:spPr>
          <a:xfrm>
            <a:off x="4754880" y="1417320"/>
            <a:ext cx="3931920" cy="333756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4CEE478A-B52F-41F5-9393-700CE7EAEAAB}"/>
              </a:ext>
            </a:extLst>
          </p:cNvPr>
          <p:cNvSpPr>
            <a:spLocks noGrp="1"/>
          </p:cNvSpPr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solidFill>
            <a:srgbClr val="00B074"/>
          </a:solidFill>
        </p:spPr>
        <p:txBody>
          <a:bodyPr/>
          <a:lstStyle/>
          <a:p>
            <a:endParaRPr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DC8C7F40-6E38-48AC-8A97-4F9BD0E1C07A}"/>
              </a:ext>
            </a:extLst>
          </p:cNvPr>
          <p:cNvSpPr>
            <a:spLocks noGrp="1"/>
          </p:cNvSpPr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Change the Solution</a:t>
            </a:r>
            <a:endParaRPr sz="14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768D51EE-111E-4405-977D-0257245B62DA}"/>
              </a:ext>
            </a:extLst>
          </p:cNvPr>
          <p:cNvSpPr>
            <a:spLocks noGrp="1"/>
          </p:cNvSpPr>
          <p:nvPr/>
        </p:nvSpPr>
        <p:spPr>
          <a:xfrm>
            <a:off x="4937760" y="1965960"/>
            <a:ext cx="3566160" cy="2606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300">
                <a:solidFill>
                  <a:srgbClr val="3A4668"/>
                </a:solidFill>
                <a:latin typeface="Arial"/>
                <a:ea typeface="Arial"/>
                <a:cs typeface="Arial"/>
              </a:rPr>
              <a:t>Replatform — change platform</a:t>
            </a:r>
            <a:endParaRPr sz="13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300">
                <a:solidFill>
                  <a:srgbClr val="3A4668"/>
                </a:solidFill>
                <a:latin typeface="Arial"/>
                <a:ea typeface="Arial"/>
                <a:cs typeface="Arial"/>
              </a:rPr>
              <a:t>Repurchase — replace with product or SaaS</a:t>
            </a:r>
            <a:endParaRPr sz="13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300">
                <a:solidFill>
                  <a:srgbClr val="3A4668"/>
                </a:solidFill>
                <a:latin typeface="Arial"/>
                <a:ea typeface="Arial"/>
                <a:cs typeface="Arial"/>
              </a:rPr>
              <a:t>Refactor — redesign the architecture</a:t>
            </a:r>
            <a:endParaRPr sz="1300"/>
          </a:p>
        </p:txBody>
      </p:sp>
    </p:spTree>
    <p:extLst>
      <p:ext uri="{BB962C8B-B14F-4D97-AF65-F5344CB8AC3E}">
        <p14:creationId xmlns:p14="http://schemas.microsoft.com/office/powerpoint/2010/main" val="6717286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4A9926A-BBF5-4F03-81A1-E4F29E122C02}"/>
              </a:ext>
            </a:extLst>
          </p:cNvPr>
          <p:cNvSpPr>
            <a:spLocks noGrp="1"/>
          </p:cNvSpPr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6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Choose the Tool by What Is Moving</a:t>
            </a:r>
            <a:endParaRPr sz="36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4F138DC-44BD-463E-808A-8B8C6F0E10E4}"/>
              </a:ext>
            </a:extLst>
          </p:cNvPr>
          <p:cNvSpPr>
            <a:spLocks noGrp="1"/>
          </p:cNvSpPr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5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280160"/>
            <a:ext cx="365760" cy="365760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EE31CED3-420D-4749-99CA-48C2DDE7BB91}"/>
              </a:ext>
            </a:extLst>
          </p:cNvPr>
          <p:cNvSpPr>
            <a:spLocks noGrp="1"/>
          </p:cNvSpPr>
          <p:nvPr/>
        </p:nvSpPr>
        <p:spPr>
          <a:xfrm>
            <a:off x="1097280" y="1188720"/>
            <a:ext cx="7406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>
                <a:solidFill>
                  <a:srgbClr val="3A4668"/>
                </a:solidFill>
                <a:latin typeface="Arial"/>
                <a:ea typeface="Arial"/>
                <a:cs typeface="Arial"/>
              </a:rPr>
              <a:t>Servers — AWS Transform MGN</a:t>
            </a:r>
            <a:endParaRPr sz="140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D5D72294-37DC-46AF-8610-2291D07DA366}"/>
              </a:ext>
            </a:extLst>
          </p:cNvPr>
          <p:cNvSpPr>
            <a:spLocks noGrp="1"/>
          </p:cNvSpPr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solidFill>
            <a:srgbClr val="F4F7FC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8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920240"/>
            <a:ext cx="365760" cy="365760"/>
          </a:xfrm>
          <a:prstGeom prst="rect">
            <a:avLst/>
          </a:prstGeom>
        </p:spPr>
      </p:pic>
      <p:sp>
        <p:nvSpPr>
          <p:cNvPr id="8" name="Text 4">
            <a:extLst>
              <a:ext uri="{FF2B5EF4-FFF2-40B4-BE49-F238E27FC236}">
                <a16:creationId xmlns:a16="http://schemas.microsoft.com/office/drawing/2014/main" id="{73F732F5-85E7-44D0-A244-B772930CEC93}"/>
              </a:ext>
            </a:extLst>
          </p:cNvPr>
          <p:cNvSpPr>
            <a:spLocks noGrp="1"/>
          </p:cNvSpPr>
          <p:nvPr/>
        </p:nvSpPr>
        <p:spPr>
          <a:xfrm>
            <a:off x="1097280" y="1828800"/>
            <a:ext cx="7406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>
                <a:solidFill>
                  <a:srgbClr val="3A4668"/>
                </a:solidFill>
                <a:latin typeface="Arial"/>
                <a:ea typeface="Arial"/>
                <a:cs typeface="Arial"/>
              </a:rPr>
              <a:t>Databases — AWS Database Migration Service</a:t>
            </a:r>
            <a:endParaRPr sz="1400"/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BE6323E5-B6A1-47CA-BB18-7F2B0D471EFD}"/>
              </a:ext>
            </a:extLst>
          </p:cNvPr>
          <p:cNvSpPr>
            <a:spLocks noGrp="1"/>
          </p:cNvSpPr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1" name="Imag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2560320"/>
            <a:ext cx="365760" cy="365760"/>
          </a:xfrm>
          <a:prstGeom prst="rect">
            <a:avLst/>
          </a:prstGeom>
        </p:spPr>
      </p:pic>
      <p:sp>
        <p:nvSpPr>
          <p:cNvPr id="11" name="Text 6">
            <a:extLst>
              <a:ext uri="{FF2B5EF4-FFF2-40B4-BE49-F238E27FC236}">
                <a16:creationId xmlns:a16="http://schemas.microsoft.com/office/drawing/2014/main" id="{624E9D32-704D-4442-B9AF-2610AF107209}"/>
              </a:ext>
            </a:extLst>
          </p:cNvPr>
          <p:cNvSpPr>
            <a:spLocks noGrp="1"/>
          </p:cNvSpPr>
          <p:nvPr/>
        </p:nvSpPr>
        <p:spPr>
          <a:xfrm>
            <a:off x="1097280" y="2468880"/>
            <a:ext cx="7406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>
                <a:solidFill>
                  <a:srgbClr val="3A4668"/>
                </a:solidFill>
                <a:latin typeface="Arial"/>
                <a:ea typeface="Arial"/>
                <a:cs typeface="Arial"/>
              </a:rPr>
              <a:t>Online files or objects — AWS DataSync</a:t>
            </a:r>
            <a:endParaRPr sz="1400"/>
          </a:p>
        </p:txBody>
      </p:sp>
      <p:sp>
        <p:nvSpPr>
          <p:cNvPr id="12" name="Shape 7">
            <a:extLst>
              <a:ext uri="{FF2B5EF4-FFF2-40B4-BE49-F238E27FC236}">
                <a16:creationId xmlns:a16="http://schemas.microsoft.com/office/drawing/2014/main" id="{D4304CD8-9C43-444C-BB88-720FB33264A2}"/>
              </a:ext>
            </a:extLst>
          </p:cNvPr>
          <p:cNvSpPr>
            <a:spLocks noGrp="1"/>
          </p:cNvSpPr>
          <p:nvPr/>
        </p:nvSpPr>
        <p:spPr>
          <a:xfrm>
            <a:off x="457200" y="3108960"/>
            <a:ext cx="8229600" cy="548640"/>
          </a:xfrm>
          <a:prstGeom prst="rect">
            <a:avLst/>
          </a:prstGeom>
          <a:solidFill>
            <a:srgbClr val="F4F7FC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4" name="Imag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3200400"/>
            <a:ext cx="365760" cy="365760"/>
          </a:xfrm>
          <a:prstGeom prst="rect">
            <a:avLst/>
          </a:prstGeom>
        </p:spPr>
      </p:pic>
      <p:sp>
        <p:nvSpPr>
          <p:cNvPr id="14" name="Text 8">
            <a:extLst>
              <a:ext uri="{FF2B5EF4-FFF2-40B4-BE49-F238E27FC236}">
                <a16:creationId xmlns:a16="http://schemas.microsoft.com/office/drawing/2014/main" id="{3DF9D42A-CC85-445F-AE20-0060049C087F}"/>
              </a:ext>
            </a:extLst>
          </p:cNvPr>
          <p:cNvSpPr>
            <a:spLocks noGrp="1"/>
          </p:cNvSpPr>
          <p:nvPr/>
        </p:nvSpPr>
        <p:spPr>
          <a:xfrm>
            <a:off x="1097280" y="3108960"/>
            <a:ext cx="7406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>
                <a:solidFill>
                  <a:srgbClr val="3A4668"/>
                </a:solidFill>
                <a:latin typeface="Arial"/>
                <a:ea typeface="Arial"/>
                <a:cs typeface="Arial"/>
              </a:rPr>
              <a:t>Large offline datasets — AWS Snow Family where suitable</a:t>
            </a:r>
            <a:endParaRPr sz="1400"/>
          </a:p>
        </p:txBody>
      </p:sp>
      <p:sp>
        <p:nvSpPr>
          <p:cNvPr id="15" name="Shape 9">
            <a:extLst>
              <a:ext uri="{FF2B5EF4-FFF2-40B4-BE49-F238E27FC236}">
                <a16:creationId xmlns:a16="http://schemas.microsoft.com/office/drawing/2014/main" id="{740CBF97-A85B-48D9-BF9E-58EAA0E37923}"/>
              </a:ext>
            </a:extLst>
          </p:cNvPr>
          <p:cNvSpPr>
            <a:spLocks noGrp="1"/>
          </p:cNvSpPr>
          <p:nvPr/>
        </p:nvSpPr>
        <p:spPr>
          <a:xfrm>
            <a:off x="457200" y="3749040"/>
            <a:ext cx="8229600" cy="54864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7" name="Image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" y="3840480"/>
            <a:ext cx="365760" cy="365760"/>
          </a:xfrm>
          <a:prstGeom prst="rect">
            <a:avLst/>
          </a:prstGeom>
        </p:spPr>
      </p:pic>
      <p:sp>
        <p:nvSpPr>
          <p:cNvPr id="17" name="Text 10">
            <a:extLst>
              <a:ext uri="{FF2B5EF4-FFF2-40B4-BE49-F238E27FC236}">
                <a16:creationId xmlns:a16="http://schemas.microsoft.com/office/drawing/2014/main" id="{09C0B66E-121E-4403-97E3-B975FEB07A14}"/>
              </a:ext>
            </a:extLst>
          </p:cNvPr>
          <p:cNvSpPr>
            <a:spLocks noGrp="1"/>
          </p:cNvSpPr>
          <p:nvPr/>
        </p:nvSpPr>
        <p:spPr>
          <a:xfrm>
            <a:off x="1097280" y="3749040"/>
            <a:ext cx="7406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>
                <a:solidFill>
                  <a:srgbClr val="3A4668"/>
                </a:solidFill>
                <a:latin typeface="Arial"/>
                <a:ea typeface="Arial"/>
                <a:cs typeface="Arial"/>
              </a:rPr>
              <a:t>Assessment and modernization — AWS Transform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24996936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B62B132-033B-42E3-923F-F70AA7DD3ADB}"/>
              </a:ext>
            </a:extLst>
          </p:cNvPr>
          <p:cNvSpPr>
            <a:spLocks noGrp="1"/>
          </p:cNvSpPr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600" b="1">
                <a:solidFill>
                  <a:srgbClr val="00D4AA"/>
                </a:solidFill>
                <a:latin typeface="Arial"/>
                <a:ea typeface="Arial"/>
                <a:cs typeface="Arial"/>
              </a:rPr>
              <a:t>Build Waves from Dependencies</a:t>
            </a:r>
            <a:endParaRPr sz="36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24E013A-0DE5-4569-8480-E5A15E53A037}"/>
              </a:ext>
            </a:extLst>
          </p:cNvPr>
          <p:cNvSpPr>
            <a:spLocks noGrp="1"/>
          </p:cNvSpPr>
          <p:nvPr/>
        </p:nvSpPr>
        <p:spPr>
          <a:xfrm>
            <a:off x="457200" y="1051560"/>
            <a:ext cx="8229600" cy="3200400"/>
          </a:xfrm>
          <a:prstGeom prst="rect">
            <a:avLst/>
          </a:prstGeom>
          <a:solidFill>
            <a:srgbClr val="2D3454"/>
          </a:solidFill>
        </p:spPr>
        <p:txBody>
          <a:bodyPr/>
          <a:lstStyle/>
          <a:p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B9A6128-E208-4157-8406-D0A5CB3DB2AF}"/>
              </a:ext>
            </a:extLst>
          </p:cNvPr>
          <p:cNvSpPr>
            <a:spLocks noGrp="1"/>
          </p:cNvSpPr>
          <p:nvPr/>
        </p:nvSpPr>
        <p:spPr>
          <a:xfrm>
            <a:off x="640080" y="1143000"/>
            <a:ext cx="7863840" cy="301752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  <a:defRPr sz="1300">
                <a:solidFill>
                  <a:srgbClr val="00D4AA"/>
                </a:solidFill>
                <a:latin typeface="Consolas"/>
                <a:ea typeface="Consolas"/>
                <a:cs typeface="Consolas"/>
              </a:defRPr>
            </a:pPr>
            <a:r>
              <a:rPr sz="1300">
                <a:solidFill>
                  <a:srgbClr val="00D4AA"/>
                </a:solidFill>
                <a:latin typeface="Consolas"/>
                <a:ea typeface="Consolas"/>
                <a:cs typeface="Consolas"/>
              </a:rPr>
              <a:t>DISCOVER  ---&gt;  GROUP APPS  ---&gt;  BUILD WAVES</a:t>
            </a:r>
            <a:endParaRPr sz="1300"/>
          </a:p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  <a:defRPr sz="1300">
                <a:solidFill>
                  <a:srgbClr val="00D4AA"/>
                </a:solidFill>
                <a:latin typeface="Consolas"/>
                <a:ea typeface="Consolas"/>
                <a:cs typeface="Consolas"/>
              </a:defRPr>
            </a:pPr>
            <a:r>
              <a:rPr sz="1300">
                <a:solidFill>
                  <a:srgbClr val="00D4AA"/>
                </a:solidFill>
                <a:latin typeface="Consolas"/>
                <a:ea typeface="Consolas"/>
                <a:cs typeface="Consolas"/>
              </a:rPr>
              <a:t>owners / dependencies     strategy / tools       pilot first</a:t>
            </a:r>
            <a:endParaRPr sz="130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endParaRPr sz="1300"/>
          </a:p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  <a:defRPr sz="1300">
                <a:solidFill>
                  <a:srgbClr val="00D4AA"/>
                </a:solidFill>
                <a:latin typeface="Consolas"/>
                <a:ea typeface="Consolas"/>
                <a:cs typeface="Consolas"/>
              </a:defRPr>
            </a:pPr>
            <a:r>
              <a:rPr sz="1300">
                <a:solidFill>
                  <a:srgbClr val="00D4AA"/>
                </a:solidFill>
                <a:latin typeface="Consolas"/>
                <a:ea typeface="Consolas"/>
                <a:cs typeface="Consolas"/>
              </a:rPr>
              <a:t>TEST  ---&gt;  CUT OVER  ---&gt;  VALIDATE</a:t>
            </a:r>
            <a:endParaRPr sz="1300"/>
          </a:p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  <a:defRPr sz="1300">
                <a:solidFill>
                  <a:srgbClr val="00D4AA"/>
                </a:solidFill>
                <a:latin typeface="Consolas"/>
                <a:ea typeface="Consolas"/>
                <a:cs typeface="Consolas"/>
              </a:defRPr>
            </a:pPr>
            <a:r>
              <a:rPr sz="1300">
                <a:solidFill>
                  <a:srgbClr val="00D4AA"/>
                </a:solidFill>
                <a:latin typeface="Consolas"/>
                <a:ea typeface="Consolas"/>
                <a:cs typeface="Consolas"/>
              </a:rPr>
              <a:t>non-disruptive      traffic / DNS       technical + business</a:t>
            </a:r>
            <a:endParaRPr sz="13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76DB299-7D43-4410-884A-5484BE8AE465}"/>
              </a:ext>
            </a:extLst>
          </p:cNvPr>
          <p:cNvSpPr>
            <a:spLocks noGrp="1"/>
          </p:cNvSpPr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solidFill>
            <a:srgbClr val="326CE5"/>
          </a:solidFill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8D87DB0-5923-440F-9AD0-12210356E233}"/>
              </a:ext>
            </a:extLst>
          </p:cNvPr>
          <p:cNvSpPr>
            <a:spLocks noGrp="1"/>
          </p:cNvSpPr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low-risk pilot proves the process before critical workloads move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80654665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5573339-A5CF-4231-9559-49511B704C71}"/>
              </a:ext>
            </a:extLst>
          </p:cNvPr>
          <p:cNvSpPr>
            <a:spLocks noGrp="1"/>
          </p:cNvSpPr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6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Validate Cutover and Rollback</a:t>
            </a:r>
            <a:endParaRPr sz="36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6A9B5ED-E865-4FB9-8CB3-942B9EB65D78}"/>
              </a:ext>
            </a:extLst>
          </p:cNvPr>
          <p:cNvSpPr>
            <a:spLocks noGrp="1"/>
          </p:cNvSpPr>
          <p:nvPr/>
        </p:nvSpPr>
        <p:spPr>
          <a:xfrm>
            <a:off x="457200" y="1417320"/>
            <a:ext cx="3931920" cy="333756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0FC9DF2-041A-47D5-A2AD-5B9C14E82EAF}"/>
              </a:ext>
            </a:extLst>
          </p:cNvPr>
          <p:cNvSpPr>
            <a:spLocks noGrp="1"/>
          </p:cNvSpPr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solidFill>
            <a:srgbClr val="326CE5"/>
          </a:solidFill>
        </p:spPr>
        <p:txBody>
          <a:bodyPr/>
          <a:lstStyle/>
          <a:p>
            <a:endParaRPr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0B2D206-A17A-4D84-A6E0-2C9ED60B21A0}"/>
              </a:ext>
            </a:extLst>
          </p:cNvPr>
          <p:cNvSpPr>
            <a:spLocks noGrp="1"/>
          </p:cNvSpPr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Validation</a:t>
            </a:r>
            <a:endParaRPr sz="14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18291B7-1854-44F3-B234-1948F53858AF}"/>
              </a:ext>
            </a:extLst>
          </p:cNvPr>
          <p:cNvSpPr>
            <a:spLocks noGrp="1"/>
          </p:cNvSpPr>
          <p:nvPr/>
        </p:nvSpPr>
        <p:spPr>
          <a:xfrm>
            <a:off x="640080" y="1965960"/>
            <a:ext cx="3566160" cy="2606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300">
                <a:solidFill>
                  <a:srgbClr val="3A4668"/>
                </a:solidFill>
                <a:latin typeface="Arial"/>
                <a:ea typeface="Arial"/>
                <a:cs typeface="Arial"/>
              </a:rPr>
              <a:t>Dependencies and service health</a:t>
            </a:r>
            <a:endParaRPr sz="13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300">
                <a:solidFill>
                  <a:srgbClr val="3A4668"/>
                </a:solidFill>
                <a:latin typeface="Arial"/>
                <a:ea typeface="Arial"/>
                <a:cs typeface="Arial"/>
              </a:rPr>
              <a:t>User login and business transaction</a:t>
            </a:r>
            <a:endParaRPr sz="13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300">
                <a:solidFill>
                  <a:srgbClr val="3A4668"/>
                </a:solidFill>
                <a:latin typeface="Arial"/>
                <a:ea typeface="Arial"/>
                <a:cs typeface="Arial"/>
              </a:rPr>
              <a:t>Data reconciliation, logs and alarms</a:t>
            </a:r>
            <a:endParaRPr sz="13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300">
                <a:solidFill>
                  <a:srgbClr val="3A4668"/>
                </a:solidFill>
                <a:latin typeface="Arial"/>
                <a:ea typeface="Arial"/>
                <a:cs typeface="Arial"/>
              </a:rPr>
              <a:t>Application-owner sign-off</a:t>
            </a:r>
            <a:endParaRPr sz="13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A360082B-EC9A-4D71-BADF-B886E8E8F2ED}"/>
              </a:ext>
            </a:extLst>
          </p:cNvPr>
          <p:cNvSpPr>
            <a:spLocks noGrp="1"/>
          </p:cNvSpPr>
          <p:nvPr/>
        </p:nvSpPr>
        <p:spPr>
          <a:xfrm>
            <a:off x="4754880" y="1417320"/>
            <a:ext cx="3931920" cy="333756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4CEE478A-B52F-41F5-9393-700CE7EAEAAB}"/>
              </a:ext>
            </a:extLst>
          </p:cNvPr>
          <p:cNvSpPr>
            <a:spLocks noGrp="1"/>
          </p:cNvSpPr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solidFill>
            <a:srgbClr val="00B074"/>
          </a:solidFill>
        </p:spPr>
        <p:txBody>
          <a:bodyPr/>
          <a:lstStyle/>
          <a:p>
            <a:endParaRPr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DC8C7F40-6E38-48AC-8A97-4F9BD0E1C07A}"/>
              </a:ext>
            </a:extLst>
          </p:cNvPr>
          <p:cNvSpPr>
            <a:spLocks noGrp="1"/>
          </p:cNvSpPr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Rollback</a:t>
            </a:r>
            <a:endParaRPr sz="14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768D51EE-111E-4405-977D-0257245B62DA}"/>
              </a:ext>
            </a:extLst>
          </p:cNvPr>
          <p:cNvSpPr>
            <a:spLocks noGrp="1"/>
          </p:cNvSpPr>
          <p:nvPr/>
        </p:nvSpPr>
        <p:spPr>
          <a:xfrm>
            <a:off x="4937760" y="1965960"/>
            <a:ext cx="3566160" cy="2606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300">
                <a:solidFill>
                  <a:srgbClr val="3A4668"/>
                </a:solidFill>
                <a:latin typeface="Arial"/>
                <a:ea typeface="Arial"/>
                <a:cs typeface="Arial"/>
              </a:rPr>
              <a:t>Trigger and decision owner</a:t>
            </a:r>
            <a:endParaRPr sz="13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300">
                <a:solidFill>
                  <a:srgbClr val="3A4668"/>
                </a:solidFill>
                <a:latin typeface="Arial"/>
                <a:ea typeface="Arial"/>
                <a:cs typeface="Arial"/>
              </a:rPr>
              <a:t>Latest safe rollback time</a:t>
            </a:r>
            <a:endParaRPr sz="13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300">
                <a:solidFill>
                  <a:srgbClr val="3A4668"/>
                </a:solidFill>
                <a:latin typeface="Arial"/>
                <a:ea typeface="Arial"/>
                <a:cs typeface="Arial"/>
              </a:rPr>
              <a:t>Traffic and DNS reversal</a:t>
            </a:r>
            <a:endParaRPr sz="13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300">
                <a:solidFill>
                  <a:srgbClr val="3A4668"/>
                </a:solidFill>
                <a:latin typeface="Arial"/>
                <a:ea typeface="Arial"/>
                <a:cs typeface="Arial"/>
              </a:rPr>
              <a:t>Plan for target-side writes</a:t>
            </a:r>
            <a:endParaRPr sz="1300"/>
          </a:p>
        </p:txBody>
      </p:sp>
    </p:spTree>
    <p:extLst>
      <p:ext uri="{BB962C8B-B14F-4D97-AF65-F5344CB8AC3E}">
        <p14:creationId xmlns:p14="http://schemas.microsoft.com/office/powerpoint/2010/main" val="67172866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5EB20F0-00C4-49C0-85D4-2C01611BB98A}"/>
              </a:ext>
            </a:extLst>
          </p:cNvPr>
          <p:cNvSpPr>
            <a:spLocks noGrp="1"/>
          </p:cNvSpPr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6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Make Every Trade-off Explicit</a:t>
            </a:r>
            <a:endParaRPr sz="36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27ECBCD-1614-46EE-88B7-122BEC8F697B}"/>
              </a:ext>
            </a:extLst>
          </p:cNvPr>
          <p:cNvSpPr>
            <a:spLocks noGrp="1"/>
          </p:cNvSpPr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 i="1">
                <a:solidFill>
                  <a:srgbClr val="7A8BBE"/>
                </a:solidFill>
                <a:latin typeface="Arial"/>
                <a:ea typeface="Arial"/>
                <a:cs typeface="Arial"/>
              </a:rPr>
              <a:t>Requirements first; services second; evidence always</a:t>
            </a:r>
            <a:endParaRPr sz="14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C056F5B-C464-4E31-82BC-FE24D6EACF81}"/>
              </a:ext>
            </a:extLst>
          </p:cNvPr>
          <p:cNvSpPr>
            <a:spLocks noGrp="1"/>
          </p:cNvSpPr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solidFill>
            <a:srgbClr val="E8EE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B9D1DB2-43BD-4226-A02E-0FC41EB89816}"/>
              </a:ext>
            </a:extLst>
          </p:cNvPr>
          <p:cNvSpPr>
            <a:spLocks noGrp="1"/>
          </p:cNvSpPr>
          <p:nvPr/>
        </p:nvSpPr>
        <p:spPr>
          <a:xfrm>
            <a:off x="640080" y="1691640"/>
            <a:ext cx="137160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DESIGN</a:t>
            </a:r>
            <a:endParaRPr sz="14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D9CD08B-E0B5-45B2-88E2-EDD23DE0242F}"/>
              </a:ext>
            </a:extLst>
          </p:cNvPr>
          <p:cNvSpPr>
            <a:spLocks noGrp="1"/>
          </p:cNvSpPr>
          <p:nvPr/>
        </p:nvSpPr>
        <p:spPr>
          <a:xfrm>
            <a:off x="2286000" y="1783080"/>
            <a:ext cx="621792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3A4668"/>
                </a:solidFill>
                <a:latin typeface="Arial"/>
                <a:ea typeface="Arial"/>
                <a:cs typeface="Arial"/>
              </a:rPr>
              <a:t>Connect availability, security, performance and cost to requirements.</a:t>
            </a:r>
            <a:endParaRPr sz="12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948C01EA-8F98-46A6-9C09-76FA5D15233D}"/>
              </a:ext>
            </a:extLst>
          </p:cNvPr>
          <p:cNvSpPr>
            <a:spLocks noGrp="1"/>
          </p:cNvSpPr>
          <p:nvPr/>
        </p:nvSpPr>
        <p:spPr>
          <a:xfrm>
            <a:off x="457200" y="2697480"/>
            <a:ext cx="8229600" cy="914400"/>
          </a:xfrm>
          <a:prstGeom prst="rect">
            <a:avLst/>
          </a:prstGeom>
          <a:solidFill>
            <a:srgbClr val="E8F8F0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8AC26B81-FF97-4E53-B734-71757314DE86}"/>
              </a:ext>
            </a:extLst>
          </p:cNvPr>
          <p:cNvSpPr>
            <a:spLocks noGrp="1"/>
          </p:cNvSpPr>
          <p:nvPr/>
        </p:nvSpPr>
        <p:spPr>
          <a:xfrm>
            <a:off x="640080" y="2743200"/>
            <a:ext cx="137160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OPERATE</a:t>
            </a:r>
            <a:endParaRPr sz="14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0818AD70-D8EA-4515-81C3-62C431E22499}"/>
              </a:ext>
            </a:extLst>
          </p:cNvPr>
          <p:cNvSpPr>
            <a:spLocks noGrp="1"/>
          </p:cNvSpPr>
          <p:nvPr/>
        </p:nvSpPr>
        <p:spPr>
          <a:xfrm>
            <a:off x="2286000" y="2834640"/>
            <a:ext cx="621792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3A4668"/>
                </a:solidFill>
                <a:latin typeface="Arial"/>
                <a:ea typeface="Arial"/>
                <a:cs typeface="Arial"/>
              </a:rPr>
              <a:t>Monitor outcomes, test recovery and improve continuously.</a:t>
            </a:r>
            <a:endParaRPr sz="120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C7ADA2FA-2D9A-4F36-8C49-AA90E75E82B8}"/>
              </a:ext>
            </a:extLst>
          </p:cNvPr>
          <p:cNvSpPr>
            <a:spLocks noGrp="1"/>
          </p:cNvSpPr>
          <p:nvPr/>
        </p:nvSpPr>
        <p:spPr>
          <a:xfrm>
            <a:off x="457200" y="3749040"/>
            <a:ext cx="8229600" cy="914400"/>
          </a:xfrm>
          <a:prstGeom prst="rect">
            <a:avLst/>
          </a:prstGeom>
          <a:solidFill>
            <a:srgbClr val="FFF0E0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26B297D8-5E66-4E36-9606-1A4A933E890F}"/>
              </a:ext>
            </a:extLst>
          </p:cNvPr>
          <p:cNvSpPr>
            <a:spLocks noGrp="1"/>
          </p:cNvSpPr>
          <p:nvPr/>
        </p:nvSpPr>
        <p:spPr>
          <a:xfrm>
            <a:off x="640080" y="3794760"/>
            <a:ext cx="137160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 b="1">
                <a:solidFill>
                  <a:srgbClr val="1B2559"/>
                </a:solidFill>
                <a:latin typeface="Arial"/>
                <a:ea typeface="Arial"/>
                <a:cs typeface="Arial"/>
              </a:rPr>
              <a:t>CHANGE</a:t>
            </a:r>
            <a:endParaRPr sz="14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77B44955-A14C-4459-A1A4-A63AE0990148}"/>
              </a:ext>
            </a:extLst>
          </p:cNvPr>
          <p:cNvSpPr>
            <a:spLocks noGrp="1"/>
          </p:cNvSpPr>
          <p:nvPr/>
        </p:nvSpPr>
        <p:spPr>
          <a:xfrm>
            <a:off x="2286000" y="3886200"/>
            <a:ext cx="621792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3A4668"/>
                </a:solidFill>
                <a:latin typeface="Arial"/>
                <a:ea typeface="Arial"/>
                <a:cs typeface="Arial"/>
              </a:rPr>
              <a:t>Deploy and migrate in small, observable and reversible steps.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3523323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1314</Words>
  <Application>Microsoft Office PowerPoint</Application>
  <DocSecurity>0</DocSecurity>
  <PresentationFormat>On-screen Show (16:9)</PresentationFormat>
  <Paragraphs>247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8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Aryan Mohan</cp:lastModifiedBy>
  <cp:revision>4</cp:revision>
  <dcterms:created xsi:type="dcterms:W3CDTF">2026-08-16T16:56:15Z</dcterms:created>
  <dcterms:modified xsi:type="dcterms:W3CDTF">2026-09-04T20:03:36Z</dcterms:modified>
</cp:coreProperties>
</file>