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10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40BB9F-4D48-439E-9B95-D4281B6E97D1}"/>
              </a:ext>
            </a:extLst>
          </p:cNvPr>
          <p:cNvSpPr>
            <a:spLocks noGrp="1"/>
          </p:cNvSpPr>
          <p:nvPr/>
        </p:nvSpPr>
        <p:spPr>
          <a:xfrm>
            <a:off x="3611880" y="457200"/>
            <a:ext cx="1920240" cy="1920240"/>
          </a:xfrm>
          <a:prstGeom prst="ellipse">
            <a:avLst/>
          </a:prstGeom>
          <a:ln w="31750">
            <a:solidFill>
              <a:srgbClr val="326CE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977640" y="685800"/>
            <a:ext cx="1188720" cy="118872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CA92972A-3897-492E-AA42-DDDBAD209724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AWS Architecture
Design &amp; Implementation</a:t>
            </a:r>
            <a:endParaRPr sz="40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BEF2DFF-8D5D-4C31-BB0B-4F42B92CBC55}"/>
              </a:ext>
            </a:extLst>
          </p:cNvPr>
          <p:cNvSpPr>
            <a:spLocks noGrp="1"/>
          </p:cNvSpPr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600" i="1">
                <a:solidFill>
                  <a:srgbClr val="00D4AA"/>
                </a:solidFill>
                <a:latin typeface="Arial"/>
                <a:ea typeface="Arial"/>
                <a:cs typeface="Arial"/>
              </a:rPr>
              <a:t>Build, deploy, optimize, design and migrate on AWS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974943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A9926A-BBF5-4F03-81A1-E4F29E122C02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One Architecture Journey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138DC-44BD-463E-808A-8B8C6F0E10E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EE31CED3-420D-4749-99CA-48C2DDE7BB91}"/>
              </a:ext>
            </a:extLst>
          </p:cNvPr>
          <p:cNvSpPr>
            <a:spLocks noGrp="1"/>
          </p:cNvSpPr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1  Secure, resilient AWS foundations</a:t>
            </a:r>
            <a:endParaRPr sz="14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5D72294-37DC-46AF-8610-2291D07DA366}"/>
              </a:ext>
            </a:extLst>
          </p:cNvPr>
          <p:cNvSpPr>
            <a:spLocks noGrp="1"/>
          </p:cNvSpPr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3F732F5-85E7-44D0-A244-B772930CEC93}"/>
              </a:ext>
            </a:extLst>
          </p:cNvPr>
          <p:cNvSpPr>
            <a:spLocks noGrp="1"/>
          </p:cNvSpPr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2  APIs, deployment, cache and streaming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E6323E5-B6A1-47CA-BB18-7F2B0D471EFD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624E9D32-704D-4442-B9AF-2610AF107209}"/>
              </a:ext>
            </a:extLst>
          </p:cNvPr>
          <p:cNvSpPr>
            <a:spLocks noGrp="1"/>
          </p:cNvSpPr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3  Cost, performance and recovery</a:t>
            </a:r>
            <a:endParaRPr sz="140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4304CD8-9C43-444C-BB88-720FB33264A2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4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3DF9D42A-CC85-445F-AE20-0060049C087F}"/>
              </a:ext>
            </a:extLst>
          </p:cNvPr>
          <p:cNvSpPr>
            <a:spLocks noGrp="1"/>
          </p:cNvSpPr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4  Scalable and secure design patterns</a:t>
            </a:r>
            <a:endParaRPr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740CBF97-A85B-48D9-BF9E-58EAA0E37923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09C0B66E-121E-4403-97E3-B975FEB07A14}"/>
              </a:ext>
            </a:extLst>
          </p:cNvPr>
          <p:cNvSpPr>
            <a:spLocks noGrp="1"/>
          </p:cNvSpPr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5  Migration planning and execution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49969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910047"/>
            <a:ext cx="1188720" cy="118872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011CAA0-C8A6-4090-B09D-01F9D5A0FEC5}"/>
              </a:ext>
            </a:extLst>
          </p:cNvPr>
          <p:cNvSpPr>
            <a:spLocks noGrp="1"/>
          </p:cNvSpPr>
          <p:nvPr/>
        </p:nvSpPr>
        <p:spPr>
          <a:xfrm>
            <a:off x="457200" y="2281647"/>
            <a:ext cx="8229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cap="none" spc="0" dirty="0">
                <a:ln>
                  <a:noFill/>
                </a:ln>
                <a:solidFill>
                  <a:srgbClr val="FFFFFF"/>
                </a:solidFill>
                <a:latin typeface="Arial"/>
                <a:ea typeface="Arial"/>
                <a:cs typeface="Arial"/>
              </a:rPr>
              <a:t>1  AWS Architecture Foundations</a:t>
            </a:r>
            <a:endParaRPr sz="4000" b="0" i="0" u="none" kern="1200" cap="none" spc="0" baseline="0" dirty="0">
              <a:ln>
                <a:noFill/>
              </a:ln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7102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62B132-033B-42E3-923F-F70AA7DD3AD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0D4AA"/>
                </a:solidFill>
                <a:latin typeface="Arial"/>
                <a:ea typeface="Arial"/>
                <a:cs typeface="Arial"/>
              </a:rPr>
              <a:t>A Request Crosses Several Services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4E013A-0DE5-4569-8480-E5A15E53A037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B9A6128-E208-4157-8406-D0A5CB3DB2AF}"/>
              </a:ext>
            </a:extLst>
          </p:cNvPr>
          <p:cNvSpPr>
            <a:spLocks noGrp="1"/>
          </p:cNvSpPr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REQUEST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User  ---&gt;  DNS / URL  ---&gt;  ALB  ---&gt;  EC2 app  ---&gt;  RDS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                            routes       processes       stores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SUPPORT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S3  ---&gt;  static objects     IAM  ---&gt;  permissions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CloudWatch  ---&gt;  metrics and logs     KMS  ---&gt;  encryption</a:t>
            </a:r>
            <a:endParaRPr sz="13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6DB299-7D43-4410-884A-5484BE8AE465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D87DB0-5923-440F-9AD0-12210356E233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  •  Process  •  Store  •  Protect  •  Observe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546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FC542E-283C-47A0-8F4A-72AC543E71F1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Region, AZ and Subnet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E6B5728-0373-4ED9-B86F-20C0E2E50882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202F3A-E006-4DCD-A800-A1362C2DB38B}"/>
              </a:ext>
            </a:extLst>
          </p:cNvPr>
          <p:cNvSpPr>
            <a:spLocks noGrp="1"/>
          </p:cNvSpPr>
          <p:nvPr/>
        </p:nvSpPr>
        <p:spPr>
          <a:xfrm>
            <a:off x="594360" y="1298448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C7018D5-5858-4E53-81B5-EF107AA855DA}"/>
              </a:ext>
            </a:extLst>
          </p:cNvPr>
          <p:cNvSpPr>
            <a:spLocks noGrp="1"/>
          </p:cNvSpPr>
          <p:nvPr/>
        </p:nvSpPr>
        <p:spPr>
          <a:xfrm>
            <a:off x="594360" y="1298448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400"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35024"/>
            <a:ext cx="329184" cy="329184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89E8635B-D831-4F85-AC31-7396032DD2ED}"/>
              </a:ext>
            </a:extLst>
          </p:cNvPr>
          <p:cNvSpPr>
            <a:spLocks noGrp="1"/>
          </p:cNvSpPr>
          <p:nvPr/>
        </p:nvSpPr>
        <p:spPr>
          <a:xfrm>
            <a:off x="1600200" y="1188720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Region — geographic deployment boundary</a:t>
            </a:r>
            <a:endParaRPr sz="13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C245BCD-BB19-490D-A6EC-3519AF3773DD}"/>
              </a:ext>
            </a:extLst>
          </p:cNvPr>
          <p:cNvSpPr>
            <a:spLocks noGrp="1"/>
          </p:cNvSpPr>
          <p:nvPr/>
        </p:nvSpPr>
        <p:spPr>
          <a:xfrm>
            <a:off x="457200" y="1883664"/>
            <a:ext cx="8229600" cy="621792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47E224A-68A3-4151-A57B-E6E788861AA4}"/>
              </a:ext>
            </a:extLst>
          </p:cNvPr>
          <p:cNvSpPr>
            <a:spLocks noGrp="1"/>
          </p:cNvSpPr>
          <p:nvPr/>
        </p:nvSpPr>
        <p:spPr>
          <a:xfrm>
            <a:off x="594360" y="1993392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CE62FB5-125C-4DC2-ABFC-269940C82320}"/>
              </a:ext>
            </a:extLst>
          </p:cNvPr>
          <p:cNvSpPr>
            <a:spLocks noGrp="1"/>
          </p:cNvSpPr>
          <p:nvPr/>
        </p:nvSpPr>
        <p:spPr>
          <a:xfrm>
            <a:off x="594360" y="1993392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400"/>
          </a:p>
        </p:txBody>
      </p:sp>
      <p:pic>
        <p:nvPicPr>
          <p:cNvPr id="42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029968"/>
            <a:ext cx="329184" cy="329184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3C18A028-3041-414C-97FA-2DB5874AC85D}"/>
              </a:ext>
            </a:extLst>
          </p:cNvPr>
          <p:cNvSpPr>
            <a:spLocks noGrp="1"/>
          </p:cNvSpPr>
          <p:nvPr/>
        </p:nvSpPr>
        <p:spPr>
          <a:xfrm>
            <a:off x="1600200" y="1883664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Availability Zone — isolated location inside a Region</a:t>
            </a:r>
            <a:endParaRPr sz="130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99E1308-2B14-4644-9D34-AD1F44CB6E95}"/>
              </a:ext>
            </a:extLst>
          </p:cNvPr>
          <p:cNvSpPr>
            <a:spLocks noGrp="1"/>
          </p:cNvSpPr>
          <p:nvPr/>
        </p:nvSpPr>
        <p:spPr>
          <a:xfrm>
            <a:off x="457200" y="2578608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483A3FA5-9F11-470A-9278-16C77E9E9BE7}"/>
              </a:ext>
            </a:extLst>
          </p:cNvPr>
          <p:cNvSpPr>
            <a:spLocks noGrp="1"/>
          </p:cNvSpPr>
          <p:nvPr/>
        </p:nvSpPr>
        <p:spPr>
          <a:xfrm>
            <a:off x="594360" y="2688336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778AB330-59B5-41F8-B637-DC50102FB89A}"/>
              </a:ext>
            </a:extLst>
          </p:cNvPr>
          <p:cNvSpPr>
            <a:spLocks noGrp="1"/>
          </p:cNvSpPr>
          <p:nvPr/>
        </p:nvSpPr>
        <p:spPr>
          <a:xfrm>
            <a:off x="594360" y="2688336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1400"/>
          </a:p>
        </p:txBody>
      </p:sp>
      <p:pic>
        <p:nvPicPr>
          <p:cNvPr id="47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724912"/>
            <a:ext cx="329184" cy="329184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0E7B86F5-0490-4913-9A79-465659D3FBC6}"/>
              </a:ext>
            </a:extLst>
          </p:cNvPr>
          <p:cNvSpPr>
            <a:spLocks noGrp="1"/>
          </p:cNvSpPr>
          <p:nvPr/>
        </p:nvSpPr>
        <p:spPr>
          <a:xfrm>
            <a:off x="1600200" y="2578608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Subnet — belongs to exactly one Availability Zone</a:t>
            </a:r>
            <a:endParaRPr sz="130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82C673F4-AE84-4CCC-B54B-AF84B4F93A76}"/>
              </a:ext>
            </a:extLst>
          </p:cNvPr>
          <p:cNvSpPr>
            <a:spLocks noGrp="1"/>
          </p:cNvSpPr>
          <p:nvPr/>
        </p:nvSpPr>
        <p:spPr>
          <a:xfrm>
            <a:off x="457200" y="3273552"/>
            <a:ext cx="8229600" cy="621792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26DC079D-45C7-495F-A921-6284CE47727C}"/>
              </a:ext>
            </a:extLst>
          </p:cNvPr>
          <p:cNvSpPr>
            <a:spLocks noGrp="1"/>
          </p:cNvSpPr>
          <p:nvPr/>
        </p:nvSpPr>
        <p:spPr>
          <a:xfrm>
            <a:off x="594360" y="3383280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E5E7755-59EF-406F-8255-200D297B7195}"/>
              </a:ext>
            </a:extLst>
          </p:cNvPr>
          <p:cNvSpPr>
            <a:spLocks noGrp="1"/>
          </p:cNvSpPr>
          <p:nvPr/>
        </p:nvSpPr>
        <p:spPr>
          <a:xfrm>
            <a:off x="594360" y="3383280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14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419856"/>
            <a:ext cx="329184" cy="329184"/>
          </a:xfrm>
          <a:prstGeom prst="rect">
            <a:avLst/>
          </a:prstGeom>
        </p:spPr>
      </p:pic>
      <p:sp>
        <p:nvSpPr>
          <p:cNvPr id="22" name="Text 16">
            <a:extLst>
              <a:ext uri="{FF2B5EF4-FFF2-40B4-BE49-F238E27FC236}">
                <a16:creationId xmlns:a16="http://schemas.microsoft.com/office/drawing/2014/main" id="{792C3370-11EE-452A-A80E-71194B30C0BB}"/>
              </a:ext>
            </a:extLst>
          </p:cNvPr>
          <p:cNvSpPr>
            <a:spLocks noGrp="1"/>
          </p:cNvSpPr>
          <p:nvPr/>
        </p:nvSpPr>
        <p:spPr>
          <a:xfrm>
            <a:off x="1600200" y="3273552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Multi-AZ — distribute workload capacity across AZs</a:t>
            </a:r>
            <a:endParaRPr sz="130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04082C8E-9F42-4404-95D2-54702699EB37}"/>
              </a:ext>
            </a:extLst>
          </p:cNvPr>
          <p:cNvSpPr>
            <a:spLocks noGrp="1"/>
          </p:cNvSpPr>
          <p:nvPr/>
        </p:nvSpPr>
        <p:spPr>
          <a:xfrm>
            <a:off x="457200" y="3968496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BB5C4D43-B3F8-4E0D-A046-89CD8C4922CF}"/>
              </a:ext>
            </a:extLst>
          </p:cNvPr>
          <p:cNvSpPr>
            <a:spLocks noGrp="1"/>
          </p:cNvSpPr>
          <p:nvPr/>
        </p:nvSpPr>
        <p:spPr>
          <a:xfrm>
            <a:off x="594360" y="4078224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3083BC84-227F-4B39-B769-FF87DB01F785}"/>
              </a:ext>
            </a:extLst>
          </p:cNvPr>
          <p:cNvSpPr>
            <a:spLocks noGrp="1"/>
          </p:cNvSpPr>
          <p:nvPr/>
        </p:nvSpPr>
        <p:spPr>
          <a:xfrm>
            <a:off x="594360" y="4078224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1400"/>
          </a:p>
        </p:txBody>
      </p:sp>
      <p:pic>
        <p:nvPicPr>
          <p:cNvPr id="57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114800"/>
            <a:ext cx="329184" cy="329184"/>
          </a:xfrm>
          <a:prstGeom prst="rect">
            <a:avLst/>
          </a:prstGeom>
        </p:spPr>
      </p:pic>
      <p:sp>
        <p:nvSpPr>
          <p:cNvPr id="27" name="Text 20">
            <a:extLst>
              <a:ext uri="{FF2B5EF4-FFF2-40B4-BE49-F238E27FC236}">
                <a16:creationId xmlns:a16="http://schemas.microsoft.com/office/drawing/2014/main" id="{AB1D5C90-E157-4EF4-80C5-CCD53FC82AD6}"/>
              </a:ext>
            </a:extLst>
          </p:cNvPr>
          <p:cNvSpPr>
            <a:spLocks noGrp="1"/>
          </p:cNvSpPr>
          <p:nvPr/>
        </p:nvSpPr>
        <p:spPr>
          <a:xfrm>
            <a:off x="1600200" y="3968496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Multi-Region — a separate disaster-recovery decision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461470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62B132-033B-42E3-923F-F70AA7DD3AD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0D4AA"/>
                </a:solidFill>
                <a:latin typeface="Arial"/>
                <a:ea typeface="Arial"/>
                <a:cs typeface="Arial"/>
              </a:rPr>
              <a:t>Public vs Private Is About Routing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4E013A-0DE5-4569-8480-E5A15E53A037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B9A6128-E208-4157-8406-D0A5CB3DB2AF}"/>
              </a:ext>
            </a:extLst>
          </p:cNvPr>
          <p:cNvSpPr>
            <a:spLocks noGrp="1"/>
          </p:cNvSpPr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PUBLIC ENTRY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Internet  ---&gt;  Internet Gateway  ---&gt;  public subnet  ---&gt;  ALB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PRIVATE TIERS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ALB  ---&gt;  app security group  ---&gt;  application tier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App  ---&gt;  database security group  ---&gt;  database tier</a:t>
            </a:r>
            <a:endParaRPr sz="13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6DB299-7D43-4410-884A-5484BE8AE465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D87DB0-5923-440F-9AD0-12210356E233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Expose only the entry point; restrict every downstream hop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546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Resilience Is Designed Per Tier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Compute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Two replaceable instances across AZs behind an ALB.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Capacity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Auto Scaling restores health and adjusts capacity.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Database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RDS Multi-AZ maintains a standby for failover.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State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S3, a database or cache keeps state outside instances.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EB20F0-00C4-49C0-85D4-2C01611BB98A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Three Different Design Decisions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7ECBCD-1614-46EE-88B7-122BEC8F697B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i="1">
                <a:solidFill>
                  <a:srgbClr val="7A8BBE"/>
                </a:solidFill>
                <a:latin typeface="Arial"/>
                <a:ea typeface="Arial"/>
                <a:cs typeface="Arial"/>
              </a:rPr>
              <a:t>A resilient workload answers all three questions</a:t>
            </a:r>
            <a:endParaRPr sz="1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056F5B-C464-4E31-82BC-FE24D6EACF81}"/>
              </a:ext>
            </a:extLst>
          </p:cNvPr>
          <p:cNvSpPr>
            <a:spLocks noGrp="1"/>
          </p:cNvSpPr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9D1DB2-43BD-4226-A02E-0FC41EB89816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AVAILABLE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D9CD08B-E0B5-45B2-88E2-EDD23DE0242F}"/>
              </a:ext>
            </a:extLst>
          </p:cNvPr>
          <p:cNvSpPr>
            <a:spLocks noGrp="1"/>
          </p:cNvSpPr>
          <p:nvPr/>
        </p:nvSpPr>
        <p:spPr>
          <a:xfrm>
            <a:off x="2286000" y="178308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Can the service continue when a component or one AZ fails?</a:t>
            </a:r>
            <a:endParaRPr sz="12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48C01EA-8F98-46A6-9C09-76FA5D15233D}"/>
              </a:ext>
            </a:extLst>
          </p:cNvPr>
          <p:cNvSpPr>
            <a:spLocks noGrp="1"/>
          </p:cNvSpPr>
          <p:nvPr/>
        </p:nvSpPr>
        <p:spPr>
          <a:xfrm>
            <a:off x="457200" y="2697480"/>
            <a:ext cx="8229600" cy="91440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AC26B81-FF97-4E53-B734-71757314DE86}"/>
              </a:ext>
            </a:extLst>
          </p:cNvPr>
          <p:cNvSpPr>
            <a:spLocks noGrp="1"/>
          </p:cNvSpPr>
          <p:nvPr/>
        </p:nvSpPr>
        <p:spPr>
          <a:xfrm>
            <a:off x="640080" y="274320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SCALABLE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818AD70-D8EA-4515-81C3-62C431E22499}"/>
              </a:ext>
            </a:extLst>
          </p:cNvPr>
          <p:cNvSpPr>
            <a:spLocks noGrp="1"/>
          </p:cNvSpPr>
          <p:nvPr/>
        </p:nvSpPr>
        <p:spPr>
          <a:xfrm>
            <a:off x="2286000" y="283464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Can capacity grow and shrink with demand?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7ADA2FA-2D9A-4F36-8C49-AA90E75E82B8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6B297D8-5E66-4E36-9606-1A4A933E890F}"/>
              </a:ext>
            </a:extLst>
          </p:cNvPr>
          <p:cNvSpPr>
            <a:spLocks noGrp="1"/>
          </p:cNvSpPr>
          <p:nvPr/>
        </p:nvSpPr>
        <p:spPr>
          <a:xfrm>
            <a:off x="640080" y="379476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RECOVERY</a:t>
            </a:r>
            <a:endParaRPr sz="1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7B44955-A14C-4459-A1A4-A63AE0990148}"/>
              </a:ext>
            </a:extLst>
          </p:cNvPr>
          <p:cNvSpPr>
            <a:spLocks noGrp="1"/>
          </p:cNvSpPr>
          <p:nvPr/>
        </p:nvSpPr>
        <p:spPr>
          <a:xfrm>
            <a:off x="2286000" y="388620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Can data and service be restored after a larger failure?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352332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014549"/>
            <a:ext cx="1188720" cy="118872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011CAA0-C8A6-4090-B09D-01F9D5A0FEC5}"/>
              </a:ext>
            </a:extLst>
          </p:cNvPr>
          <p:cNvSpPr>
            <a:spLocks noGrp="1"/>
          </p:cNvSpPr>
          <p:nvPr/>
        </p:nvSpPr>
        <p:spPr>
          <a:xfrm>
            <a:off x="457200" y="2386149"/>
            <a:ext cx="8229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cap="none" spc="0" dirty="0">
                <a:ln>
                  <a:noFill/>
                </a:ln>
                <a:solidFill>
                  <a:srgbClr val="FFFFFF"/>
                </a:solidFill>
                <a:latin typeface="Arial"/>
                <a:ea typeface="Arial"/>
                <a:cs typeface="Arial"/>
              </a:rPr>
              <a:t>2  APIs &amp; Deployment Strategies</a:t>
            </a:r>
            <a:endParaRPr sz="4000" b="0" i="0" u="none" kern="1200" cap="none" spc="0" baseline="0" dirty="0">
              <a:ln>
                <a:noFill/>
              </a:ln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7102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62B132-033B-42E3-923F-F70AA7DD3AD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0D4AA"/>
                </a:solidFill>
                <a:latin typeface="Arial"/>
                <a:ea typeface="Arial"/>
                <a:cs typeface="Arial"/>
              </a:rPr>
              <a:t>How a Serverless API Request Flows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4E013A-0DE5-4569-8480-E5A15E53A037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B9A6128-E208-4157-8406-D0A5CB3DB2AF}"/>
              </a:ext>
            </a:extLst>
          </p:cNvPr>
          <p:cNvSpPr>
            <a:spLocks noGrp="1"/>
          </p:cNvSpPr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REQUEST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Client  ---&gt;  API route  ---&gt;  auth / validation  ---&gt;  Lambda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                                                  invokes code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DEPENDENCIES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Lambda  ---&gt;  database / queue / cache / service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Lambda  ---&gt;  CloudWatch Logs  ---&gt;  response to client</a:t>
            </a:r>
            <a:endParaRPr sz="13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6DB299-7D43-4410-884A-5484BE8AE465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D87DB0-5923-440F-9AD0-12210356E233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 Gateway manages the API; Lambda executes the code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546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Choose the API Type by Interaction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HTTP API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Simple, lower-cost HTTP endpoints and Lambda proxies.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REST API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Broader API-management features when they are required.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WebSocket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Persistent two-way communication with connected clients.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No API Gateway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Events and AWS services can invoke Lambda directly.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A9926A-BBF5-4F03-81A1-E4F29E122C02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Lambda Has Runtime Decisions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138DC-44BD-463E-808A-8B8C6F0E10E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EE31CED3-420D-4749-99CA-48C2DDE7BB91}"/>
              </a:ext>
            </a:extLst>
          </p:cNvPr>
          <p:cNvSpPr>
            <a:spLocks noGrp="1"/>
          </p:cNvSpPr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Handler — receives an event and returns a result</a:t>
            </a:r>
            <a:endParaRPr sz="14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5D72294-37DC-46AF-8610-2291D07DA366}"/>
              </a:ext>
            </a:extLst>
          </p:cNvPr>
          <p:cNvSpPr>
            <a:spLocks noGrp="1"/>
          </p:cNvSpPr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3F732F5-85E7-44D0-A244-B772930CEC93}"/>
              </a:ext>
            </a:extLst>
          </p:cNvPr>
          <p:cNvSpPr>
            <a:spLocks noGrp="1"/>
          </p:cNvSpPr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Execution role — grants access to required AWS services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E6323E5-B6A1-47CA-BB18-7F2B0D471EFD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624E9D32-704D-4442-B9AF-2610AF107209}"/>
              </a:ext>
            </a:extLst>
          </p:cNvPr>
          <p:cNvSpPr>
            <a:spLocks noGrp="1"/>
          </p:cNvSpPr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Memory and timeout — shape performance and cost</a:t>
            </a:r>
            <a:endParaRPr sz="140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4304CD8-9C43-444C-BB88-720FB33264A2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4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3DF9D42A-CC85-445F-AE20-0060049C087F}"/>
              </a:ext>
            </a:extLst>
          </p:cNvPr>
          <p:cNvSpPr>
            <a:spLocks noGrp="1"/>
          </p:cNvSpPr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Concurrency — protects capacity and downstream systems</a:t>
            </a:r>
            <a:endParaRPr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740CBF97-A85B-48D9-BF9E-58EAA0E37923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09C0B66E-121E-4403-97E3-B975FEB07A14}"/>
              </a:ext>
            </a:extLst>
          </p:cNvPr>
          <p:cNvSpPr>
            <a:spLocks noGrp="1"/>
          </p:cNvSpPr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Logs and secrets — observe externally; store secrets safely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499693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Release Strategy Controls Risk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Rolling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Replace capacity in batches; old and new versions coexist.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Blue/green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Switch environments for isolation and fast rollback.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Canary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Send limited traffic first and expand only on evidence.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All-at-once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Fast and simple, with the largest blast radius.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5573339-A5CF-4231-9559-49511B704C71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Cache vs Event Stream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6A9B5ED-E865-4FB9-8CB3-942B9EB65D78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0FC9DF2-041A-47D5-A2AD-5B9C14E82EAF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B2D206-A17A-4D84-A6E0-2C9ED60B21A0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ElastiCache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8291B7-1854-44F3-B234-1948F53858AF}"/>
              </a:ext>
            </a:extLst>
          </p:cNvPr>
          <p:cNvSpPr>
            <a:spLocks noGrp="1"/>
          </p:cNvSpPr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Fast access by key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Cache, sessions and counters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Usually in the synchronous path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Source of truth handles cache misses</a:t>
            </a:r>
            <a:endParaRPr sz="13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360082B-EC9A-4D71-BADF-B886E8E8F2ED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CEE478A-B52F-41F5-9393-700CE7EAEAAB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C8C7F40-6E38-48AC-8A97-4F9BD0E1C07A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Amazon MSK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68D51EE-111E-4405-977D-0257245B62DA}"/>
              </a:ext>
            </a:extLst>
          </p:cNvPr>
          <p:cNvSpPr>
            <a:spLocks noGrp="1"/>
          </p:cNvSpPr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Durable Kafka event stream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Producers and independent consumers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Retention enables replay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Usually asynchronous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671728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FC542E-283C-47A0-8F4A-72AC543E71F1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A Safe Release Uses Evidence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E6B5728-0373-4ED9-B86F-20C0E2E50882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202F3A-E006-4DCD-A800-A1362C2DB38B}"/>
              </a:ext>
            </a:extLst>
          </p:cNvPr>
          <p:cNvSpPr>
            <a:spLocks noGrp="1"/>
          </p:cNvSpPr>
          <p:nvPr/>
        </p:nvSpPr>
        <p:spPr>
          <a:xfrm>
            <a:off x="594360" y="1298448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C7018D5-5858-4E53-81B5-EF107AA855DA}"/>
              </a:ext>
            </a:extLst>
          </p:cNvPr>
          <p:cNvSpPr>
            <a:spLocks noGrp="1"/>
          </p:cNvSpPr>
          <p:nvPr/>
        </p:nvSpPr>
        <p:spPr>
          <a:xfrm>
            <a:off x="594360" y="1298448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400"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35024"/>
            <a:ext cx="329184" cy="329184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89E8635B-D831-4F85-AC31-7396032DD2ED}"/>
              </a:ext>
            </a:extLst>
          </p:cNvPr>
          <p:cNvSpPr>
            <a:spLocks noGrp="1"/>
          </p:cNvSpPr>
          <p:nvPr/>
        </p:nvSpPr>
        <p:spPr>
          <a:xfrm>
            <a:off x="1600200" y="1188720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Define success metrics and a rollback threshold</a:t>
            </a:r>
            <a:endParaRPr sz="13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C245BCD-BB19-490D-A6EC-3519AF3773DD}"/>
              </a:ext>
            </a:extLst>
          </p:cNvPr>
          <p:cNvSpPr>
            <a:spLocks noGrp="1"/>
          </p:cNvSpPr>
          <p:nvPr/>
        </p:nvSpPr>
        <p:spPr>
          <a:xfrm>
            <a:off x="457200" y="1883664"/>
            <a:ext cx="8229600" cy="621792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47E224A-68A3-4151-A57B-E6E788861AA4}"/>
              </a:ext>
            </a:extLst>
          </p:cNvPr>
          <p:cNvSpPr>
            <a:spLocks noGrp="1"/>
          </p:cNvSpPr>
          <p:nvPr/>
        </p:nvSpPr>
        <p:spPr>
          <a:xfrm>
            <a:off x="594360" y="1993392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CE62FB5-125C-4DC2-ABFC-269940C82320}"/>
              </a:ext>
            </a:extLst>
          </p:cNvPr>
          <p:cNvSpPr>
            <a:spLocks noGrp="1"/>
          </p:cNvSpPr>
          <p:nvPr/>
        </p:nvSpPr>
        <p:spPr>
          <a:xfrm>
            <a:off x="594360" y="1993392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400"/>
          </a:p>
        </p:txBody>
      </p:sp>
      <p:pic>
        <p:nvPicPr>
          <p:cNvPr id="42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029968"/>
            <a:ext cx="329184" cy="329184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3C18A028-3041-414C-97FA-2DB5874AC85D}"/>
              </a:ext>
            </a:extLst>
          </p:cNvPr>
          <p:cNvSpPr>
            <a:spLocks noGrp="1"/>
          </p:cNvSpPr>
          <p:nvPr/>
        </p:nvSpPr>
        <p:spPr>
          <a:xfrm>
            <a:off x="1600200" y="1883664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Deploy the new version with backward-compatible changes</a:t>
            </a:r>
            <a:endParaRPr sz="130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99E1308-2B14-4644-9D34-AD1F44CB6E95}"/>
              </a:ext>
            </a:extLst>
          </p:cNvPr>
          <p:cNvSpPr>
            <a:spLocks noGrp="1"/>
          </p:cNvSpPr>
          <p:nvPr/>
        </p:nvSpPr>
        <p:spPr>
          <a:xfrm>
            <a:off x="457200" y="2578608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483A3FA5-9F11-470A-9278-16C77E9E9BE7}"/>
              </a:ext>
            </a:extLst>
          </p:cNvPr>
          <p:cNvSpPr>
            <a:spLocks noGrp="1"/>
          </p:cNvSpPr>
          <p:nvPr/>
        </p:nvSpPr>
        <p:spPr>
          <a:xfrm>
            <a:off x="594360" y="2688336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778AB330-59B5-41F8-B637-DC50102FB89A}"/>
              </a:ext>
            </a:extLst>
          </p:cNvPr>
          <p:cNvSpPr>
            <a:spLocks noGrp="1"/>
          </p:cNvSpPr>
          <p:nvPr/>
        </p:nvSpPr>
        <p:spPr>
          <a:xfrm>
            <a:off x="594360" y="2688336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1400"/>
          </a:p>
        </p:txBody>
      </p:sp>
      <p:pic>
        <p:nvPicPr>
          <p:cNvPr id="47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724912"/>
            <a:ext cx="329184" cy="329184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0E7B86F5-0490-4913-9A79-465659D3FBC6}"/>
              </a:ext>
            </a:extLst>
          </p:cNvPr>
          <p:cNvSpPr>
            <a:spLocks noGrp="1"/>
          </p:cNvSpPr>
          <p:nvPr/>
        </p:nvSpPr>
        <p:spPr>
          <a:xfrm>
            <a:off x="1600200" y="2578608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Send limited traffic to the new version</a:t>
            </a:r>
            <a:endParaRPr sz="130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82C673F4-AE84-4CCC-B54B-AF84B4F93A76}"/>
              </a:ext>
            </a:extLst>
          </p:cNvPr>
          <p:cNvSpPr>
            <a:spLocks noGrp="1"/>
          </p:cNvSpPr>
          <p:nvPr/>
        </p:nvSpPr>
        <p:spPr>
          <a:xfrm>
            <a:off x="457200" y="3273552"/>
            <a:ext cx="8229600" cy="621792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26DC079D-45C7-495F-A921-6284CE47727C}"/>
              </a:ext>
            </a:extLst>
          </p:cNvPr>
          <p:cNvSpPr>
            <a:spLocks noGrp="1"/>
          </p:cNvSpPr>
          <p:nvPr/>
        </p:nvSpPr>
        <p:spPr>
          <a:xfrm>
            <a:off x="594360" y="3383280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E5E7755-59EF-406F-8255-200D297B7195}"/>
              </a:ext>
            </a:extLst>
          </p:cNvPr>
          <p:cNvSpPr>
            <a:spLocks noGrp="1"/>
          </p:cNvSpPr>
          <p:nvPr/>
        </p:nvSpPr>
        <p:spPr>
          <a:xfrm>
            <a:off x="594360" y="3383280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14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419856"/>
            <a:ext cx="329184" cy="329184"/>
          </a:xfrm>
          <a:prstGeom prst="rect">
            <a:avLst/>
          </a:prstGeom>
        </p:spPr>
      </p:pic>
      <p:sp>
        <p:nvSpPr>
          <p:cNvPr id="22" name="Text 16">
            <a:extLst>
              <a:ext uri="{FF2B5EF4-FFF2-40B4-BE49-F238E27FC236}">
                <a16:creationId xmlns:a16="http://schemas.microsoft.com/office/drawing/2014/main" id="{792C3370-11EE-452A-A80E-71194B30C0BB}"/>
              </a:ext>
            </a:extLst>
          </p:cNvPr>
          <p:cNvSpPr>
            <a:spLocks noGrp="1"/>
          </p:cNvSpPr>
          <p:nvPr/>
        </p:nvSpPr>
        <p:spPr>
          <a:xfrm>
            <a:off x="1600200" y="3273552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Observe errors, latency and business metrics</a:t>
            </a:r>
            <a:endParaRPr sz="130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04082C8E-9F42-4404-95D2-54702699EB37}"/>
              </a:ext>
            </a:extLst>
          </p:cNvPr>
          <p:cNvSpPr>
            <a:spLocks noGrp="1"/>
          </p:cNvSpPr>
          <p:nvPr/>
        </p:nvSpPr>
        <p:spPr>
          <a:xfrm>
            <a:off x="457200" y="3968496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BB5C4D43-B3F8-4E0D-A046-89CD8C4922CF}"/>
              </a:ext>
            </a:extLst>
          </p:cNvPr>
          <p:cNvSpPr>
            <a:spLocks noGrp="1"/>
          </p:cNvSpPr>
          <p:nvPr/>
        </p:nvSpPr>
        <p:spPr>
          <a:xfrm>
            <a:off x="594360" y="4078224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3083BC84-227F-4B39-B769-FF87DB01F785}"/>
              </a:ext>
            </a:extLst>
          </p:cNvPr>
          <p:cNvSpPr>
            <a:spLocks noGrp="1"/>
          </p:cNvSpPr>
          <p:nvPr/>
        </p:nvSpPr>
        <p:spPr>
          <a:xfrm>
            <a:off x="594360" y="4078224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1400"/>
          </a:p>
        </p:txBody>
      </p:sp>
      <p:pic>
        <p:nvPicPr>
          <p:cNvPr id="57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114800"/>
            <a:ext cx="329184" cy="329184"/>
          </a:xfrm>
          <a:prstGeom prst="rect">
            <a:avLst/>
          </a:prstGeom>
        </p:spPr>
      </p:pic>
      <p:sp>
        <p:nvSpPr>
          <p:cNvPr id="27" name="Text 20">
            <a:extLst>
              <a:ext uri="{FF2B5EF4-FFF2-40B4-BE49-F238E27FC236}">
                <a16:creationId xmlns:a16="http://schemas.microsoft.com/office/drawing/2014/main" id="{AB1D5C90-E157-4EF4-80C5-CCD53FC82AD6}"/>
              </a:ext>
            </a:extLst>
          </p:cNvPr>
          <p:cNvSpPr>
            <a:spLocks noGrp="1"/>
          </p:cNvSpPr>
          <p:nvPr/>
        </p:nvSpPr>
        <p:spPr>
          <a:xfrm>
            <a:off x="1600200" y="3968496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Promote while healthy—or roll back quickly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461470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910047"/>
            <a:ext cx="1188720" cy="118872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011CAA0-C8A6-4090-B09D-01F9D5A0FEC5}"/>
              </a:ext>
            </a:extLst>
          </p:cNvPr>
          <p:cNvSpPr>
            <a:spLocks noGrp="1"/>
          </p:cNvSpPr>
          <p:nvPr/>
        </p:nvSpPr>
        <p:spPr>
          <a:xfrm>
            <a:off x="457200" y="2281647"/>
            <a:ext cx="8229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cap="none" spc="0" dirty="0">
                <a:ln>
                  <a:noFill/>
                </a:ln>
                <a:solidFill>
                  <a:srgbClr val="FFFFFF"/>
                </a:solidFill>
                <a:latin typeface="Arial"/>
                <a:ea typeface="Arial"/>
                <a:cs typeface="Arial"/>
              </a:rPr>
              <a:t>3  Optimization &amp; Recovery</a:t>
            </a:r>
            <a:endParaRPr sz="4000" b="0" i="0" u="none" kern="1200" cap="none" spc="0" baseline="0" dirty="0">
              <a:ln>
                <a:noFill/>
              </a:ln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7102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Optimize Against Requirements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Latency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What response time and throughput do users require?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Demand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Is traffic steady, predictable or sharply variable?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Recovery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How much data loss and downtime are acceptable?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Cost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Which expense supports a requirement—and which does not?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62B132-033B-42E3-923F-F70AA7DD3AD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0D4AA"/>
                </a:solidFill>
                <a:latin typeface="Arial"/>
                <a:ea typeface="Arial"/>
                <a:cs typeface="Arial"/>
              </a:rPr>
              <a:t>Optimize Cost Continuously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4E013A-0DE5-4569-8480-E5A15E53A037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B9A6128-E208-4157-8406-D0A5CB3DB2AF}"/>
              </a:ext>
            </a:extLst>
          </p:cNvPr>
          <p:cNvSpPr>
            <a:spLocks noGrp="1"/>
          </p:cNvSpPr>
          <p:nvPr/>
        </p:nvSpPr>
        <p:spPr>
          <a:xfrm>
            <a:off x="640080" y="1550126"/>
            <a:ext cx="7863840" cy="2610394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MEASURE  ---&gt;  ATTRIBUTE  ---&gt;  RECOMMEND</a:t>
            </a:r>
            <a:endParaRPr sz="1300" dirty="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Cost Explorer       tags / accounts       Optimizer / Advisor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IN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IN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 dirty="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VALIDATE  ---&gt;  CHANGE  ---&gt;  MEASURE AGAIN</a:t>
            </a:r>
            <a:endParaRPr sz="1300" dirty="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workload context       controlled action       confirm outcome</a:t>
            </a:r>
            <a:endParaRPr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6DB299-7D43-4410-884A-5484BE8AE465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D87DB0-5923-440F-9AD0-12210356E233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recommendation is evidence to review—not an automatic decision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546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Match Pricing to Workload Behavior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On-Demand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New, variable or short-lived workloads without commitment.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Savings Plans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Commit predictable compute usage with plan flexibility.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Reserved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Stable EC2 or RDS usage when attributes are understood.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Spot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Interruptible, fault-tolerant work that can resume safely.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EB20F0-00C4-49C0-85D4-2C01611BB98A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Performance Has Three Main Levers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7ECBCD-1614-46EE-88B7-122BEC8F697B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i="1">
                <a:solidFill>
                  <a:srgbClr val="7A8BBE"/>
                </a:solidFill>
                <a:latin typeface="Arial"/>
                <a:ea typeface="Arial"/>
                <a:cs typeface="Arial"/>
              </a:rPr>
              <a:t>Reduce repeated work, move work closer, and add capacity safely</a:t>
            </a:r>
            <a:endParaRPr sz="1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056F5B-C464-4E31-82BC-FE24D6EACF81}"/>
              </a:ext>
            </a:extLst>
          </p:cNvPr>
          <p:cNvSpPr>
            <a:spLocks noGrp="1"/>
          </p:cNvSpPr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9D1DB2-43BD-4226-A02E-0FC41EB89816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EDGE CACHE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D9CD08B-E0B5-45B2-88E2-EDD23DE0242F}"/>
              </a:ext>
            </a:extLst>
          </p:cNvPr>
          <p:cNvSpPr>
            <a:spLocks noGrp="1"/>
          </p:cNvSpPr>
          <p:nvPr/>
        </p:nvSpPr>
        <p:spPr>
          <a:xfrm>
            <a:off x="2286000" y="178308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CloudFront places cached content closer to users and reduces origin work.</a:t>
            </a:r>
            <a:endParaRPr sz="12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48C01EA-8F98-46A6-9C09-76FA5D15233D}"/>
              </a:ext>
            </a:extLst>
          </p:cNvPr>
          <p:cNvSpPr>
            <a:spLocks noGrp="1"/>
          </p:cNvSpPr>
          <p:nvPr/>
        </p:nvSpPr>
        <p:spPr>
          <a:xfrm>
            <a:off x="457200" y="2697480"/>
            <a:ext cx="8229600" cy="91440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AC26B81-FF97-4E53-B734-71757314DE86}"/>
              </a:ext>
            </a:extLst>
          </p:cNvPr>
          <p:cNvSpPr>
            <a:spLocks noGrp="1"/>
          </p:cNvSpPr>
          <p:nvPr/>
        </p:nvSpPr>
        <p:spPr>
          <a:xfrm>
            <a:off x="640080" y="274320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DATA CACHE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818AD70-D8EA-4515-81C3-62C431E22499}"/>
              </a:ext>
            </a:extLst>
          </p:cNvPr>
          <p:cNvSpPr>
            <a:spLocks noGrp="1"/>
          </p:cNvSpPr>
          <p:nvPr/>
        </p:nvSpPr>
        <p:spPr>
          <a:xfrm>
            <a:off x="2286000" y="283464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ElastiCache reduces latency and repeated database reads; misses use the source.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7ADA2FA-2D9A-4F36-8C49-AA90E75E82B8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6B297D8-5E66-4E36-9606-1A4A933E890F}"/>
              </a:ext>
            </a:extLst>
          </p:cNvPr>
          <p:cNvSpPr>
            <a:spLocks noGrp="1"/>
          </p:cNvSpPr>
          <p:nvPr/>
        </p:nvSpPr>
        <p:spPr>
          <a:xfrm>
            <a:off x="640080" y="379476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COMPUTE SCALE</a:t>
            </a:r>
            <a:endParaRPr sz="1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7B44955-A14C-4459-A1A4-A63AE0990148}"/>
              </a:ext>
            </a:extLst>
          </p:cNvPr>
          <p:cNvSpPr>
            <a:spLocks noGrp="1"/>
          </p:cNvSpPr>
          <p:nvPr/>
        </p:nvSpPr>
        <p:spPr>
          <a:xfrm>
            <a:off x="2286000" y="388620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ASG or Lambda adds capacity, while downstream limits still apply.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352332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Four Recovery Questions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RPO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How much data loss, measured in time, is acceptable?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RTO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How long may the workload remain unavailable?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Backup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Is there a retained recovery point separate from active data?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High availability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Can service continue through expected component failures?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A9926A-BBF5-4F03-81A1-E4F29E122C02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Recovery Controls Must Be Tested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138DC-44BD-463E-808A-8B8C6F0E10E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EE31CED3-420D-4749-99CA-48C2DDE7BB91}"/>
              </a:ext>
            </a:extLst>
          </p:cNvPr>
          <p:cNvSpPr>
            <a:spLocks noGrp="1"/>
          </p:cNvSpPr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EBS snapshot / AMI — point-in-time storage or launch image</a:t>
            </a:r>
            <a:endParaRPr sz="14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5D72294-37DC-46AF-8610-2291D07DA366}"/>
              </a:ext>
            </a:extLst>
          </p:cNvPr>
          <p:cNvSpPr>
            <a:spLocks noGrp="1"/>
          </p:cNvSpPr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3F732F5-85E7-44D0-A244-B772930CEC93}"/>
              </a:ext>
            </a:extLst>
          </p:cNvPr>
          <p:cNvSpPr>
            <a:spLocks noGrp="1"/>
          </p:cNvSpPr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RDS backup — point-in-time restore to a new database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E6323E5-B6A1-47CA-BB18-7F2B0D471EFD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624E9D32-704D-4442-B9AF-2610AF107209}"/>
              </a:ext>
            </a:extLst>
          </p:cNvPr>
          <p:cNvSpPr>
            <a:spLocks noGrp="1"/>
          </p:cNvSpPr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S3 versioning — recover previous object versions</a:t>
            </a:r>
            <a:endParaRPr sz="140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4304CD8-9C43-444C-BB88-720FB33264A2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4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3DF9D42A-CC85-445F-AE20-0060049C087F}"/>
              </a:ext>
            </a:extLst>
          </p:cNvPr>
          <p:cNvSpPr>
            <a:spLocks noGrp="1"/>
          </p:cNvSpPr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Cross-Region copy — maintain a separate regional recovery copy</a:t>
            </a:r>
            <a:endParaRPr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740CBF97-A85B-48D9-BF9E-58EAA0E37923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09C0B66E-121E-4403-97E3-B975FEB07A14}"/>
              </a:ext>
            </a:extLst>
          </p:cNvPr>
          <p:cNvSpPr>
            <a:spLocks noGrp="1"/>
          </p:cNvSpPr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AWS Backup — policy, vault, copy and restore testing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499693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962298"/>
            <a:ext cx="1188720" cy="118872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011CAA0-C8A6-4090-B09D-01F9D5A0FEC5}"/>
              </a:ext>
            </a:extLst>
          </p:cNvPr>
          <p:cNvSpPr>
            <a:spLocks noGrp="1"/>
          </p:cNvSpPr>
          <p:nvPr/>
        </p:nvSpPr>
        <p:spPr>
          <a:xfrm>
            <a:off x="457200" y="2333898"/>
            <a:ext cx="8229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cap="none" spc="0" dirty="0">
                <a:ln>
                  <a:noFill/>
                </a:ln>
                <a:solidFill>
                  <a:srgbClr val="FFFFFF"/>
                </a:solidFill>
                <a:latin typeface="Arial"/>
                <a:ea typeface="Arial"/>
                <a:cs typeface="Arial"/>
              </a:rPr>
              <a:t>4  Designing AWS Architecture</a:t>
            </a:r>
            <a:endParaRPr sz="4000" b="0" i="0" u="none" kern="1200" cap="none" spc="0" baseline="0" dirty="0">
              <a:ln>
                <a:noFill/>
              </a:ln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7102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A9926A-BBF5-4F03-81A1-E4F29E122C02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Requirements Before Services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138DC-44BD-463E-808A-8B8C6F0E10E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EE31CED3-420D-4749-99CA-48C2DDE7BB91}"/>
              </a:ext>
            </a:extLst>
          </p:cNvPr>
          <p:cNvSpPr>
            <a:spLocks noGrp="1"/>
          </p:cNvSpPr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Users — locations, access channels and latency</a:t>
            </a:r>
            <a:endParaRPr sz="14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5D72294-37DC-46AF-8610-2291D07DA366}"/>
              </a:ext>
            </a:extLst>
          </p:cNvPr>
          <p:cNvSpPr>
            <a:spLocks noGrp="1"/>
          </p:cNvSpPr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3F732F5-85E7-44D0-A244-B772930CEC93}"/>
              </a:ext>
            </a:extLst>
          </p:cNvPr>
          <p:cNvSpPr>
            <a:spLocks noGrp="1"/>
          </p:cNvSpPr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Load — normal demand, peak demand and expected growth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E6323E5-B6A1-47CA-BB18-7F2B0D471EFD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624E9D32-704D-4442-B9AF-2610AF107209}"/>
              </a:ext>
            </a:extLst>
          </p:cNvPr>
          <p:cNvSpPr>
            <a:spLocks noGrp="1"/>
          </p:cNvSpPr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Availability — target, failure scope, RPO and RTO</a:t>
            </a:r>
            <a:endParaRPr sz="140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4304CD8-9C43-444C-BB88-720FB33264A2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4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3DF9D42A-CC85-445F-AE20-0060049C087F}"/>
              </a:ext>
            </a:extLst>
          </p:cNvPr>
          <p:cNvSpPr>
            <a:spLocks noGrp="1"/>
          </p:cNvSpPr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Data — consistency, retention, sensitivity and compliance</a:t>
            </a:r>
            <a:endParaRPr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740CBF97-A85B-48D9-BF9E-58EAA0E37923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09C0B66E-121E-4403-97E3-B975FEB07A14}"/>
              </a:ext>
            </a:extLst>
          </p:cNvPr>
          <p:cNvSpPr>
            <a:spLocks noGrp="1"/>
          </p:cNvSpPr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Constraints — team skills, delivery speed and cost boundary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499693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Four Principles Enable Change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Stateless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Keep durable state outside replaceable compute instances.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Loosely coupled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Use queues or events to isolate temporary failures.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Horizontal scale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Add replaceable workers and watch the next bottleneck.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Managed deliberately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Reduce infrastructure work without ignoring design duties.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A9926A-BBF5-4F03-81A1-E4F29E122C02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Security Works in Layers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138DC-44BD-463E-808A-8B8C6F0E10E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EE31CED3-420D-4749-99CA-48C2DDE7BB91}"/>
              </a:ext>
            </a:extLst>
          </p:cNvPr>
          <p:cNvSpPr>
            <a:spLocks noGrp="1"/>
          </p:cNvSpPr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Identity — IAM roles and least-privilege policies</a:t>
            </a:r>
            <a:endParaRPr sz="14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5D72294-37DC-46AF-8610-2291D07DA366}"/>
              </a:ext>
            </a:extLst>
          </p:cNvPr>
          <p:cNvSpPr>
            <a:spLocks noGrp="1"/>
          </p:cNvSpPr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3F732F5-85E7-44D0-A244-B772930CEC93}"/>
              </a:ext>
            </a:extLst>
          </p:cNvPr>
          <p:cNvSpPr>
            <a:spLocks noGrp="1"/>
          </p:cNvSpPr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Network — VPC, subnets, security groups and endpoints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E6323E5-B6A1-47CA-BB18-7F2B0D471EFD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624E9D32-704D-4442-B9AF-2610AF107209}"/>
              </a:ext>
            </a:extLst>
          </p:cNvPr>
          <p:cNvSpPr>
            <a:spLocks noGrp="1"/>
          </p:cNvSpPr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Data — KMS-backed encryption and TLS</a:t>
            </a:r>
            <a:endParaRPr sz="140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4304CD8-9C43-444C-BB88-720FB33264A2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4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3DF9D42A-CC85-445F-AE20-0060049C087F}"/>
              </a:ext>
            </a:extLst>
          </p:cNvPr>
          <p:cNvSpPr>
            <a:spLocks noGrp="1"/>
          </p:cNvSpPr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Secrets — Secrets Manager or Parameter Store</a:t>
            </a:r>
            <a:endParaRPr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740CBF97-A85B-48D9-BF9E-58EAA0E37923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09C0B66E-121E-4403-97E3-B975FEB07A14}"/>
              </a:ext>
            </a:extLst>
          </p:cNvPr>
          <p:cNvSpPr>
            <a:spLocks noGrp="1"/>
          </p:cNvSpPr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Detection — CloudTrail, CloudWatch and security services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499693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Patterns Fit Different Constraints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Serverless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CloudFront, API Gateway, Lambda and managed data services.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Three-tier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ALB, scalable compute and RDS Multi-AZ across two AZs.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Event-driven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Independent consumers connected through queues or events.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Hybrid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On-premises systems connected to AWS during phased change.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67C80B-65B3-4ED1-93DD-6E0CEE774D7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Challenge the Design, Then Review It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28EA48F-A975-4484-9123-309A4EEFEB7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2CAFA1-1C0F-4276-86A9-8166630BCA8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D2F1FDA-ABD7-4444-8190-01A68DB49DCB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Failure &amp; Scale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937D63E-3E8D-439C-AFC9-349B2C1C914D}"/>
              </a:ext>
            </a:extLst>
          </p:cNvPr>
          <p:cNvSpPr>
            <a:spLocks noGrp="1"/>
          </p:cNvSpPr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What fails with one AZ?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Where is state stored?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What becomes the next bottleneck?</a:t>
            </a:r>
            <a:endParaRPr sz="13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8683419-885E-4C8A-BEE0-09FA77BF4D42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590AFF7-7138-4DDF-B66B-A6F92E14E791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FF9900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4B9A6C9-5DBC-4804-811D-851343207CCE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Security &amp; Operations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D56A9AD-36A7-49A5-B723-F429A57D5A97}"/>
              </a:ext>
            </a:extLst>
          </p:cNvPr>
          <p:cNvSpPr>
            <a:spLocks noGrp="1"/>
          </p:cNvSpPr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Which identity can access each resource?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How is deleted data restored?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Which Well-Architected pillar needs work?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7604657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857796"/>
            <a:ext cx="1188720" cy="118872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011CAA0-C8A6-4090-B09D-01F9D5A0FEC5}"/>
              </a:ext>
            </a:extLst>
          </p:cNvPr>
          <p:cNvSpPr>
            <a:spLocks noGrp="1"/>
          </p:cNvSpPr>
          <p:nvPr/>
        </p:nvSpPr>
        <p:spPr>
          <a:xfrm>
            <a:off x="457200" y="2229396"/>
            <a:ext cx="8229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000" b="1" i="0" u="none" cap="none" spc="0" dirty="0">
                <a:ln>
                  <a:noFill/>
                </a:ln>
                <a:solidFill>
                  <a:srgbClr val="FFFFFF"/>
                </a:solidFill>
                <a:latin typeface="Arial"/>
                <a:ea typeface="Arial"/>
                <a:cs typeface="Arial"/>
              </a:rPr>
              <a:t>5  Migration</a:t>
            </a:r>
            <a:endParaRPr sz="4000" b="0" i="0" u="none" kern="1200" cap="none" spc="0" baseline="0" dirty="0">
              <a:ln>
                <a:noFill/>
              </a:ln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71029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62B132-033B-42E3-923F-F70AA7DD3AD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0D4AA"/>
                </a:solidFill>
                <a:latin typeface="Arial"/>
                <a:ea typeface="Arial"/>
                <a:cs typeface="Arial"/>
              </a:rPr>
              <a:t>Migration Is a Lifecycle, Not a Copy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4E013A-0DE5-4569-8480-E5A15E53A037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B9A6128-E208-4157-8406-D0A5CB3DB2AF}"/>
              </a:ext>
            </a:extLst>
          </p:cNvPr>
          <p:cNvSpPr>
            <a:spLocks noGrp="1"/>
          </p:cNvSpPr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ASSESS  ---&gt;  MOBILIZE  ---&gt;  MIGRATE &amp; MODERNIZE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inventory          landing zone          execute waves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dependencies       security / network    test and cut over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OPERATE &amp; OPTIMIZE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monitor  ---&gt;  right-size  ---&gt;  modernize further</a:t>
            </a:r>
            <a:endParaRPr sz="13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6DB299-7D43-4410-884A-5484BE8AE465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D87DB0-5923-440F-9AD0-12210356E233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 replication is one task inside a business migration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546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5573339-A5CF-4231-9559-49511B704C71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The 7 Rs Express Different Outcomes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6A9B5ED-E865-4FB9-8CB3-942B9EB65D78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0FC9DF2-041A-47D5-A2AD-5B9C14E82EAF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B2D206-A17A-4D84-A6E0-2C9ED60B21A0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Remove or Move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8291B7-1854-44F3-B234-1948F53858AF}"/>
              </a:ext>
            </a:extLst>
          </p:cNvPr>
          <p:cNvSpPr>
            <a:spLocks noGrp="1"/>
          </p:cNvSpPr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Retire — remove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Retain — keep for now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Rehost — move with minimal change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Relocate — move the platform</a:t>
            </a:r>
            <a:endParaRPr sz="13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360082B-EC9A-4D71-BADF-B886E8E8F2ED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CEE478A-B52F-41F5-9393-700CE7EAEAAB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C8C7F40-6E38-48AC-8A97-4F9BD0E1C07A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Change the Solution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68D51EE-111E-4405-977D-0257245B62DA}"/>
              </a:ext>
            </a:extLst>
          </p:cNvPr>
          <p:cNvSpPr>
            <a:spLocks noGrp="1"/>
          </p:cNvSpPr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Replatform — change platform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Repurchase — replace with product or SaaS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Refactor — redesign the architecture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6717286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A9926A-BBF5-4F03-81A1-E4F29E122C02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Choose the Tool by What Is Moving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138DC-44BD-463E-808A-8B8C6F0E10E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EE31CED3-420D-4749-99CA-48C2DDE7BB91}"/>
              </a:ext>
            </a:extLst>
          </p:cNvPr>
          <p:cNvSpPr>
            <a:spLocks noGrp="1"/>
          </p:cNvSpPr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Servers — AWS Transform MGN</a:t>
            </a:r>
            <a:endParaRPr sz="14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5D72294-37DC-46AF-8610-2291D07DA366}"/>
              </a:ext>
            </a:extLst>
          </p:cNvPr>
          <p:cNvSpPr>
            <a:spLocks noGrp="1"/>
          </p:cNvSpPr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3F732F5-85E7-44D0-A244-B772930CEC93}"/>
              </a:ext>
            </a:extLst>
          </p:cNvPr>
          <p:cNvSpPr>
            <a:spLocks noGrp="1"/>
          </p:cNvSpPr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Databases — AWS Database Migration Service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E6323E5-B6A1-47CA-BB18-7F2B0D471EFD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624E9D32-704D-4442-B9AF-2610AF107209}"/>
              </a:ext>
            </a:extLst>
          </p:cNvPr>
          <p:cNvSpPr>
            <a:spLocks noGrp="1"/>
          </p:cNvSpPr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Online files or objects — AWS DataSync</a:t>
            </a:r>
            <a:endParaRPr sz="140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4304CD8-9C43-444C-BB88-720FB33264A2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4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3DF9D42A-CC85-445F-AE20-0060049C087F}"/>
              </a:ext>
            </a:extLst>
          </p:cNvPr>
          <p:cNvSpPr>
            <a:spLocks noGrp="1"/>
          </p:cNvSpPr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Large offline datasets — AWS Snow Family where suitable</a:t>
            </a:r>
            <a:endParaRPr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740CBF97-A85B-48D9-BF9E-58EAA0E37923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09C0B66E-121E-4403-97E3-B975FEB07A14}"/>
              </a:ext>
            </a:extLst>
          </p:cNvPr>
          <p:cNvSpPr>
            <a:spLocks noGrp="1"/>
          </p:cNvSpPr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Assessment and modernization — AWS Transform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499693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62B132-033B-42E3-923F-F70AA7DD3AD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0D4AA"/>
                </a:solidFill>
                <a:latin typeface="Arial"/>
                <a:ea typeface="Arial"/>
                <a:cs typeface="Arial"/>
              </a:rPr>
              <a:t>Build Waves from Dependencies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4E013A-0DE5-4569-8480-E5A15E53A037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B9A6128-E208-4157-8406-D0A5CB3DB2AF}"/>
              </a:ext>
            </a:extLst>
          </p:cNvPr>
          <p:cNvSpPr>
            <a:spLocks noGrp="1"/>
          </p:cNvSpPr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DISCOVER  ---&gt;  GROUP APPS  ---&gt;  BUILD WAVES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owners / dependencies     strategy / tools       pilot first</a:t>
            </a:r>
            <a:endParaRPr sz="130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TEST  ---&gt;  CUT OVER  ---&gt;  VALIDATE</a:t>
            </a:r>
            <a:endParaRPr sz="1300"/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  <a:defRPr sz="1300">
                <a:solidFill>
                  <a:srgbClr val="00D4AA"/>
                </a:solidFill>
                <a:latin typeface="Consolas"/>
                <a:ea typeface="Consolas"/>
                <a:cs typeface="Consolas"/>
              </a:defRPr>
            </a:pPr>
            <a:r>
              <a:rPr sz="130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non-disruptive      traffic / DNS       technical + business</a:t>
            </a:r>
            <a:endParaRPr sz="13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6DB299-7D43-4410-884A-5484BE8AE465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D87DB0-5923-440F-9AD0-12210356E233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low-risk pilot proves the process before critical workloads move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5466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5573339-A5CF-4231-9559-49511B704C71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Validate Cutover and Rollback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6A9B5ED-E865-4FB9-8CB3-942B9EB65D78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0FC9DF2-041A-47D5-A2AD-5B9C14E82EAF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B2D206-A17A-4D84-A6E0-2C9ED60B21A0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8291B7-1854-44F3-B234-1948F53858AF}"/>
              </a:ext>
            </a:extLst>
          </p:cNvPr>
          <p:cNvSpPr>
            <a:spLocks noGrp="1"/>
          </p:cNvSpPr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Dependencies and service health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User login and business transaction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Data reconciliation, logs and alarms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Application-owner sign-off</a:t>
            </a:r>
            <a:endParaRPr sz="13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360082B-EC9A-4D71-BADF-B886E8E8F2ED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CEE478A-B52F-41F5-9393-700CE7EAEAAB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C8C7F40-6E38-48AC-8A97-4F9BD0E1C07A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Rollback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68D51EE-111E-4405-977D-0257245B62DA}"/>
              </a:ext>
            </a:extLst>
          </p:cNvPr>
          <p:cNvSpPr>
            <a:spLocks noGrp="1"/>
          </p:cNvSpPr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Trigger and decision owner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Latest safe rollback time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Traffic and DNS reversal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Plan for target-side writes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6717286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EB20F0-00C4-49C0-85D4-2C01611BB98A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Make Every Trade-off Explicit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7ECBCD-1614-46EE-88B7-122BEC8F697B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i="1">
                <a:solidFill>
                  <a:srgbClr val="7A8BBE"/>
                </a:solidFill>
                <a:latin typeface="Arial"/>
                <a:ea typeface="Arial"/>
                <a:cs typeface="Arial"/>
              </a:rPr>
              <a:t>Requirements first; services second; evidence always</a:t>
            </a:r>
            <a:endParaRPr sz="1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056F5B-C464-4E31-82BC-FE24D6EACF81}"/>
              </a:ext>
            </a:extLst>
          </p:cNvPr>
          <p:cNvSpPr>
            <a:spLocks noGrp="1"/>
          </p:cNvSpPr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9D1DB2-43BD-4226-A02E-0FC41EB89816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DESIGN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D9CD08B-E0B5-45B2-88E2-EDD23DE0242F}"/>
              </a:ext>
            </a:extLst>
          </p:cNvPr>
          <p:cNvSpPr>
            <a:spLocks noGrp="1"/>
          </p:cNvSpPr>
          <p:nvPr/>
        </p:nvSpPr>
        <p:spPr>
          <a:xfrm>
            <a:off x="2286000" y="178308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Connect availability, security, performance and cost to requirements.</a:t>
            </a:r>
            <a:endParaRPr sz="12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48C01EA-8F98-46A6-9C09-76FA5D15233D}"/>
              </a:ext>
            </a:extLst>
          </p:cNvPr>
          <p:cNvSpPr>
            <a:spLocks noGrp="1"/>
          </p:cNvSpPr>
          <p:nvPr/>
        </p:nvSpPr>
        <p:spPr>
          <a:xfrm>
            <a:off x="457200" y="2697480"/>
            <a:ext cx="8229600" cy="91440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AC26B81-FF97-4E53-B734-71757314DE86}"/>
              </a:ext>
            </a:extLst>
          </p:cNvPr>
          <p:cNvSpPr>
            <a:spLocks noGrp="1"/>
          </p:cNvSpPr>
          <p:nvPr/>
        </p:nvSpPr>
        <p:spPr>
          <a:xfrm>
            <a:off x="640080" y="274320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OPERATE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818AD70-D8EA-4515-81C3-62C431E22499}"/>
              </a:ext>
            </a:extLst>
          </p:cNvPr>
          <p:cNvSpPr>
            <a:spLocks noGrp="1"/>
          </p:cNvSpPr>
          <p:nvPr/>
        </p:nvSpPr>
        <p:spPr>
          <a:xfrm>
            <a:off x="2286000" y="283464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Monitor outcomes, test recovery and improve continuously.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7ADA2FA-2D9A-4F36-8C49-AA90E75E82B8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6B297D8-5E66-4E36-9606-1A4A933E890F}"/>
              </a:ext>
            </a:extLst>
          </p:cNvPr>
          <p:cNvSpPr>
            <a:spLocks noGrp="1"/>
          </p:cNvSpPr>
          <p:nvPr/>
        </p:nvSpPr>
        <p:spPr>
          <a:xfrm>
            <a:off x="640080" y="379476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CHANGE</a:t>
            </a:r>
            <a:endParaRPr sz="1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7B44955-A14C-4459-A1A4-A63AE0990148}"/>
              </a:ext>
            </a:extLst>
          </p:cNvPr>
          <p:cNvSpPr>
            <a:spLocks noGrp="1"/>
          </p:cNvSpPr>
          <p:nvPr/>
        </p:nvSpPr>
        <p:spPr>
          <a:xfrm>
            <a:off x="2286000" y="388620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Deploy and migrate in small, observable and reversible steps.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352332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1354</Words>
  <Application>Microsoft Office PowerPoint</Application>
  <DocSecurity>0</DocSecurity>
  <PresentationFormat>On-screen Show (16:9)</PresentationFormat>
  <Paragraphs>258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Aryan Mohan</cp:lastModifiedBy>
  <cp:revision>2</cp:revision>
  <dcterms:created xsi:type="dcterms:W3CDTF">2026-08-16T16:56:15Z</dcterms:created>
  <dcterms:modified xsi:type="dcterms:W3CDTF">2026-08-16T17:09:16Z</dcterms:modified>
</cp:coreProperties>
</file>