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68" r:id="rId19"/>
    <p:sldId id="26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387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Foundations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First Infrastructure as Code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Infrastructure as Code (IaC) concepts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why Terraform is the industry standard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Terraform workflow: init → plan → apply → destroy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first HCL configuration and deploy real infrastructure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state files and why they matter</a:t>
            </a:r>
            <a:endParaRPr lang="en-US" sz="1400" dirty="0"/>
          </a:p>
        </p:txBody>
      </p:sp>
      <p:sp>
        <p:nvSpPr>
          <p:cNvPr id="18" name="Shape 10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variables, outputs, and data sources to build reusable infrastructure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Manual Infrastructure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Infrastructure as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E8E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Clicking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5661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via AWS Console is slow and error-prone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E8E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2057400"/>
            <a:ext cx="35661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version control, no history of changes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Infrastructure as Code?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infrastructure in code files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(servers, networks, databases) defined in code files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lives in version control (Git) - full history and accountability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are reviewed like code changes (Pull Requests)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Automation: one command deploys entire infrastructure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Reproducible: deploy identical environments (dev, qa, prod) instantly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cs typeface="Arial" pitchFamily="34" charset="-120"/>
              </a:rPr>
              <a:t>Idempotent:  One code, if executed multiple times, produce same result, if I write a code for create 1 ec2 server of type t4g.small.. And I run the code 10 times… then also, only 1 ec2 will be created..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Terraform?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IaC tool of choice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Advantages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Vendor-agnostic (AWS, Azure, GCP, etc.)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HCL: Human-friendly, readable syntax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community &amp; extensive provider library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file tracks real infrastructure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before apply, see changes first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CloudFormation: AWS-only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cs typeface="Arial" pitchFamily="34" charset="-120"/>
              </a:rPr>
              <a:t>ARM templates / Biceps</a:t>
            </a:r>
            <a:r>
              <a:rPr lang="en-US" sz="1300">
                <a:solidFill>
                  <a:srgbClr val="3A4668"/>
                </a:solidFill>
                <a:latin typeface="Arial" pitchFamily="34" charset="0"/>
                <a:cs typeface="Arial" pitchFamily="34" charset="-120"/>
              </a:rPr>
              <a:t>: Azure-only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Pulumi: Programming languages, steeper learning curve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Ansible: Great for config mgmt, not </a:t>
            </a:r>
            <a:r>
              <a:rPr lang="en-US" sz="13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Terraform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040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339596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3395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7617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188720"/>
            <a:ext cx="68580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</a:t>
            </a:r>
            <a:r>
              <a:rPr lang="en-US" sz="13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Initialize Terraform, download providers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8229600" cy="704088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94360" y="2116836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94360" y="21168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5341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965960"/>
            <a:ext cx="68580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plan - Preview infrastructure changes (no apply yet)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743200"/>
            <a:ext cx="8229600" cy="7040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594360" y="2894076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594360" y="2894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3065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743200"/>
            <a:ext cx="68580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apply - Create/update actual resources in cloud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3520440"/>
            <a:ext cx="8229600" cy="704088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94360" y="3671316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94360" y="36713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70789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520440"/>
            <a:ext cx="68580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destroy - Delete all managed infrastructure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Providers: Terraform's Magic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 to cloud platforms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64592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Web Services - EC2, RDS, S3, etc.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39319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 - VMs, App Service, Cosmos DB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9319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Platform - Compute Engine, Cloud SQL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246120"/>
            <a:ext cx="3931920" cy="164592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providers - Docker, Kubernetes, files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Resources</a:t>
            </a:r>
            <a:endParaRPr lang="en-US" sz="3600" dirty="0"/>
          </a:p>
        </p:txBody>
      </p:sp>
      <p:sp>
        <p:nvSpPr>
          <p:cNvPr id="3" name="Subtitle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syntax — works for AWS, Azure, GCP, and more</a:t>
            </a:r>
            <a:endParaRPr lang="en-US" sz="1400" dirty="0"/>
          </a:p>
        </p:txBody>
      </p:sp>
      <p:sp>
        <p:nvSpPr>
          <p:cNvPr id="4" name="Card-AWS-body"/>
          <p:cNvSpPr/>
          <p:nvPr/>
        </p:nvSpPr>
        <p:spPr>
          <a:xfrm>
            <a:off x="457200" y="1260000"/>
            <a:ext cx="2623200" cy="228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Card-AWS-hdr"/>
          <p:cNvSpPr/>
          <p:nvPr/>
        </p:nvSpPr>
        <p:spPr>
          <a:xfrm>
            <a:off x="457200" y="1260000"/>
            <a:ext cx="2623200" cy="360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ard-AWS-hdrtext"/>
          <p:cNvSpPr/>
          <p:nvPr/>
        </p:nvSpPr>
        <p:spPr>
          <a:xfrm>
            <a:off x="457200" y="1260000"/>
            <a:ext cx="26232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400" dirty="0"/>
          </a:p>
        </p:txBody>
      </p:sp>
      <p:sp>
        <p:nvSpPr>
          <p:cNvPr id="7" name="Card-AWS-prov"/>
          <p:cNvSpPr/>
          <p:nvPr/>
        </p:nvSpPr>
        <p:spPr>
          <a:xfrm>
            <a:off x="640080" y="1690000"/>
            <a:ext cx="2257440" cy="2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1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provider: aws</a:t>
            </a:r>
            <a:endParaRPr lang="en-US" sz="1000" dirty="0"/>
          </a:p>
        </p:txBody>
      </p:sp>
      <p:sp>
        <p:nvSpPr>
          <p:cNvPr id="8" name="Card-AWS-list"/>
          <p:cNvSpPr/>
          <p:nvPr/>
        </p:nvSpPr>
        <p:spPr>
          <a:xfrm>
            <a:off x="640080" y="1940000"/>
            <a:ext cx="2257440" cy="1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aws_instance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virtual machine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aws_s3_bucket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storage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aws_vpc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aws_rds_instance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database</a:t>
            </a:r>
          </a:p>
        </p:txBody>
      </p:sp>
      <p:sp>
        <p:nvSpPr>
          <p:cNvPr id="9" name="Card-Azure-body"/>
          <p:cNvSpPr/>
          <p:nvPr/>
        </p:nvSpPr>
        <p:spPr>
          <a:xfrm>
            <a:off x="3260400" y="1260000"/>
            <a:ext cx="2623200" cy="228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Card-Azure-hdr"/>
          <p:cNvSpPr/>
          <p:nvPr/>
        </p:nvSpPr>
        <p:spPr>
          <a:xfrm>
            <a:off x="3260400" y="1260000"/>
            <a:ext cx="2623200" cy="3600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Card-Azure-hdrtext"/>
          <p:cNvSpPr/>
          <p:nvPr/>
        </p:nvSpPr>
        <p:spPr>
          <a:xfrm>
            <a:off x="3260400" y="1260000"/>
            <a:ext cx="26232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1400" dirty="0"/>
          </a:p>
        </p:txBody>
      </p:sp>
      <p:sp>
        <p:nvSpPr>
          <p:cNvPr id="12" name="Card-Azure-prov"/>
          <p:cNvSpPr/>
          <p:nvPr/>
        </p:nvSpPr>
        <p:spPr>
          <a:xfrm>
            <a:off x="3443280" y="1690000"/>
            <a:ext cx="2257440" cy="2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1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provider: azurerm</a:t>
            </a:r>
            <a:endParaRPr lang="en-US" sz="1000" dirty="0"/>
          </a:p>
        </p:txBody>
      </p:sp>
      <p:sp>
        <p:nvSpPr>
          <p:cNvPr id="13" name="Card-Azure-list"/>
          <p:cNvSpPr/>
          <p:nvPr/>
        </p:nvSpPr>
        <p:spPr>
          <a:xfrm>
            <a:off x="3443280" y="1940000"/>
            <a:ext cx="2257440" cy="1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azurerm_resource_group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container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azurerm_virtual_machine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VM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azurerm_storage_account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Blob storage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azurerm_virtual_network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VNet networking</a:t>
            </a:r>
          </a:p>
        </p:txBody>
      </p:sp>
      <p:sp>
        <p:nvSpPr>
          <p:cNvPr id="14" name="Card-GCP-body"/>
          <p:cNvSpPr/>
          <p:nvPr/>
        </p:nvSpPr>
        <p:spPr>
          <a:xfrm>
            <a:off x="6063600" y="1260000"/>
            <a:ext cx="2623200" cy="228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Card-GCP-hdr"/>
          <p:cNvSpPr/>
          <p:nvPr/>
        </p:nvSpPr>
        <p:spPr>
          <a:xfrm>
            <a:off x="6063600" y="1260000"/>
            <a:ext cx="2623200" cy="3600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Card-GCP-hdrtext"/>
          <p:cNvSpPr/>
          <p:nvPr/>
        </p:nvSpPr>
        <p:spPr>
          <a:xfrm>
            <a:off x="6063600" y="1260000"/>
            <a:ext cx="26232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</a:t>
            </a:r>
            <a:endParaRPr lang="en-US" sz="1400" dirty="0"/>
          </a:p>
        </p:txBody>
      </p:sp>
      <p:sp>
        <p:nvSpPr>
          <p:cNvPr id="17" name="Card-GCP-prov"/>
          <p:cNvSpPr/>
          <p:nvPr/>
        </p:nvSpPr>
        <p:spPr>
          <a:xfrm>
            <a:off x="6246480" y="1690000"/>
            <a:ext cx="2257440" cy="2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1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provider: google</a:t>
            </a:r>
            <a:endParaRPr lang="en-US" sz="1000" dirty="0"/>
          </a:p>
        </p:txBody>
      </p:sp>
      <p:sp>
        <p:nvSpPr>
          <p:cNvPr id="18" name="Card-GCP-list"/>
          <p:cNvSpPr/>
          <p:nvPr/>
        </p:nvSpPr>
        <p:spPr>
          <a:xfrm>
            <a:off x="6246480" y="1940000"/>
            <a:ext cx="2257440" cy="1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google_compute_instance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Engine VM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google_storage_bucket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google_compute_network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network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google_compute_firewall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rules</a:t>
            </a:r>
          </a:p>
        </p:txBody>
      </p:sp>
      <p:sp>
        <p:nvSpPr>
          <p:cNvPr id="19" name="Tip-body"/>
          <p:cNvSpPr/>
          <p:nvPr/>
        </p:nvSpPr>
        <p:spPr>
          <a:xfrm>
            <a:off x="457200" y="3620000"/>
            <a:ext cx="8229600" cy="15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ip-hdr"/>
          <p:cNvSpPr/>
          <p:nvPr/>
        </p:nvSpPr>
        <p:spPr>
          <a:xfrm>
            <a:off x="457200" y="3620000"/>
            <a:ext cx="8229600" cy="3600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ip-hdrtext"/>
          <p:cNvSpPr/>
          <p:nvPr/>
        </p:nvSpPr>
        <p:spPr>
          <a:xfrm>
            <a:off x="457200" y="3620000"/>
            <a:ext cx="82296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navigate provider documentation</a:t>
            </a:r>
            <a:endParaRPr lang="en-US" sz="1400" dirty="0"/>
          </a:p>
        </p:txBody>
      </p:sp>
      <p:sp>
        <p:nvSpPr>
          <p:cNvPr id="22" name="Tip-text"/>
          <p:cNvSpPr/>
          <p:nvPr/>
        </p:nvSpPr>
        <p:spPr>
          <a:xfrm>
            <a:off x="697200" y="4060000"/>
            <a:ext cx="7749600" cy="9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registry.terraform.io → pick provider (aws, azurerm, google) → resource type → see required/optional arguments and a working example.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pattern: &lt;provider_prefix&gt;_&lt;service&gt;_&lt;resource&gt;. Learn it once and picking up any new cloud or service is just looking up the right page.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HCL block everywhere: resource "&lt;type&gt;" "&lt;local_name&gt;" { } — only the type and arguments change between clouds.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00000"/>
            <a:ext cx="822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File: Terraform's Memory</a:t>
            </a:r>
            <a:endParaRPr lang="en-US" sz="3200" dirty="0"/>
          </a:p>
        </p:txBody>
      </p:sp>
      <p:sp>
        <p:nvSpPr>
          <p:cNvPr id="3" name="Subtitle"/>
          <p:cNvSpPr/>
          <p:nvPr/>
        </p:nvSpPr>
        <p:spPr>
          <a:xfrm>
            <a:off x="457200" y="76000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terraform.tfstate drives init → plan → apply → destroy</a:t>
            </a:r>
            <a:endParaRPr lang="en-US" sz="1400" dirty="0"/>
          </a:p>
        </p:txBody>
      </p:sp>
      <p:sp>
        <p:nvSpPr>
          <p:cNvPr id="4" name="Step-1-card"/>
          <p:cNvSpPr/>
          <p:nvPr/>
        </p:nvSpPr>
        <p:spPr>
          <a:xfrm>
            <a:off x="457200" y="1140000"/>
            <a:ext cx="3400000" cy="66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tep-1-stripe"/>
          <p:cNvSpPr/>
          <p:nvPr/>
        </p:nvSpPr>
        <p:spPr>
          <a:xfrm>
            <a:off x="457200" y="1140000"/>
            <a:ext cx="110000" cy="660000"/>
          </a:xfrm>
          <a:prstGeom prst="rect">
            <a:avLst/>
          </a:prstGeom>
          <a:solidFill>
            <a:srgbClr val="1B25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tep-1-num"/>
          <p:cNvSpPr/>
          <p:nvPr/>
        </p:nvSpPr>
        <p:spPr>
          <a:xfrm>
            <a:off x="607200" y="1140000"/>
            <a:ext cx="4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1-text"/>
          <p:cNvSpPr/>
          <p:nvPr/>
        </p:nvSpPr>
        <p:spPr>
          <a:xfrm>
            <a:off x="1057200" y="1140000"/>
            <a:ext cx="27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configuration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resources in .tf files using HCL</a:t>
            </a:r>
          </a:p>
        </p:txBody>
      </p:sp>
      <p:sp>
        <p:nvSpPr>
          <p:cNvPr id="8" name="Step-2-card"/>
          <p:cNvSpPr/>
          <p:nvPr/>
        </p:nvSpPr>
        <p:spPr>
          <a:xfrm>
            <a:off x="457200" y="1880000"/>
            <a:ext cx="3400000" cy="66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tep-2-stripe"/>
          <p:cNvSpPr/>
          <p:nvPr/>
        </p:nvSpPr>
        <p:spPr>
          <a:xfrm>
            <a:off x="457200" y="1880000"/>
            <a:ext cx="110000" cy="6600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tep-2-num"/>
          <p:cNvSpPr/>
          <p:nvPr/>
        </p:nvSpPr>
        <p:spPr>
          <a:xfrm>
            <a:off x="607200" y="1880000"/>
            <a:ext cx="4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tep-2-text"/>
          <p:cNvSpPr/>
          <p:nvPr/>
        </p:nvSpPr>
        <p:spPr>
          <a:xfrm>
            <a:off x="1057200" y="1880000"/>
            <a:ext cx="27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init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provider plugins (AWS, Azure, GCP)</a:t>
            </a:r>
          </a:p>
        </p:txBody>
      </p:sp>
      <p:sp>
        <p:nvSpPr>
          <p:cNvPr id="12" name="Step-3-card"/>
          <p:cNvSpPr/>
          <p:nvPr/>
        </p:nvSpPr>
        <p:spPr>
          <a:xfrm>
            <a:off x="457200" y="2620000"/>
            <a:ext cx="3400000" cy="66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tep-3-stripe"/>
          <p:cNvSpPr/>
          <p:nvPr/>
        </p:nvSpPr>
        <p:spPr>
          <a:xfrm>
            <a:off x="457200" y="2620000"/>
            <a:ext cx="110000" cy="660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tep-3-num"/>
          <p:cNvSpPr/>
          <p:nvPr/>
        </p:nvSpPr>
        <p:spPr>
          <a:xfrm>
            <a:off x="607200" y="2620000"/>
            <a:ext cx="4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-3-text"/>
          <p:cNvSpPr/>
          <p:nvPr/>
        </p:nvSpPr>
        <p:spPr>
          <a:xfrm>
            <a:off x="1057200" y="2620000"/>
            <a:ext cx="27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plan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Diff: desired (.tf) vs current (.tfstate)</a:t>
            </a:r>
          </a:p>
        </p:txBody>
      </p:sp>
      <p:sp>
        <p:nvSpPr>
          <p:cNvPr id="16" name="Step-4-card"/>
          <p:cNvSpPr/>
          <p:nvPr/>
        </p:nvSpPr>
        <p:spPr>
          <a:xfrm>
            <a:off x="457200" y="3360000"/>
            <a:ext cx="3400000" cy="66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tep-4-stripe"/>
          <p:cNvSpPr/>
          <p:nvPr/>
        </p:nvSpPr>
        <p:spPr>
          <a:xfrm>
            <a:off x="457200" y="3360000"/>
            <a:ext cx="110000" cy="6600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tep-4-num"/>
          <p:cNvSpPr/>
          <p:nvPr/>
        </p:nvSpPr>
        <p:spPr>
          <a:xfrm>
            <a:off x="607200" y="3360000"/>
            <a:ext cx="4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Step-4-text"/>
          <p:cNvSpPr/>
          <p:nvPr/>
        </p:nvSpPr>
        <p:spPr>
          <a:xfrm>
            <a:off x="1057200" y="3360000"/>
            <a:ext cx="27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apply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API calls, then write resource IDs back to state</a:t>
            </a:r>
          </a:p>
        </p:txBody>
      </p:sp>
      <p:sp>
        <p:nvSpPr>
          <p:cNvPr id="20" name="Step-5-card"/>
          <p:cNvSpPr/>
          <p:nvPr/>
        </p:nvSpPr>
        <p:spPr>
          <a:xfrm>
            <a:off x="457200" y="4100000"/>
            <a:ext cx="3400000" cy="66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tep-5-stripe"/>
          <p:cNvSpPr/>
          <p:nvPr/>
        </p:nvSpPr>
        <p:spPr>
          <a:xfrm>
            <a:off x="457200" y="4100000"/>
            <a:ext cx="110000" cy="660000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tep-5-num"/>
          <p:cNvSpPr/>
          <p:nvPr/>
        </p:nvSpPr>
        <p:spPr>
          <a:xfrm>
            <a:off x="607200" y="4100000"/>
            <a:ext cx="4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Step-5-text"/>
          <p:cNvSpPr/>
          <p:nvPr/>
        </p:nvSpPr>
        <p:spPr>
          <a:xfrm>
            <a:off x="1057200" y="4100000"/>
            <a:ext cx="2700000" cy="6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destroy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6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Tear down everything tracked in state</a:t>
            </a:r>
          </a:p>
        </p:txBody>
      </p:sp>
      <p:sp>
        <p:nvSpPr>
          <p:cNvPr id="24" name="State-card"/>
          <p:cNvSpPr/>
          <p:nvPr/>
        </p:nvSpPr>
        <p:spPr>
          <a:xfrm>
            <a:off x="4000000" y="1140000"/>
            <a:ext cx="4686800" cy="362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tate-hdr"/>
          <p:cNvSpPr/>
          <p:nvPr/>
        </p:nvSpPr>
        <p:spPr>
          <a:xfrm>
            <a:off x="4000000" y="1140000"/>
            <a:ext cx="4686800" cy="360000"/>
          </a:xfrm>
          <a:prstGeom prst="rect">
            <a:avLst/>
          </a:prstGeom>
          <a:solidFill>
            <a:srgbClr val="1B25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tate-hdrtext"/>
          <p:cNvSpPr/>
          <p:nvPr/>
        </p:nvSpPr>
        <p:spPr>
          <a:xfrm>
            <a:off x="4000000" y="1140000"/>
            <a:ext cx="4686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state file works</a:t>
            </a:r>
            <a:endParaRPr lang="en-US" sz="1400" dirty="0"/>
          </a:p>
        </p:txBody>
      </p:sp>
      <p:sp>
        <p:nvSpPr>
          <p:cNvPr id="27" name="State-text"/>
          <p:cNvSpPr/>
          <p:nvPr/>
        </p:nvSpPr>
        <p:spPr>
          <a:xfrm>
            <a:off x="4200000" y="1600000"/>
            <a:ext cx="4286800" cy="30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0000" indent="-240000">
              <a:spcAft>
                <a:spcPts val="400"/>
              </a:spcAft>
              <a:buSzPct val="100000"/>
              <a:buChar char="•"/>
            </a:pPr>
            <a:r>
              <a:rPr lang="en-US" sz="11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JSON file (terraform.tfstate) — a snapshot of every resource Terraform manages.</a:t>
            </a:r>
            <a:endParaRPr lang="en-US" sz="1100" dirty="0"/>
          </a:p>
          <a:p>
            <a:pPr marL="240000" indent="-240000">
              <a:spcAft>
                <a:spcPts val="400"/>
              </a:spcAft>
              <a:buSzPct val="100000"/>
              <a:buChar char="•"/>
            </a:pPr>
            <a:r>
              <a:rPr lang="en-US" sz="11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each logical name (e.g. aws_instance.web) to the real cloud ID (i-0ab12...) returned by the provider API.</a:t>
            </a:r>
            <a:endParaRPr lang="en-US" sz="1100" dirty="0"/>
          </a:p>
          <a:p>
            <a:pPr marL="240000" indent="-240000">
              <a:spcAft>
                <a:spcPts val="400"/>
              </a:spcAft>
              <a:buSzPct val="100000"/>
              <a:buChar char="•"/>
            </a:pPr>
            <a:r>
              <a:rPr lang="en-US" sz="11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plan: Terraform reads .tf (desired) + .tfstate (current) and emits create / update / replace / destroy actions.</a:t>
            </a:r>
            <a:endParaRPr lang="en-US" sz="1100" dirty="0"/>
          </a:p>
          <a:p>
            <a:pPr marL="240000" indent="-240000">
              <a:spcAft>
                <a:spcPts val="400"/>
              </a:spcAft>
              <a:buSzPct val="100000"/>
              <a:buChar char="•"/>
            </a:pPr>
            <a:r>
              <a:rPr lang="en-US" sz="11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apply: Terraform calls the cloud API, then writes the new resource attributes and IDs back into .tfstate.</a:t>
            </a:r>
            <a:endParaRPr lang="en-US" sz="1100" dirty="0"/>
          </a:p>
          <a:p>
            <a:pPr marL="240000" indent="-240000">
              <a:spcAft>
                <a:spcPts val="400"/>
              </a:spcAft>
              <a:buSzPct val="100000"/>
              <a:buChar char="•"/>
            </a:pPr>
            <a:r>
              <a:rPr lang="en-US" sz="11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Refresh: terraform refresh (or plan -refresh) re-reads live attributes from the provider so drift is detected.</a:t>
            </a:r>
            <a:endParaRPr lang="en-US" sz="1100" dirty="0"/>
          </a:p>
          <a:p>
            <a:pPr marL="240000" indent="-240000">
              <a:spcAft>
                <a:spcPts val="400"/>
              </a:spcAft>
              <a:buSzPct val="100000"/>
              <a:buChar char="•"/>
            </a:pPr>
            <a:r>
              <a:rPr lang="en-US" sz="11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Sensitive: may contain passwords, tokens, private keys. Store remotely (S3 + DynamoDB lock) for teams. Never commit to Git.</a:t>
            </a:r>
            <a:endParaRPr lang="en-US" sz="1100" dirty="0"/>
          </a:p>
          <a:p>
            <a:pPr marL="240000" indent="-240000">
              <a:spcAft>
                <a:spcPts val="400"/>
              </a:spcAft>
              <a:buSzPct val="100000"/>
              <a:buChar char="•"/>
            </a:pPr>
            <a:r>
              <a:rPr lang="en-US" sz="1100" b="0" i="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state, Terraform would have no way to tell which existing cloud resource belongs to which block in your code.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Example: Launch an EC2 Instance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"aws" {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region = "us-east-1"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"aws_instance" "web" {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ami           = "ami-0c55b159cbfafe1f0"  # Ubuntu 20.04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 = "t2.micro"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"MyWebServer"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syntax: readable, structured configuration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Configurable Infrastructure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your code flexible and reusable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replace hardcoded values with inputs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 variable 'name' { type = 'string'; default = 'value' }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code: var.name (terraform will substitute)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set: defaults, .tfvars file, CLI args, env vars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multiple types: string, number, bool, list, map, object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for multi-environment deployments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Variable Types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data types are available?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text values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integers or floats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true or false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variable "region" { type = "string" 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Types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list(string)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["item1", "item2"]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map(string)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{ key1 = "val1", key2 = "val2"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({ name = string, age = number })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set(string): 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values in a list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Variables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700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"instance_type"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    = string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"EC2 instance type"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   = "t2.micro"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No default = required input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"environment"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string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validation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     = contains(["dev","qa","prod"], var.environment)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error_message = "Must be dev, qa, or prod"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"enabled_features"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list(string)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["logging", "monitoring"]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Ways to Provide Variable Values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highest to lowest precedence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flag: terraform apply -var='region=us-west-2'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variable: export TF_VAR_region='us-west-2’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</a:t>
            </a:r>
            <a:r>
              <a:rPr lang="en-US" sz="1300" b="1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tfvars</a:t>
            </a: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 (loaded with a switch --var-file=*.</a:t>
            </a:r>
            <a:r>
              <a:rPr lang="en-US" sz="1300" b="1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tfvars</a:t>
            </a: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// Most preferred</a:t>
            </a:r>
            <a:endParaRPr lang="en-US" sz="1300" b="1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*.auto.tfvars files (auto-loaded)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default (in variable block)</a:t>
            </a:r>
            <a:endParaRPr lang="en-US" sz="1300" dirty="0"/>
          </a:p>
          <a:p>
            <a:pPr>
              <a:spcAft>
                <a:spcPts val="1000"/>
              </a:spcAft>
              <a:buSzPct val="100000"/>
            </a:pPr>
            <a:endParaRPr lang="en-US" sz="1300" dirty="0">
              <a:solidFill>
                <a:srgbClr val="3A466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1000"/>
              </a:spcAft>
              <a:buSzPct val="100000"/>
            </a:pP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Precedence: CLI &gt; env var &gt; tfvars &gt; default</a:t>
            </a:r>
            <a:endParaRPr lang="en-US" sz="13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Outputs: Expose Resource Values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9288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87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"instance_id" {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  = aws_instance.web.id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"EC2 instance ID"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"instance_ip" {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aws_instance.web.private_ip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"vpc_id" {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  = aws_vpc.main.id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sensitive   = false  # Don't print in logs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outputs: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output instance_id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output -json  # All outputs as JSON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 Query Existing Resources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0081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916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latest Ubuntu AMI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"aws_ami" "ubuntu"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most_recent = true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owners      = ["099720109477"]  # Canonical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 = "name"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 = ["ubuntu/images/hvm-ssd/*focal*"]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it in EC2: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"aws_instance" "web"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ami           = data.aws_ami.ubuntu.id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 = "t2.micro"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subnet_id     = aws_subnet.public.id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 Name = "WebServer" 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Locals: Compute and Reuse Values</a:t>
            </a:r>
            <a:endParaRPr lang="en-US" sz="3200" dirty="0"/>
          </a:p>
        </p:txBody>
      </p:sp>
      <p:sp>
        <p:nvSpPr>
          <p:cNvPr id="3" name="Subtitle"/>
          <p:cNvSpPr/>
          <p:nvPr/>
        </p:nvSpPr>
        <p:spPr>
          <a:xfrm>
            <a:off x="457200" y="86868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 expression once, use it everywhere - keep your code DRY</a:t>
            </a:r>
            <a:endParaRPr lang="en-US" sz="1400" dirty="0"/>
          </a:p>
        </p:txBody>
      </p:sp>
      <p:sp>
        <p:nvSpPr>
          <p:cNvPr id="4" name="CodeCard"/>
          <p:cNvSpPr/>
          <p:nvPr/>
        </p:nvSpPr>
        <p:spPr>
          <a:xfrm>
            <a:off x="457200" y="1240000"/>
            <a:ext cx="8229600" cy="300000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CodeText"/>
          <p:cNvSpPr/>
          <p:nvPr/>
        </p:nvSpPr>
        <p:spPr>
          <a:xfrm>
            <a:off x="640080" y="1320000"/>
            <a:ext cx="7863840" cy="28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Compute a value once - reference it everywhere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common_prefix = "${var.account}-${var.environment}"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common_tags = {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   = "learning"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ManagedBy = "Terraform"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"aws_subnet" "public" {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cidr_block = "172.31.128.0/28"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merge(local.common_tags, {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"${local.common_prefix}-public"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950" dirty="0"/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Tip"/>
          <p:cNvSpPr/>
          <p:nvPr/>
        </p:nvSpPr>
        <p:spPr>
          <a:xfrm>
            <a:off x="457200" y="4360000"/>
            <a:ext cx="82296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locals for computed values, complex expressions, or strings repeated across resources.</a:t>
            </a:r>
            <a:endParaRPr lang="en-US" sz="12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come from outside; locals stay inside the module. Change one place, propagate everywhere.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</a:t>
            </a:r>
            <a:r>
              <a:rPr lang="en-US" sz="3600" b="1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dive deeper in later sessions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terraform fmt to format code consistently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terraform validate to check syntax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resources organized (separate files or modules)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variables for values that change per environment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run terraform plan before apply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your provider versions in required_providers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.gitignore: terraform.tfstate, .terraform/, *.tfvars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5344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25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</TotalTime>
  <Words>1679</Words>
  <Application>Microsoft Office PowerPoint</Application>
  <PresentationFormat>On-screen Show (16:9)</PresentationFormat>
  <Paragraphs>258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Mohan</cp:lastModifiedBy>
  <cp:revision>23</cp:revision>
  <dcterms:created xsi:type="dcterms:W3CDTF">2026-03-26T21:11:55Z</dcterms:created>
  <dcterms:modified xsi:type="dcterms:W3CDTF">2026-07-19T07:37:11Z</dcterms:modified>
</cp:coreProperties>
</file>